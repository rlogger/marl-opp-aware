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slowly. The whole talk is one controlled question: can a team measure an opponent's hidden strategy, keep uncertainty in the loop, and use that belief during planning?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state the exact claim. The evidence is captures per episode, not action accuracy. 4.31 is the main positive result. 1.42 explains why hard labels can hurt control. 4.08 shows the belief survives removing intent labels.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Lived detail: three blue predators chase one red prey in the JaxMARL simple-tag arena; the red prey privately draws one of four corner intents at reset. The prey knows the intent; the predators infer it from motion. The map is fixed, so any lift must come from reading behavior, which isolates opponent modeling from map perception.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this in slideshow mode; the GIF animates. Four episodes, one per corner. Left panel: intent-blind predators hedge. Right: belief-driven predators infer the corner and intercept; the X is the JEPA-predicted destination and the bar strip is the belief sharpening. Narrate one episode: early scramble, belief flat; prey commits, belief spikes, pack converges.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plot left to right: the encoder starts uncertain, then locks on as the prey commits. That matters because the planner can act before the final steps, while interception still has value. How it's generated: a supervised MLP classifier is trained on the prey's first-k absolute positions from oracle-condition rollouts, cross-validated; the bars are the capture ladder for the fixed predator conditions.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why the method carries a distribution. The wrong hard-intent condition is a stress test: 1.42 captures, far below 2.68 for the blind policy. Even the HONESTLY inferred hard intent at k=8 (2.56) loses to blind: the argmax throws away calibrated uncertainty. That failure is the argument for uncertainty-aware control.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Central evidence slide. The flat planner controls for generic lookahead, so the 3.07-to-4.31 step (+40%) is attributable to the opponent inference. Mechanics if asked: at each real step the planner enumerates all 125 joint predator actions, samples 8 intents from the belief (shared across candidates for a paired, low-variance comparison), rolls the true simulator 5 steps with the prey playing its policy under each sampled intent, and scores discounted captures minus distance to the imagined prey at the horizon: an interception.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Defense slide. The planner has lookahead; the oracle policy reacts. That difference is why 4.31 can sit above 4.05 without overstating: say it exceeds a REACTIVE oracle, and name the oracle PLANNER as the true ceiling experiment still to run.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Label-free route to the belief. JEPA predicts the representation of the future window through an EMA target encoder, no decoder; the prediction task rewards features that explain future motion, which IS the intent. The VAE spends capacity reconstructing evasion detail. Bar plot, if asked: probe = cross-validated logistic regression on the latent (is the strategy linearly decodable), ARI = unsupervised GMM clusters vs truth (does it cluster on its own); dashed line = supervised ceiling on the raw window, dotted = chance.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boundary. An encoder can discard nuisance motion; a dynamics model must preserve the details that affect control, and the compressed latent loses them (5-step position error roughly 3x the state-space model). Belief planning currently needs simulator dynamics.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answer to the meeting question. Four resources on a circle are geometrically a small square of points, and the heatmap shows the consequence: the corners prey commits to four spots while the circle prey smears its time over a ring. Cosine similarity 0.42 and total-variation distance 0.47 between the two mean-occupancy distributions: different, but not cleanly separable. Generated from 150 episodes per specialist, 100 steps each, 24x24 histogram of prey positions, resource geometry overlaid.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Generation pipeline, end to end: (1) roll out both specialists in their native envs, 1,200 episodes, 3 seeds, keep ABSOLUTE positions; (2) featurize each episode as a normalized 8x8 occupancy histogram, z-scored (a raw coordinate window is at chance even for a SUPERVISED probe, 0.54, so the featurization gates the task, not the encoder); (3) train VAE and JEPA unsupervised; (4) scatter the per-episode latent. The supervised probe is a labeled logistic regression on the same 64-D histogram: the ceiling. If asked which encoder wins here: at 2-D JEPA leads, at 4-D the VAE (0.81 vs 0.67), because occupancy already removed the noise JEPA's advantage feeds 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Sanity check before the latent question: a poor clone would make the latent experiment unreadable. Deployed in the game against the same prey, the clone recovers 86% of the expert's edge over random, at an 0.80 held-out action match (episode-level split). Cloning is not the bottleneck; the residual 14% is the headroom a strategy signal could fill.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Careful BC interpretation. Left, deployed captures: the placement-blind pooled clone gets 0.95; give it the TRUE placement and it reaches 1.11 vs expert 1.14, recovering 85% of the gap, so strategy information has real control value. The unsupervised latent recovers about 22%, within error bars today. Right, the observation sweep in action accuracy: as the encoder watches longer its probe climbs 0.60 to 0.78 and BC accuracy climbs with it, overtaking vanilla by 50 steps and reaching the oracle band by 125. Sell this as evidence a better strategy code matters, not as the main win.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ahead of the sharpest question in the room. The placement is FIXED across a specialist's episodes, so when the encoder watches longer and the latent improves, that is a better ESTIMATE of a fixed quantity: statistical averaging, not a strategy unfolding. Contrast with the hidden-intent task, where the intent genuinely reveals itself within the episode. So describe the sweep as scaling-with-observation. What would prove more: a latent that clusters (contrastive or equivariant shaping), or a switching prey where the belief must track a change.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failure example; the GIF animates in slideshow mode. A held-out episode replays and each variant predicts every predator action: green ring = predicted the actual action, red = missed, with running accuracy. On route-dependent corners episodes the placement-blind clone cannot tell a committing prey from a passing one, hedges, and misses (0.60); told the placement, the same architecture follows the commit (0.83 circle, 0.92 corners). Caveat to volunteer: these are tail episodes chosen to show the effect; the average gap is the +2.4-point table.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Rigor slide, keep it brief unless probed: every number is 3 seeds; all BC splits are episode-level so autocorrelated timesteps never straddle folds; conditioning latents only ever see steps strictly before the predicted episode; captures come from the raw +10-per-capture reward divided by 10, not the wrapper-scaled logs; and the repo has 12 fast tests plus a results checker that re-validates every paper-facing number against the raw npz files.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Literature answer, three lanes. HOP (ICML 2024) couples a goal belief with tree search and is the closest system-level baseline to run first. The model-based MARL lane (MAZero, MAMBA, MARIE, MATWM) tests the planning and dynamics side. The opponent-modeling lane (MBOM, AORPO) tests whether an explicit belief beats conditioning on opponent history. For the BC thread the anchor is STRIL (AAAI 2025), per-trajectory strategy latents for imitation; for the clustering gap it is CTR (NeurIPS 2024), contrastive identity grounding.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specific work. The repo has code hygiene, tests, result checks, and this deck. The scientific gap is the next experiment set: the oracle planner ceiling, a switching prey to test belief tracking, the HOP baseline, a genuinely distinct placement (snake path), and archived raw runs pinned to a release DOI. End with the concrete ask: accept the controlled result, fund the baseline and switching-opponent runs.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gi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9.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1.g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463040" y="2286000"/>
            <a:ext cx="9265615" cy="1737360"/>
          </a:xfrm>
          <a:prstGeom prst="rect">
            <a:avLst/>
          </a:prstGeom>
          <a:noFill/>
        </p:spPr>
        <p:txBody>
          <a:bodyPr wrap="square">
            <a:spAutoFit/>
          </a:bodyPr>
          <a:lstStyle/>
          <a:p>
            <a:pPr algn="ctr">
              <a:defRPr sz="4800" b="1">
                <a:solidFill>
                  <a:srgbClr val="171717"/>
                </a:solidFill>
              </a:defRPr>
            </a:pPr>
            <a:r>
              <a:t>Adaptive Opponent</a:t>
            </a:r>
          </a:p>
          <a:p>
            <a:pPr algn="ctr">
              <a:defRPr sz="4800" b="1">
                <a:solidFill>
                  <a:srgbClr val="171717"/>
                </a:solidFill>
              </a:defRPr>
            </a:pPr>
            <a:r>
              <a:t>Modeling for MARL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2</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CLAIM</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The paper claim is narrow enough to defend</a:t>
            </a:r>
          </a:p>
        </p:txBody>
      </p:sp>
      <p:sp>
        <p:nvSpPr>
          <p:cNvPr id="5" name="TextBox 4"/>
          <p:cNvSpPr txBox="1"/>
          <p:nvPr/>
        </p:nvSpPr>
        <p:spPr>
          <a:xfrm>
            <a:off x="548640" y="1463040"/>
            <a:ext cx="8686800" cy="1005840"/>
          </a:xfrm>
          <a:prstGeom prst="rect">
            <a:avLst/>
          </a:prstGeom>
          <a:noFill/>
        </p:spPr>
        <p:txBody>
          <a:bodyPr wrap="square">
            <a:spAutoFit/>
          </a:bodyPr>
          <a:lstStyle/>
          <a:p>
            <a:pPr>
              <a:defRPr sz="2400" b="1">
                <a:solidFill>
                  <a:srgbClr val="171717"/>
                </a:solidFill>
              </a:defRPr>
            </a:pPr>
            <a:r>
              <a:t>A predator team performs better when it plans against a calibrated belief over the prey's hidden intent.</a:t>
            </a:r>
          </a:p>
        </p:txBody>
      </p:sp>
      <p:sp>
        <p:nvSpPr>
          <p:cNvPr id="6" name="TextBox 5"/>
          <p:cNvSpPr txBox="1"/>
          <p:nvPr/>
        </p:nvSpPr>
        <p:spPr>
          <a:xfrm>
            <a:off x="640080" y="3108960"/>
            <a:ext cx="2926080" cy="640080"/>
          </a:xfrm>
          <a:prstGeom prst="rect">
            <a:avLst/>
          </a:prstGeom>
          <a:noFill/>
        </p:spPr>
        <p:txBody>
          <a:bodyPr wrap="square">
            <a:spAutoFit/>
          </a:bodyPr>
          <a:lstStyle/>
          <a:p>
            <a:pPr>
              <a:defRPr sz="4000" b="1">
                <a:solidFill>
                  <a:srgbClr val="0D6E7A"/>
                </a:solidFill>
              </a:defRPr>
            </a:pPr>
            <a:r>
              <a:t>4.31</a:t>
            </a:r>
          </a:p>
        </p:txBody>
      </p:sp>
      <p:sp>
        <p:nvSpPr>
          <p:cNvPr id="7" name="TextBox 6"/>
          <p:cNvSpPr txBox="1"/>
          <p:nvPr/>
        </p:nvSpPr>
        <p:spPr>
          <a:xfrm>
            <a:off x="640080" y="3767328"/>
            <a:ext cx="2926080" cy="822960"/>
          </a:xfrm>
          <a:prstGeom prst="rect">
            <a:avLst/>
          </a:prstGeom>
          <a:noFill/>
        </p:spPr>
        <p:txBody>
          <a:bodyPr wrap="square">
            <a:spAutoFit/>
          </a:bodyPr>
          <a:lstStyle/>
          <a:p>
            <a:pPr>
              <a:defRPr sz="1300" b="0">
                <a:solidFill>
                  <a:srgbClr val="4A4A4A"/>
                </a:solidFill>
              </a:defRPr>
            </a:pPr>
            <a:r>
              <a:t>captures/episode with inferred-belief planning</a:t>
            </a:r>
          </a:p>
        </p:txBody>
      </p:sp>
      <p:sp>
        <p:nvSpPr>
          <p:cNvPr id="8" name="TextBox 7"/>
          <p:cNvSpPr txBox="1"/>
          <p:nvPr/>
        </p:nvSpPr>
        <p:spPr>
          <a:xfrm>
            <a:off x="4480560" y="3108960"/>
            <a:ext cx="2926080" cy="640080"/>
          </a:xfrm>
          <a:prstGeom prst="rect">
            <a:avLst/>
          </a:prstGeom>
          <a:noFill/>
        </p:spPr>
        <p:txBody>
          <a:bodyPr wrap="square">
            <a:spAutoFit/>
          </a:bodyPr>
          <a:lstStyle/>
          <a:p>
            <a:pPr>
              <a:defRPr sz="4000" b="1">
                <a:solidFill>
                  <a:srgbClr val="B44233"/>
                </a:solidFill>
              </a:defRPr>
            </a:pPr>
            <a:r>
              <a:t>1.42</a:t>
            </a:r>
          </a:p>
        </p:txBody>
      </p:sp>
      <p:sp>
        <p:nvSpPr>
          <p:cNvPr id="9" name="TextBox 8"/>
          <p:cNvSpPr txBox="1"/>
          <p:nvPr/>
        </p:nvSpPr>
        <p:spPr>
          <a:xfrm>
            <a:off x="4480560" y="3767328"/>
            <a:ext cx="2926080" cy="822960"/>
          </a:xfrm>
          <a:prstGeom prst="rect">
            <a:avLst/>
          </a:prstGeom>
          <a:noFill/>
        </p:spPr>
        <p:txBody>
          <a:bodyPr wrap="square">
            <a:spAutoFit/>
          </a:bodyPr>
          <a:lstStyle/>
          <a:p>
            <a:pPr>
              <a:defRPr sz="1300" b="0">
                <a:solidFill>
                  <a:srgbClr val="4A4A4A"/>
                </a:solidFill>
              </a:defRPr>
            </a:pPr>
            <a:r>
              <a:t>captures/episode with a wrong hard intent</a:t>
            </a:r>
          </a:p>
        </p:txBody>
      </p:sp>
      <p:sp>
        <p:nvSpPr>
          <p:cNvPr id="10" name="TextBox 9"/>
          <p:cNvSpPr txBox="1"/>
          <p:nvPr/>
        </p:nvSpPr>
        <p:spPr>
          <a:xfrm>
            <a:off x="8321040" y="3108960"/>
            <a:ext cx="2926080" cy="640080"/>
          </a:xfrm>
          <a:prstGeom prst="rect">
            <a:avLst/>
          </a:prstGeom>
          <a:noFill/>
        </p:spPr>
        <p:txBody>
          <a:bodyPr wrap="square">
            <a:spAutoFit/>
          </a:bodyPr>
          <a:lstStyle/>
          <a:p>
            <a:pPr>
              <a:defRPr sz="4000" b="1">
                <a:solidFill>
                  <a:srgbClr val="171717"/>
                </a:solidFill>
              </a:defRPr>
            </a:pPr>
            <a:r>
              <a:t>4.08</a:t>
            </a:r>
          </a:p>
        </p:txBody>
      </p:sp>
      <p:sp>
        <p:nvSpPr>
          <p:cNvPr id="11" name="TextBox 10"/>
          <p:cNvSpPr txBox="1"/>
          <p:nvPr/>
        </p:nvSpPr>
        <p:spPr>
          <a:xfrm>
            <a:off x="8321040" y="3767328"/>
            <a:ext cx="2926080" cy="822960"/>
          </a:xfrm>
          <a:prstGeom prst="rect">
            <a:avLst/>
          </a:prstGeom>
          <a:noFill/>
        </p:spPr>
        <p:txBody>
          <a:bodyPr wrap="square">
            <a:spAutoFit/>
          </a:bodyPr>
          <a:lstStyle/>
          <a:p>
            <a:pPr>
              <a:defRPr sz="1300" b="0">
                <a:solidFill>
                  <a:srgbClr val="4A4A4A"/>
                </a:solidFill>
              </a:defRPr>
            </a:pPr>
            <a:r>
              <a:t>captures/episode with the label-free JEPA belief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3</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SETUP</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The task hides strategy inside the prey</a:t>
            </a:r>
          </a:p>
        </p:txBody>
      </p:sp>
      <p:sp>
        <p:nvSpPr>
          <p:cNvPr id="5" name="TextBox 4"/>
          <p:cNvSpPr txBox="1"/>
          <p:nvPr/>
        </p:nvSpPr>
        <p:spPr>
          <a:xfrm>
            <a:off x="822960" y="1554480"/>
            <a:ext cx="2377440" cy="457200"/>
          </a:xfrm>
          <a:prstGeom prst="rect">
            <a:avLst/>
          </a:prstGeom>
          <a:noFill/>
        </p:spPr>
        <p:txBody>
          <a:bodyPr wrap="square">
            <a:spAutoFit/>
          </a:bodyPr>
          <a:lstStyle/>
          <a:p>
            <a:pPr>
              <a:defRPr sz="1800" b="1">
                <a:solidFill>
                  <a:srgbClr val="171717"/>
                </a:solidFill>
              </a:defRPr>
            </a:pPr>
            <a:r>
              <a:t>Episode draw</a:t>
            </a:r>
          </a:p>
        </p:txBody>
      </p:sp>
      <p:sp>
        <p:nvSpPr>
          <p:cNvPr id="6" name="TextBox 5"/>
          <p:cNvSpPr txBox="1"/>
          <p:nvPr/>
        </p:nvSpPr>
        <p:spPr>
          <a:xfrm>
            <a:off x="3566160" y="1554480"/>
            <a:ext cx="7863840" cy="548640"/>
          </a:xfrm>
          <a:prstGeom prst="rect">
            <a:avLst/>
          </a:prstGeom>
          <a:noFill/>
        </p:spPr>
        <p:txBody>
          <a:bodyPr wrap="square">
            <a:spAutoFit/>
          </a:bodyPr>
          <a:lstStyle/>
          <a:p>
            <a:pPr>
              <a:defRPr sz="1800" b="0">
                <a:solidFill>
                  <a:srgbClr val="4A4A4A"/>
                </a:solidFill>
              </a:defRPr>
            </a:pPr>
            <a:r>
              <a:t>The prey receives one hidden corner intent at reset.</a:t>
            </a:r>
          </a:p>
        </p:txBody>
      </p:sp>
      <p:sp>
        <p:nvSpPr>
          <p:cNvPr id="7" name="TextBox 6"/>
          <p:cNvSpPr txBox="1"/>
          <p:nvPr/>
        </p:nvSpPr>
        <p:spPr>
          <a:xfrm>
            <a:off x="822960" y="2331720"/>
            <a:ext cx="2377440" cy="457200"/>
          </a:xfrm>
          <a:prstGeom prst="rect">
            <a:avLst/>
          </a:prstGeom>
          <a:noFill/>
        </p:spPr>
        <p:txBody>
          <a:bodyPr wrap="square">
            <a:spAutoFit/>
          </a:bodyPr>
          <a:lstStyle/>
          <a:p>
            <a:pPr>
              <a:defRPr sz="1800" b="1">
                <a:solidFill>
                  <a:srgbClr val="171717"/>
                </a:solidFill>
              </a:defRPr>
            </a:pPr>
            <a:r>
              <a:t>Observation</a:t>
            </a:r>
          </a:p>
        </p:txBody>
      </p:sp>
      <p:sp>
        <p:nvSpPr>
          <p:cNvPr id="8" name="TextBox 7"/>
          <p:cNvSpPr txBox="1"/>
          <p:nvPr/>
        </p:nvSpPr>
        <p:spPr>
          <a:xfrm>
            <a:off x="3566160" y="2331720"/>
            <a:ext cx="7863840" cy="548640"/>
          </a:xfrm>
          <a:prstGeom prst="rect">
            <a:avLst/>
          </a:prstGeom>
          <a:noFill/>
        </p:spPr>
        <p:txBody>
          <a:bodyPr wrap="square">
            <a:spAutoFit/>
          </a:bodyPr>
          <a:lstStyle/>
          <a:p>
            <a:pPr>
              <a:defRPr sz="1800" b="0">
                <a:solidFill>
                  <a:srgbClr val="4A4A4A"/>
                </a:solidFill>
              </a:defRPr>
            </a:pPr>
            <a:r>
              <a:t>Predators see motion, positions, obstacles, and rewards.</a:t>
            </a:r>
          </a:p>
        </p:txBody>
      </p:sp>
      <p:sp>
        <p:nvSpPr>
          <p:cNvPr id="9" name="TextBox 8"/>
          <p:cNvSpPr txBox="1"/>
          <p:nvPr/>
        </p:nvSpPr>
        <p:spPr>
          <a:xfrm>
            <a:off x="822960" y="3108960"/>
            <a:ext cx="2377440" cy="457200"/>
          </a:xfrm>
          <a:prstGeom prst="rect">
            <a:avLst/>
          </a:prstGeom>
          <a:noFill/>
        </p:spPr>
        <p:txBody>
          <a:bodyPr wrap="square">
            <a:spAutoFit/>
          </a:bodyPr>
          <a:lstStyle/>
          <a:p>
            <a:pPr>
              <a:defRPr sz="1800" b="1">
                <a:solidFill>
                  <a:srgbClr val="171717"/>
                </a:solidFill>
              </a:defRPr>
            </a:pPr>
            <a:r>
              <a:t>Belief</a:t>
            </a:r>
          </a:p>
        </p:txBody>
      </p:sp>
      <p:sp>
        <p:nvSpPr>
          <p:cNvPr id="10" name="TextBox 9"/>
          <p:cNvSpPr txBox="1"/>
          <p:nvPr/>
        </p:nvSpPr>
        <p:spPr>
          <a:xfrm>
            <a:off x="3566160" y="3108960"/>
            <a:ext cx="7863840" cy="548640"/>
          </a:xfrm>
          <a:prstGeom prst="rect">
            <a:avLst/>
          </a:prstGeom>
          <a:noFill/>
        </p:spPr>
        <p:txBody>
          <a:bodyPr wrap="square">
            <a:spAutoFit/>
          </a:bodyPr>
          <a:lstStyle/>
          <a:p>
            <a:pPr>
              <a:defRPr sz="1800" b="0">
                <a:solidFill>
                  <a:srgbClr val="4A4A4A"/>
                </a:solidFill>
              </a:defRPr>
            </a:pPr>
            <a:r>
              <a:t>The first k prey steps produce a posterior over four intents.</a:t>
            </a:r>
          </a:p>
        </p:txBody>
      </p:sp>
      <p:sp>
        <p:nvSpPr>
          <p:cNvPr id="11" name="TextBox 10"/>
          <p:cNvSpPr txBox="1"/>
          <p:nvPr/>
        </p:nvSpPr>
        <p:spPr>
          <a:xfrm>
            <a:off x="822960" y="3886200"/>
            <a:ext cx="2377440" cy="457200"/>
          </a:xfrm>
          <a:prstGeom prst="rect">
            <a:avLst/>
          </a:prstGeom>
          <a:noFill/>
        </p:spPr>
        <p:txBody>
          <a:bodyPr wrap="square">
            <a:spAutoFit/>
          </a:bodyPr>
          <a:lstStyle/>
          <a:p>
            <a:pPr>
              <a:defRPr sz="1800" b="1">
                <a:solidFill>
                  <a:srgbClr val="171717"/>
                </a:solidFill>
              </a:defRPr>
            </a:pPr>
            <a:r>
              <a:t>Control</a:t>
            </a:r>
          </a:p>
        </p:txBody>
      </p:sp>
      <p:sp>
        <p:nvSpPr>
          <p:cNvPr id="12" name="TextBox 11"/>
          <p:cNvSpPr txBox="1"/>
          <p:nvPr/>
        </p:nvSpPr>
        <p:spPr>
          <a:xfrm>
            <a:off x="3566160" y="3886200"/>
            <a:ext cx="7863840" cy="548640"/>
          </a:xfrm>
          <a:prstGeom prst="rect">
            <a:avLst/>
          </a:prstGeom>
          <a:noFill/>
        </p:spPr>
        <p:txBody>
          <a:bodyPr wrap="square">
            <a:spAutoFit/>
          </a:bodyPr>
          <a:lstStyle/>
          <a:p>
            <a:pPr>
              <a:defRPr sz="1800" b="0">
                <a:solidFill>
                  <a:srgbClr val="4A4A4A"/>
                </a:solidFill>
              </a:defRPr>
            </a:pPr>
            <a:r>
              <a:t>The planner samples that posterior during lookahead.</a:t>
            </a:r>
          </a:p>
        </p:txBody>
      </p:sp>
      <p:sp>
        <p:nvSpPr>
          <p:cNvPr id="13" name="TextBox 12"/>
          <p:cNvSpPr txBox="1"/>
          <p:nvPr/>
        </p:nvSpPr>
        <p:spPr>
          <a:xfrm>
            <a:off x="822960" y="4937759"/>
            <a:ext cx="10424160" cy="548640"/>
          </a:xfrm>
          <a:prstGeom prst="rect">
            <a:avLst/>
          </a:prstGeom>
          <a:noFill/>
        </p:spPr>
        <p:txBody>
          <a:bodyPr wrap="square">
            <a:spAutoFit/>
          </a:bodyPr>
          <a:lstStyle/>
          <a:p>
            <a:pPr>
              <a:defRPr sz="1800" b="1">
                <a:solidFill>
                  <a:srgbClr val="171717"/>
                </a:solidFill>
              </a:defRPr>
            </a:pPr>
            <a:r>
              <a:t>The map stays fixed. Any lift must come from reading behavior and using the belief.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4</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DEMO</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The task in motion: hedge vs infer-and-intercept</a:t>
            </a:r>
          </a:p>
        </p:txBody>
      </p:sp>
      <p:pic>
        <p:nvPicPr>
          <p:cNvPr id="5" name="Picture 4" descr="demo_jepa.gif"/>
          <p:cNvPicPr>
            <a:picLocks noChangeAspect="1"/>
          </p:cNvPicPr>
          <p:nvPr/>
        </p:nvPicPr>
        <p:blipFill>
          <a:blip r:embed="rId3"/>
          <a:stretch>
            <a:fillRect/>
          </a:stretch>
        </p:blipFill>
        <p:spPr>
          <a:xfrm>
            <a:off x="1728563" y="1325880"/>
            <a:ext cx="8795833" cy="512064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5</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PART 1</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The belief signal becomes measurable</a:t>
            </a:r>
          </a:p>
        </p:txBody>
      </p:sp>
      <p:pic>
        <p:nvPicPr>
          <p:cNvPr id="5" name="Picture 4" descr="part2_intent_eval.png"/>
          <p:cNvPicPr>
            <a:picLocks noChangeAspect="1"/>
          </p:cNvPicPr>
          <p:nvPr/>
        </p:nvPicPr>
        <p:blipFill>
          <a:blip r:embed="rId3"/>
          <a:stretch>
            <a:fillRect/>
          </a:stretch>
        </p:blipFill>
        <p:spPr>
          <a:xfrm>
            <a:off x="457200" y="2836409"/>
            <a:ext cx="6766560" cy="2008140"/>
          </a:xfrm>
          <a:prstGeom prst="rect">
            <a:avLst/>
          </a:prstGeom>
        </p:spPr>
      </p:pic>
      <p:sp>
        <p:nvSpPr>
          <p:cNvPr id="6" name="TextBox 5"/>
          <p:cNvSpPr txBox="1"/>
          <p:nvPr/>
        </p:nvSpPr>
        <p:spPr>
          <a:xfrm>
            <a:off x="7498079" y="1645920"/>
            <a:ext cx="4206240" cy="3108960"/>
          </a:xfrm>
          <a:prstGeom prst="rect">
            <a:avLst/>
          </a:prstGeom>
          <a:noFill/>
        </p:spPr>
        <p:txBody>
          <a:bodyPr wrap="square">
            <a:spAutoFit/>
          </a:bodyPr>
          <a:lstStyle/>
          <a:p>
            <a:pPr>
              <a:spcAft>
                <a:spcPts val="800"/>
              </a:spcAft>
              <a:defRPr sz="1600">
                <a:solidFill>
                  <a:srgbClr val="4A4A4A"/>
                </a:solidFill>
              </a:defRPr>
            </a:pPr>
            <a:r>
              <a:t>•  Accuracy rises from 0.37 at 3 observed steps to 0.97 at 25.</a:t>
            </a:r>
          </a:p>
          <a:p>
            <a:pPr>
              <a:spcAft>
                <a:spcPts val="800"/>
              </a:spcAft>
              <a:defRPr sz="1600">
                <a:solidFill>
                  <a:srgbClr val="4A4A4A"/>
                </a:solidFill>
              </a:defRPr>
            </a:pPr>
            <a:r>
              <a:t>•  Posterior entropy falls from 1.35 to 0.03 nats.</a:t>
            </a:r>
          </a:p>
          <a:p>
            <a:pPr>
              <a:spcAft>
                <a:spcPts val="800"/>
              </a:spcAft>
              <a:defRPr sz="1600">
                <a:solidFill>
                  <a:srgbClr val="4A4A4A"/>
                </a:solidFill>
              </a:defRPr>
            </a:pPr>
            <a:r>
              <a:t>•  The belief sharpens before the episode ends.</a:t>
            </a:r>
          </a:p>
        </p:txBody>
      </p:sp>
      <p:sp>
        <p:nvSpPr>
          <p:cNvPr id="7" name="TextBox 6"/>
          <p:cNvSpPr txBox="1"/>
          <p:nvPr/>
        </p:nvSpPr>
        <p:spPr>
          <a:xfrm>
            <a:off x="7498079" y="4846320"/>
            <a:ext cx="4206240" cy="1371600"/>
          </a:xfrm>
          <a:prstGeom prst="rect">
            <a:avLst/>
          </a:prstGeom>
          <a:noFill/>
        </p:spPr>
        <p:txBody>
          <a:bodyPr wrap="square">
            <a:spAutoFit/>
          </a:bodyPr>
          <a:lstStyle/>
          <a:p>
            <a:pPr>
              <a:defRPr sz="1400" b="1">
                <a:solidFill>
                  <a:srgbClr val="171717"/>
                </a:solidFill>
              </a:defRPr>
            </a:pPr>
            <a:r>
              <a:t>This validates the Part 1 encoder: early motion carries the hidden intent.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6</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ABLATION</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Hard intent labels can damage control</a:t>
            </a:r>
          </a:p>
        </p:txBody>
      </p:sp>
      <p:sp>
        <p:nvSpPr>
          <p:cNvPr id="5" name="TextBox 4"/>
          <p:cNvSpPr txBox="1"/>
          <p:nvPr/>
        </p:nvSpPr>
        <p:spPr>
          <a:xfrm>
            <a:off x="822960" y="2103120"/>
            <a:ext cx="2926080" cy="640080"/>
          </a:xfrm>
          <a:prstGeom prst="rect">
            <a:avLst/>
          </a:prstGeom>
          <a:noFill/>
        </p:spPr>
        <p:txBody>
          <a:bodyPr wrap="square">
            <a:spAutoFit/>
          </a:bodyPr>
          <a:lstStyle/>
          <a:p>
            <a:pPr>
              <a:defRPr sz="4000" b="1">
                <a:solidFill>
                  <a:srgbClr val="171717"/>
                </a:solidFill>
              </a:defRPr>
            </a:pPr>
            <a:r>
              <a:t>2.68</a:t>
            </a:r>
          </a:p>
        </p:txBody>
      </p:sp>
      <p:sp>
        <p:nvSpPr>
          <p:cNvPr id="6" name="TextBox 5"/>
          <p:cNvSpPr txBox="1"/>
          <p:nvPr/>
        </p:nvSpPr>
        <p:spPr>
          <a:xfrm>
            <a:off x="822960" y="2761487"/>
            <a:ext cx="2926080" cy="822960"/>
          </a:xfrm>
          <a:prstGeom prst="rect">
            <a:avLst/>
          </a:prstGeom>
          <a:noFill/>
        </p:spPr>
        <p:txBody>
          <a:bodyPr wrap="square">
            <a:spAutoFit/>
          </a:bodyPr>
          <a:lstStyle/>
          <a:p>
            <a:pPr>
              <a:defRPr sz="1300" b="0">
                <a:solidFill>
                  <a:srgbClr val="4A4A4A"/>
                </a:solidFill>
              </a:defRPr>
            </a:pPr>
            <a:r>
              <a:t>opponent-blind baseline</a:t>
            </a:r>
          </a:p>
        </p:txBody>
      </p:sp>
      <p:sp>
        <p:nvSpPr>
          <p:cNvPr id="7" name="TextBox 6"/>
          <p:cNvSpPr txBox="1"/>
          <p:nvPr/>
        </p:nvSpPr>
        <p:spPr>
          <a:xfrm>
            <a:off x="4663440" y="2103120"/>
            <a:ext cx="2926080" cy="640080"/>
          </a:xfrm>
          <a:prstGeom prst="rect">
            <a:avLst/>
          </a:prstGeom>
          <a:noFill/>
        </p:spPr>
        <p:txBody>
          <a:bodyPr wrap="square">
            <a:spAutoFit/>
          </a:bodyPr>
          <a:lstStyle/>
          <a:p>
            <a:pPr>
              <a:defRPr sz="4000" b="1">
                <a:solidFill>
                  <a:srgbClr val="171717"/>
                </a:solidFill>
              </a:defRPr>
            </a:pPr>
            <a:r>
              <a:t>2.56</a:t>
            </a:r>
          </a:p>
        </p:txBody>
      </p:sp>
      <p:sp>
        <p:nvSpPr>
          <p:cNvPr id="8" name="TextBox 7"/>
          <p:cNvSpPr txBox="1"/>
          <p:nvPr/>
        </p:nvSpPr>
        <p:spPr>
          <a:xfrm>
            <a:off x="4663440" y="2761487"/>
            <a:ext cx="2926080" cy="822960"/>
          </a:xfrm>
          <a:prstGeom prst="rect">
            <a:avLst/>
          </a:prstGeom>
          <a:noFill/>
        </p:spPr>
        <p:txBody>
          <a:bodyPr wrap="square">
            <a:spAutoFit/>
          </a:bodyPr>
          <a:lstStyle/>
          <a:p>
            <a:pPr>
              <a:defRPr sz="1300" b="0">
                <a:solidFill>
                  <a:srgbClr val="4A4A4A"/>
                </a:solidFill>
              </a:defRPr>
            </a:pPr>
            <a:r>
              <a:t>hard intent inferred at k=8</a:t>
            </a:r>
          </a:p>
        </p:txBody>
      </p:sp>
      <p:sp>
        <p:nvSpPr>
          <p:cNvPr id="9" name="TextBox 8"/>
          <p:cNvSpPr txBox="1"/>
          <p:nvPr/>
        </p:nvSpPr>
        <p:spPr>
          <a:xfrm>
            <a:off x="8503920" y="2103120"/>
            <a:ext cx="2926080" cy="640080"/>
          </a:xfrm>
          <a:prstGeom prst="rect">
            <a:avLst/>
          </a:prstGeom>
          <a:noFill/>
        </p:spPr>
        <p:txBody>
          <a:bodyPr wrap="square">
            <a:spAutoFit/>
          </a:bodyPr>
          <a:lstStyle/>
          <a:p>
            <a:pPr>
              <a:defRPr sz="4000" b="1">
                <a:solidFill>
                  <a:srgbClr val="B44233"/>
                </a:solidFill>
              </a:defRPr>
            </a:pPr>
            <a:r>
              <a:t>1.42</a:t>
            </a:r>
          </a:p>
        </p:txBody>
      </p:sp>
      <p:sp>
        <p:nvSpPr>
          <p:cNvPr id="10" name="TextBox 9"/>
          <p:cNvSpPr txBox="1"/>
          <p:nvPr/>
        </p:nvSpPr>
        <p:spPr>
          <a:xfrm>
            <a:off x="8503920" y="2761487"/>
            <a:ext cx="2926080" cy="822960"/>
          </a:xfrm>
          <a:prstGeom prst="rect">
            <a:avLst/>
          </a:prstGeom>
          <a:noFill/>
        </p:spPr>
        <p:txBody>
          <a:bodyPr wrap="square">
            <a:spAutoFit/>
          </a:bodyPr>
          <a:lstStyle/>
          <a:p>
            <a:pPr>
              <a:defRPr sz="1300" b="0">
                <a:solidFill>
                  <a:srgbClr val="4A4A4A"/>
                </a:solidFill>
              </a:defRPr>
            </a:pPr>
            <a:r>
              <a:t>confident wrong intent</a:t>
            </a:r>
          </a:p>
        </p:txBody>
      </p:sp>
      <p:sp>
        <p:nvSpPr>
          <p:cNvPr id="11" name="TextBox 10"/>
          <p:cNvSpPr txBox="1"/>
          <p:nvPr/>
        </p:nvSpPr>
        <p:spPr>
          <a:xfrm>
            <a:off x="822960" y="4754880"/>
            <a:ext cx="10424160" cy="914400"/>
          </a:xfrm>
          <a:prstGeom prst="rect">
            <a:avLst/>
          </a:prstGeom>
          <a:noFill/>
        </p:spPr>
        <p:txBody>
          <a:bodyPr wrap="square">
            <a:spAutoFit/>
          </a:bodyPr>
          <a:lstStyle/>
          <a:p>
            <a:pPr>
              <a:defRPr sz="2000" b="1">
                <a:solidFill>
                  <a:srgbClr val="171717"/>
                </a:solidFill>
              </a:defRPr>
            </a:pPr>
            <a:r>
              <a:t>A point estimate throws away uncertainty. When the estimate is wrong, the predators commit to the wrong interception.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7</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PART 2</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The planner gets value from the whole belief</a:t>
            </a:r>
          </a:p>
        </p:txBody>
      </p:sp>
      <p:pic>
        <p:nvPicPr>
          <p:cNvPr id="5" name="Picture 4" descr="part2_planner.png"/>
          <p:cNvPicPr>
            <a:picLocks noChangeAspect="1"/>
          </p:cNvPicPr>
          <p:nvPr/>
        </p:nvPicPr>
        <p:blipFill>
          <a:blip r:embed="rId3"/>
          <a:stretch>
            <a:fillRect/>
          </a:stretch>
        </p:blipFill>
        <p:spPr>
          <a:xfrm>
            <a:off x="457200" y="1907177"/>
            <a:ext cx="6766560" cy="3866605"/>
          </a:xfrm>
          <a:prstGeom prst="rect">
            <a:avLst/>
          </a:prstGeom>
        </p:spPr>
      </p:pic>
      <p:sp>
        <p:nvSpPr>
          <p:cNvPr id="6" name="TextBox 5"/>
          <p:cNvSpPr txBox="1"/>
          <p:nvPr/>
        </p:nvSpPr>
        <p:spPr>
          <a:xfrm>
            <a:off x="7498079" y="1645920"/>
            <a:ext cx="4206240" cy="3108960"/>
          </a:xfrm>
          <a:prstGeom prst="rect">
            <a:avLst/>
          </a:prstGeom>
          <a:noFill/>
        </p:spPr>
        <p:txBody>
          <a:bodyPr wrap="square">
            <a:spAutoFit/>
          </a:bodyPr>
          <a:lstStyle/>
          <a:p>
            <a:pPr>
              <a:spcAft>
                <a:spcPts val="800"/>
              </a:spcAft>
              <a:defRPr sz="1600">
                <a:solidFill>
                  <a:srgbClr val="4A4A4A"/>
                </a:solidFill>
              </a:defRPr>
            </a:pPr>
            <a:r>
              <a:t>•  Flat-belief planner: 3.07 captures/episode.</a:t>
            </a:r>
          </a:p>
          <a:p>
            <a:pPr>
              <a:spcAft>
                <a:spcPts val="800"/>
              </a:spcAft>
              <a:defRPr sz="1600">
                <a:solidFill>
                  <a:srgbClr val="4A4A4A"/>
                </a:solidFill>
              </a:defRPr>
            </a:pPr>
            <a:r>
              <a:t>•  Reactive oracle with true intent: 4.05.</a:t>
            </a:r>
          </a:p>
          <a:p>
            <a:pPr>
              <a:spcAft>
                <a:spcPts val="800"/>
              </a:spcAft>
              <a:defRPr sz="1600">
                <a:solidFill>
                  <a:srgbClr val="4A4A4A"/>
                </a:solidFill>
              </a:defRPr>
            </a:pPr>
            <a:r>
              <a:t>•  Planner with inferred belief: 4.31.</a:t>
            </a:r>
          </a:p>
        </p:txBody>
      </p:sp>
      <p:sp>
        <p:nvSpPr>
          <p:cNvPr id="7" name="TextBox 6"/>
          <p:cNvSpPr txBox="1"/>
          <p:nvPr/>
        </p:nvSpPr>
        <p:spPr>
          <a:xfrm>
            <a:off x="7498079" y="4846320"/>
            <a:ext cx="4206240" cy="1371600"/>
          </a:xfrm>
          <a:prstGeom prst="rect">
            <a:avLst/>
          </a:prstGeom>
          <a:noFill/>
        </p:spPr>
        <p:txBody>
          <a:bodyPr wrap="square">
            <a:spAutoFit/>
          </a:bodyPr>
          <a:lstStyle/>
          <a:p>
            <a:pPr>
              <a:defRPr sz="1400" b="1">
                <a:solidFill>
                  <a:srgbClr val="171717"/>
                </a:solidFill>
              </a:defRPr>
            </a:pPr>
            <a:r>
              <a:t>The lift comes from inference plus lookahead, measured against a flat-belief ablation.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8</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INTERPRETATION</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The oracle comparison needs precise wording</a:t>
            </a:r>
          </a:p>
        </p:txBody>
      </p:sp>
      <p:sp>
        <p:nvSpPr>
          <p:cNvPr id="5" name="TextBox 4"/>
          <p:cNvSpPr txBox="1"/>
          <p:nvPr/>
        </p:nvSpPr>
        <p:spPr>
          <a:xfrm>
            <a:off x="640080" y="1645920"/>
            <a:ext cx="3474720" cy="457200"/>
          </a:xfrm>
          <a:prstGeom prst="rect">
            <a:avLst/>
          </a:prstGeom>
          <a:noFill/>
        </p:spPr>
        <p:txBody>
          <a:bodyPr wrap="square">
            <a:spAutoFit/>
          </a:bodyPr>
          <a:lstStyle/>
          <a:p>
            <a:pPr>
              <a:defRPr sz="1900" b="1">
                <a:solidFill>
                  <a:srgbClr val="171717"/>
                </a:solidFill>
              </a:defRPr>
            </a:pPr>
            <a:r>
              <a:t>Oracle policy</a:t>
            </a:r>
          </a:p>
        </p:txBody>
      </p:sp>
      <p:sp>
        <p:nvSpPr>
          <p:cNvPr id="6" name="TextBox 5"/>
          <p:cNvSpPr txBox="1"/>
          <p:nvPr/>
        </p:nvSpPr>
        <p:spPr>
          <a:xfrm>
            <a:off x="640080" y="2148840"/>
            <a:ext cx="3474720" cy="2194560"/>
          </a:xfrm>
          <a:prstGeom prst="rect">
            <a:avLst/>
          </a:prstGeom>
          <a:noFill/>
        </p:spPr>
        <p:txBody>
          <a:bodyPr wrap="square">
            <a:spAutoFit/>
          </a:bodyPr>
          <a:lstStyle/>
          <a:p>
            <a:pPr>
              <a:defRPr sz="1500" b="0">
                <a:solidFill>
                  <a:srgbClr val="4A4A4A"/>
                </a:solidFill>
              </a:defRPr>
            </a:pPr>
            <a:r>
              <a:t>Receives the true intent, then reacts with the trained policy. Perfect intent information, no lookahead.</a:t>
            </a:r>
          </a:p>
        </p:txBody>
      </p:sp>
      <p:sp>
        <p:nvSpPr>
          <p:cNvPr id="7" name="TextBox 6"/>
          <p:cNvSpPr txBox="1"/>
          <p:nvPr/>
        </p:nvSpPr>
        <p:spPr>
          <a:xfrm>
            <a:off x="4480560" y="1645920"/>
            <a:ext cx="3474720" cy="457200"/>
          </a:xfrm>
          <a:prstGeom prst="rect">
            <a:avLst/>
          </a:prstGeom>
          <a:noFill/>
        </p:spPr>
        <p:txBody>
          <a:bodyPr wrap="square">
            <a:spAutoFit/>
          </a:bodyPr>
          <a:lstStyle/>
          <a:p>
            <a:pPr>
              <a:defRPr sz="1900" b="1">
                <a:solidFill>
                  <a:srgbClr val="0D6E7A"/>
                </a:solidFill>
              </a:defRPr>
            </a:pPr>
            <a:r>
              <a:t>Belief planner</a:t>
            </a:r>
          </a:p>
        </p:txBody>
      </p:sp>
      <p:sp>
        <p:nvSpPr>
          <p:cNvPr id="8" name="TextBox 7"/>
          <p:cNvSpPr txBox="1"/>
          <p:nvPr/>
        </p:nvSpPr>
        <p:spPr>
          <a:xfrm>
            <a:off x="4480560" y="2148840"/>
            <a:ext cx="3474720" cy="2194560"/>
          </a:xfrm>
          <a:prstGeom prst="rect">
            <a:avLst/>
          </a:prstGeom>
          <a:noFill/>
        </p:spPr>
        <p:txBody>
          <a:bodyPr wrap="square">
            <a:spAutoFit/>
          </a:bodyPr>
          <a:lstStyle/>
          <a:p>
            <a:pPr>
              <a:defRPr sz="1500" b="0">
                <a:solidFill>
                  <a:srgbClr val="4A4A4A"/>
                </a:solidFill>
              </a:defRPr>
            </a:pPr>
            <a:r>
              <a:t>Receives an inferred distribution, then searches short futures with simulator dynamics.</a:t>
            </a:r>
          </a:p>
        </p:txBody>
      </p:sp>
      <p:sp>
        <p:nvSpPr>
          <p:cNvPr id="9" name="TextBox 8"/>
          <p:cNvSpPr txBox="1"/>
          <p:nvPr/>
        </p:nvSpPr>
        <p:spPr>
          <a:xfrm>
            <a:off x="8321040" y="1645920"/>
            <a:ext cx="3474720" cy="457200"/>
          </a:xfrm>
          <a:prstGeom prst="rect">
            <a:avLst/>
          </a:prstGeom>
          <a:noFill/>
        </p:spPr>
        <p:txBody>
          <a:bodyPr wrap="square">
            <a:spAutoFit/>
          </a:bodyPr>
          <a:lstStyle/>
          <a:p>
            <a:pPr>
              <a:defRPr sz="1900" b="1">
                <a:solidFill>
                  <a:srgbClr val="B44233"/>
                </a:solidFill>
              </a:defRPr>
            </a:pPr>
            <a:r>
              <a:t>Reviewer line</a:t>
            </a:r>
          </a:p>
        </p:txBody>
      </p:sp>
      <p:sp>
        <p:nvSpPr>
          <p:cNvPr id="10" name="TextBox 9"/>
          <p:cNvSpPr txBox="1"/>
          <p:nvPr/>
        </p:nvSpPr>
        <p:spPr>
          <a:xfrm>
            <a:off x="8321040" y="2148840"/>
            <a:ext cx="3474720" cy="2194560"/>
          </a:xfrm>
          <a:prstGeom prst="rect">
            <a:avLst/>
          </a:prstGeom>
          <a:noFill/>
        </p:spPr>
        <p:txBody>
          <a:bodyPr wrap="square">
            <a:spAutoFit/>
          </a:bodyPr>
          <a:lstStyle/>
          <a:p>
            <a:pPr>
              <a:defRPr sz="1500" b="0">
                <a:solidFill>
                  <a:srgbClr val="4A4A4A"/>
                </a:solidFill>
              </a:defRPr>
            </a:pPr>
            <a:r>
              <a:t>Say it exceeds a reactive oracle. An oracle planner remains the real ceiling experiment.</a:t>
            </a:r>
          </a:p>
        </p:txBody>
      </p:sp>
      <p:sp>
        <p:nvSpPr>
          <p:cNvPr id="11" name="TextBox 10"/>
          <p:cNvSpPr txBox="1"/>
          <p:nvPr/>
        </p:nvSpPr>
        <p:spPr>
          <a:xfrm>
            <a:off x="640080" y="4937760"/>
            <a:ext cx="10881360" cy="548640"/>
          </a:xfrm>
          <a:prstGeom prst="rect">
            <a:avLst/>
          </a:prstGeom>
          <a:noFill/>
        </p:spPr>
        <p:txBody>
          <a:bodyPr wrap="square">
            <a:spAutoFit/>
          </a:bodyPr>
          <a:lstStyle/>
          <a:p>
            <a:pPr>
              <a:defRPr sz="1800" b="1">
                <a:solidFill>
                  <a:srgbClr val="171717"/>
                </a:solidFill>
              </a:defRPr>
            </a:pPr>
            <a:r>
              <a:t>This wording preserves the strongest result without overstating the comparator.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9</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REPRESENTATION</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JEPA recovers the belief without intent labels</a:t>
            </a:r>
          </a:p>
        </p:txBody>
      </p:sp>
      <p:pic>
        <p:nvPicPr>
          <p:cNvPr id="5" name="Picture 4" descr="jepa_vs_vae_encoder.png"/>
          <p:cNvPicPr>
            <a:picLocks noChangeAspect="1"/>
          </p:cNvPicPr>
          <p:nvPr/>
        </p:nvPicPr>
        <p:blipFill>
          <a:blip r:embed="rId3"/>
          <a:stretch>
            <a:fillRect/>
          </a:stretch>
        </p:blipFill>
        <p:spPr>
          <a:xfrm>
            <a:off x="457200" y="2802940"/>
            <a:ext cx="6766560" cy="2075078"/>
          </a:xfrm>
          <a:prstGeom prst="rect">
            <a:avLst/>
          </a:prstGeom>
        </p:spPr>
      </p:pic>
      <p:sp>
        <p:nvSpPr>
          <p:cNvPr id="6" name="TextBox 5"/>
          <p:cNvSpPr txBox="1"/>
          <p:nvPr/>
        </p:nvSpPr>
        <p:spPr>
          <a:xfrm>
            <a:off x="7498079" y="1645920"/>
            <a:ext cx="4206240" cy="3108960"/>
          </a:xfrm>
          <a:prstGeom prst="rect">
            <a:avLst/>
          </a:prstGeom>
          <a:noFill/>
        </p:spPr>
        <p:txBody>
          <a:bodyPr wrap="square">
            <a:spAutoFit/>
          </a:bodyPr>
          <a:lstStyle/>
          <a:p>
            <a:pPr>
              <a:spcAft>
                <a:spcPts val="800"/>
              </a:spcAft>
              <a:defRPr sz="1600">
                <a:solidFill>
                  <a:srgbClr val="4A4A4A"/>
                </a:solidFill>
              </a:defRPr>
            </a:pPr>
            <a:r>
              <a:t>•  Same trajectory data and the same 2-D latent size.</a:t>
            </a:r>
          </a:p>
          <a:p>
            <a:pPr>
              <a:spcAft>
                <a:spcPts val="800"/>
              </a:spcAft>
              <a:defRPr sz="1600">
                <a:solidFill>
                  <a:srgbClr val="4A4A4A"/>
                </a:solidFill>
              </a:defRPr>
            </a:pPr>
            <a:r>
              <a:t>•  JEPA probe 0.89 vs VAE probe 0.53 (3 encoder seeds).</a:t>
            </a:r>
          </a:p>
          <a:p>
            <a:pPr>
              <a:spcAft>
                <a:spcPts val="800"/>
              </a:spcAft>
              <a:defRPr sz="1600">
                <a:solidFill>
                  <a:srgbClr val="4A4A4A"/>
                </a:solidFill>
              </a:defRPr>
            </a:pPr>
            <a:r>
              <a:t>•  JEPA belief planner reaches 4.08 captures/episode.</a:t>
            </a:r>
          </a:p>
        </p:txBody>
      </p:sp>
      <p:sp>
        <p:nvSpPr>
          <p:cNvPr id="7" name="TextBox 6"/>
          <p:cNvSpPr txBox="1"/>
          <p:nvPr/>
        </p:nvSpPr>
        <p:spPr>
          <a:xfrm>
            <a:off x="7498079" y="4846320"/>
            <a:ext cx="4206240" cy="1371600"/>
          </a:xfrm>
          <a:prstGeom prst="rect">
            <a:avLst/>
          </a:prstGeom>
          <a:noFill/>
        </p:spPr>
        <p:txBody>
          <a:bodyPr wrap="square">
            <a:spAutoFit/>
          </a:bodyPr>
          <a:lstStyle/>
          <a:p>
            <a:pPr>
              <a:defRPr sz="1400" b="1">
                <a:solidFill>
                  <a:srgbClr val="171717"/>
                </a:solidFill>
              </a:defRPr>
            </a:pPr>
            <a:r>
              <a:t>Predicting future behavior keeps the stable intent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10</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BOUNDARY</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Learned dynamics failed the control test</a:t>
            </a:r>
          </a:p>
        </p:txBody>
      </p:sp>
      <p:pic>
        <p:nvPicPr>
          <p:cNvPr id="5" name="Picture 4" descr="part4_jepa_world_planner.png"/>
          <p:cNvPicPr>
            <a:picLocks noChangeAspect="1"/>
          </p:cNvPicPr>
          <p:nvPr/>
        </p:nvPicPr>
        <p:blipFill>
          <a:blip r:embed="rId3"/>
          <a:stretch>
            <a:fillRect/>
          </a:stretch>
        </p:blipFill>
        <p:spPr>
          <a:xfrm>
            <a:off x="457200" y="1758461"/>
            <a:ext cx="6766560" cy="4164036"/>
          </a:xfrm>
          <a:prstGeom prst="rect">
            <a:avLst/>
          </a:prstGeom>
        </p:spPr>
      </p:pic>
      <p:sp>
        <p:nvSpPr>
          <p:cNvPr id="6" name="TextBox 5"/>
          <p:cNvSpPr txBox="1"/>
          <p:nvPr/>
        </p:nvSpPr>
        <p:spPr>
          <a:xfrm>
            <a:off x="7498079" y="1645920"/>
            <a:ext cx="4206240" cy="3108960"/>
          </a:xfrm>
          <a:prstGeom prst="rect">
            <a:avLst/>
          </a:prstGeom>
          <a:noFill/>
        </p:spPr>
        <p:txBody>
          <a:bodyPr wrap="square">
            <a:spAutoFit/>
          </a:bodyPr>
          <a:lstStyle/>
          <a:p>
            <a:pPr>
              <a:spcAft>
                <a:spcPts val="800"/>
              </a:spcAft>
              <a:defRPr sz="1600">
                <a:solidFill>
                  <a:srgbClr val="4A4A4A"/>
                </a:solidFill>
              </a:defRPr>
            </a:pPr>
            <a:r>
              <a:t>•  Simulator belief planning works.</a:t>
            </a:r>
          </a:p>
          <a:p>
            <a:pPr>
              <a:spcAft>
                <a:spcPts val="800"/>
              </a:spcAft>
              <a:defRPr sz="1600">
                <a:solidFill>
                  <a:srgbClr val="4A4A4A"/>
                </a:solidFill>
              </a:defRPr>
            </a:pPr>
            <a:r>
              <a:t>•  The latent world planner reaches 0.57 captures/episode.</a:t>
            </a:r>
          </a:p>
          <a:p>
            <a:pPr>
              <a:spcAft>
                <a:spcPts val="800"/>
              </a:spcAft>
              <a:defRPr sz="1600">
                <a:solidFill>
                  <a:srgbClr val="4A4A4A"/>
                </a:solidFill>
              </a:defRPr>
            </a:pPr>
            <a:r>
              <a:t>•  The control bottleneck is dynamics fidelity.</a:t>
            </a:r>
          </a:p>
        </p:txBody>
      </p:sp>
      <p:sp>
        <p:nvSpPr>
          <p:cNvPr id="7" name="TextBox 6"/>
          <p:cNvSpPr txBox="1"/>
          <p:nvPr/>
        </p:nvSpPr>
        <p:spPr>
          <a:xfrm>
            <a:off x="7498079" y="4846320"/>
            <a:ext cx="4206240" cy="1371600"/>
          </a:xfrm>
          <a:prstGeom prst="rect">
            <a:avLst/>
          </a:prstGeom>
          <a:noFill/>
        </p:spPr>
        <p:txBody>
          <a:bodyPr wrap="square">
            <a:spAutoFit/>
          </a:bodyPr>
          <a:lstStyle/>
          <a:p>
            <a:pPr>
              <a:defRPr sz="1400" b="1">
                <a:solidFill>
                  <a:srgbClr val="171717"/>
                </a:solidFill>
              </a:defRPr>
            </a:pPr>
            <a:r>
              <a:t>Keep this negative result in the talk. It tells reviewers where the method breaks today.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11</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SECOND AXIS</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“Are circles just squares?” Look at the occupancy</a:t>
            </a:r>
          </a:p>
        </p:txBody>
      </p:sp>
      <p:pic>
        <p:nvPicPr>
          <p:cNvPr id="5" name="Picture 4" descr="occupancy_heatmaps.png"/>
          <p:cNvPicPr>
            <a:picLocks noChangeAspect="1"/>
          </p:cNvPicPr>
          <p:nvPr/>
        </p:nvPicPr>
        <p:blipFill>
          <a:blip r:embed="rId3"/>
          <a:stretch>
            <a:fillRect/>
          </a:stretch>
        </p:blipFill>
        <p:spPr>
          <a:xfrm>
            <a:off x="457200" y="2697164"/>
            <a:ext cx="6766560" cy="2286630"/>
          </a:xfrm>
          <a:prstGeom prst="rect">
            <a:avLst/>
          </a:prstGeom>
        </p:spPr>
      </p:pic>
      <p:sp>
        <p:nvSpPr>
          <p:cNvPr id="6" name="TextBox 5"/>
          <p:cNvSpPr txBox="1"/>
          <p:nvPr/>
        </p:nvSpPr>
        <p:spPr>
          <a:xfrm>
            <a:off x="7498079" y="1645920"/>
            <a:ext cx="4206240" cy="3108960"/>
          </a:xfrm>
          <a:prstGeom prst="rect">
            <a:avLst/>
          </a:prstGeom>
          <a:noFill/>
        </p:spPr>
        <p:txBody>
          <a:bodyPr wrap="square">
            <a:spAutoFit/>
          </a:bodyPr>
          <a:lstStyle/>
          <a:p>
            <a:pPr>
              <a:spcAft>
                <a:spcPts val="800"/>
              </a:spcAft>
              <a:defRPr sz="1600">
                <a:solidFill>
                  <a:srgbClr val="4A4A4A"/>
                </a:solidFill>
              </a:defRPr>
            </a:pPr>
            <a:r>
              <a:t>•  Corners specialist: four sharp hot-spots at the corners.</a:t>
            </a:r>
          </a:p>
          <a:p>
            <a:pPr>
              <a:spcAft>
                <a:spcPts val="800"/>
              </a:spcAft>
              <a:defRPr sz="1600">
                <a:solidFill>
                  <a:srgbClr val="4A4A4A"/>
                </a:solidFill>
              </a:defRPr>
            </a:pPr>
            <a:r>
              <a:t>•  Circle specialist: a diffuse, smeared ring, no crisp peaks.</a:t>
            </a:r>
          </a:p>
          <a:p>
            <a:pPr>
              <a:spcAft>
                <a:spcPts val="800"/>
              </a:spcAft>
              <a:defRPr sz="1600">
                <a:solidFill>
                  <a:srgbClr val="4A4A4A"/>
                </a:solidFill>
              </a:defRPr>
            </a:pPr>
            <a:r>
              <a:t>•  Different behaviours (cosine 0.42), but asymmetric: the circle signal is weak.</a:t>
            </a:r>
          </a:p>
        </p:txBody>
      </p:sp>
      <p:sp>
        <p:nvSpPr>
          <p:cNvPr id="7" name="TextBox 6"/>
          <p:cNvSpPr txBox="1"/>
          <p:nvPr/>
        </p:nvSpPr>
        <p:spPr>
          <a:xfrm>
            <a:off x="7498079" y="4846320"/>
            <a:ext cx="4206240" cy="1371600"/>
          </a:xfrm>
          <a:prstGeom prst="rect">
            <a:avLst/>
          </a:prstGeom>
          <a:noFill/>
        </p:spPr>
        <p:txBody>
          <a:bodyPr wrap="square">
            <a:spAutoFit/>
          </a:bodyPr>
          <a:lstStyle/>
          <a:p>
            <a:pPr>
              <a:defRPr sz="1400" b="1">
                <a:solidFill>
                  <a:srgbClr val="171717"/>
                </a:solidFill>
              </a:defRPr>
            </a:pPr>
            <a:r>
              <a:t>The diffuse circle behaviour is why clustering fails and vanilla BC struggles; it motivates a genuinely distinct placement such as a snake path.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12</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REPRESENTATION</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The latent scatter: what the axes are</a:t>
            </a:r>
          </a:p>
        </p:txBody>
      </p:sp>
      <p:pic>
        <p:nvPicPr>
          <p:cNvPr id="5" name="Picture 4" descr="mopa_latent_resources_mappo_prey_occ.png"/>
          <p:cNvPicPr>
            <a:picLocks noChangeAspect="1"/>
          </p:cNvPicPr>
          <p:nvPr/>
        </p:nvPicPr>
        <p:blipFill>
          <a:blip r:embed="rId3"/>
          <a:stretch>
            <a:fillRect/>
          </a:stretch>
        </p:blipFill>
        <p:spPr>
          <a:xfrm>
            <a:off x="457200" y="3021370"/>
            <a:ext cx="6766560" cy="1638219"/>
          </a:xfrm>
          <a:prstGeom prst="rect">
            <a:avLst/>
          </a:prstGeom>
        </p:spPr>
      </p:pic>
      <p:sp>
        <p:nvSpPr>
          <p:cNvPr id="6" name="TextBox 5"/>
          <p:cNvSpPr txBox="1"/>
          <p:nvPr/>
        </p:nvSpPr>
        <p:spPr>
          <a:xfrm>
            <a:off x="7498079" y="1645920"/>
            <a:ext cx="4206240" cy="3108960"/>
          </a:xfrm>
          <a:prstGeom prst="rect">
            <a:avLst/>
          </a:prstGeom>
          <a:noFill/>
        </p:spPr>
        <p:txBody>
          <a:bodyPr wrap="square">
            <a:spAutoFit/>
          </a:bodyPr>
          <a:lstStyle/>
          <a:p>
            <a:pPr>
              <a:spcAft>
                <a:spcPts val="800"/>
              </a:spcAft>
              <a:defRPr sz="1600">
                <a:solidFill>
                  <a:srgbClr val="4A4A4A"/>
                </a:solidFill>
              </a:defRPr>
            </a:pPr>
            <a:r>
              <a:t>•  Each point = one episode's prey occupancy, embedded by the encoder; color = true placement (never shown to the encoder).</a:t>
            </a:r>
          </a:p>
          <a:p>
            <a:pPr>
              <a:spcAft>
                <a:spcPts val="800"/>
              </a:spcAft>
              <a:defRPr sz="1600">
                <a:solidFill>
                  <a:srgbClr val="4A4A4A"/>
                </a:solidFill>
              </a:defRPr>
            </a:pPr>
            <a:r>
              <a:t>•  Axes = the 2-D latent directly (PC1/PC2 of the latent when 4-D). No t-SNE, no rescaling.</a:t>
            </a:r>
          </a:p>
          <a:p>
            <a:pPr>
              <a:spcAft>
                <a:spcPts val="800"/>
              </a:spcAft>
              <a:defRPr sz="1600">
                <a:solidFill>
                  <a:srgbClr val="4A4A4A"/>
                </a:solidFill>
              </a:defRPr>
            </a:pPr>
            <a:r>
              <a:t>•  Linearly decodable (supervised 0.93, latents to 0.81) but ARI ≈ 0: a direction, not two clusters.</a:t>
            </a:r>
          </a:p>
        </p:txBody>
      </p:sp>
      <p:sp>
        <p:nvSpPr>
          <p:cNvPr id="7" name="TextBox 6"/>
          <p:cNvSpPr txBox="1"/>
          <p:nvPr/>
        </p:nvSpPr>
        <p:spPr>
          <a:xfrm>
            <a:off x="7498079" y="4846320"/>
            <a:ext cx="4206240" cy="1371600"/>
          </a:xfrm>
          <a:prstGeom prst="rect">
            <a:avLst/>
          </a:prstGeom>
          <a:noFill/>
        </p:spPr>
        <p:txBody>
          <a:bodyPr wrap="square">
            <a:spAutoFit/>
          </a:bodyPr>
          <a:lstStyle/>
          <a:p>
            <a:pPr>
              <a:defRPr sz="1400" b="1">
                <a:solidFill>
                  <a:srgbClr val="171717"/>
                </a:solidFill>
              </a:defRPr>
            </a:pPr>
            <a:r>
              <a:t>Signal yes, separated modes no. Shaping the latent (contrastive or equivariant) is the open problem.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13</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FOLLOW-UP</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BC is strong enough to test strategy inputs</a:t>
            </a:r>
          </a:p>
        </p:txBody>
      </p:sp>
      <p:pic>
        <p:nvPicPr>
          <p:cNvPr id="5" name="Picture 4" descr="mopa_bc_vs_mappo.png"/>
          <p:cNvPicPr>
            <a:picLocks noChangeAspect="1"/>
          </p:cNvPicPr>
          <p:nvPr/>
        </p:nvPicPr>
        <p:blipFill>
          <a:blip r:embed="rId3"/>
          <a:stretch>
            <a:fillRect/>
          </a:stretch>
        </p:blipFill>
        <p:spPr>
          <a:xfrm>
            <a:off x="457200" y="1792705"/>
            <a:ext cx="6766560" cy="4095549"/>
          </a:xfrm>
          <a:prstGeom prst="rect">
            <a:avLst/>
          </a:prstGeom>
        </p:spPr>
      </p:pic>
      <p:sp>
        <p:nvSpPr>
          <p:cNvPr id="6" name="TextBox 5"/>
          <p:cNvSpPr txBox="1"/>
          <p:nvPr/>
        </p:nvSpPr>
        <p:spPr>
          <a:xfrm>
            <a:off x="7498079" y="1645920"/>
            <a:ext cx="4206240" cy="3108960"/>
          </a:xfrm>
          <a:prstGeom prst="rect">
            <a:avLst/>
          </a:prstGeom>
          <a:noFill/>
        </p:spPr>
        <p:txBody>
          <a:bodyPr wrap="square">
            <a:spAutoFit/>
          </a:bodyPr>
          <a:lstStyle/>
          <a:p>
            <a:pPr>
              <a:spcAft>
                <a:spcPts val="800"/>
              </a:spcAft>
              <a:defRPr sz="1600">
                <a:solidFill>
                  <a:srgbClr val="4A4A4A"/>
                </a:solidFill>
              </a:defRPr>
            </a:pPr>
            <a:r>
              <a:t>•  Random policy: 0.40 captures/episode.</a:t>
            </a:r>
          </a:p>
          <a:p>
            <a:pPr>
              <a:spcAft>
                <a:spcPts val="800"/>
              </a:spcAft>
              <a:defRPr sz="1600">
                <a:solidFill>
                  <a:srgbClr val="4A4A4A"/>
                </a:solidFill>
              </a:defRPr>
            </a:pPr>
            <a:r>
              <a:t>•  Vanilla BC: 1.22 captures/episode.</a:t>
            </a:r>
          </a:p>
          <a:p>
            <a:pPr>
              <a:spcAft>
                <a:spcPts val="800"/>
              </a:spcAft>
              <a:defRPr sz="1600">
                <a:solidFill>
                  <a:srgbClr val="4A4A4A"/>
                </a:solidFill>
              </a:defRPr>
            </a:pPr>
            <a:r>
              <a:t>•  MAPPO expert: 1.35 captures/episode.</a:t>
            </a:r>
          </a:p>
        </p:txBody>
      </p:sp>
      <p:sp>
        <p:nvSpPr>
          <p:cNvPr id="7" name="TextBox 6"/>
          <p:cNvSpPr txBox="1"/>
          <p:nvPr/>
        </p:nvSpPr>
        <p:spPr>
          <a:xfrm>
            <a:off x="7498079" y="4846320"/>
            <a:ext cx="4206240" cy="1371600"/>
          </a:xfrm>
          <a:prstGeom prst="rect">
            <a:avLst/>
          </a:prstGeom>
          <a:noFill/>
        </p:spPr>
        <p:txBody>
          <a:bodyPr wrap="square">
            <a:spAutoFit/>
          </a:bodyPr>
          <a:lstStyle/>
          <a:p>
            <a:pPr>
              <a:defRPr sz="1400" b="1">
                <a:solidFill>
                  <a:srgbClr val="171717"/>
                </a:solidFill>
              </a:defRPr>
            </a:pPr>
            <a:r>
              <a:t>The clone recovers 86% of the expert edge, so the follow-up can test strategy information.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14</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FOLLOW-UP</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Strategy information has value, even when the latent is weak</a:t>
            </a:r>
          </a:p>
        </p:txBody>
      </p:sp>
      <p:pic>
        <p:nvPicPr>
          <p:cNvPr id="5" name="Picture 4" descr="mopa_bc_latent_deploy.png"/>
          <p:cNvPicPr>
            <a:picLocks noChangeAspect="1"/>
          </p:cNvPicPr>
          <p:nvPr/>
        </p:nvPicPr>
        <p:blipFill>
          <a:blip r:embed="rId3"/>
          <a:stretch>
            <a:fillRect/>
          </a:stretch>
        </p:blipFill>
        <p:spPr>
          <a:xfrm>
            <a:off x="411480" y="1784752"/>
            <a:ext cx="5577840" cy="3197054"/>
          </a:xfrm>
          <a:prstGeom prst="rect">
            <a:avLst/>
          </a:prstGeom>
        </p:spPr>
      </p:pic>
      <p:pic>
        <p:nvPicPr>
          <p:cNvPr id="6" name="Picture 5" descr="mopa_bc_latent_sweep.png"/>
          <p:cNvPicPr>
            <a:picLocks noChangeAspect="1"/>
          </p:cNvPicPr>
          <p:nvPr/>
        </p:nvPicPr>
        <p:blipFill>
          <a:blip r:embed="rId4"/>
          <a:stretch>
            <a:fillRect/>
          </a:stretch>
        </p:blipFill>
        <p:spPr>
          <a:xfrm>
            <a:off x="6217920" y="1794244"/>
            <a:ext cx="5577840" cy="3178071"/>
          </a:xfrm>
          <a:prstGeom prst="rect">
            <a:avLst/>
          </a:prstGeom>
        </p:spPr>
      </p:pic>
      <p:sp>
        <p:nvSpPr>
          <p:cNvPr id="7" name="TextBox 6"/>
          <p:cNvSpPr txBox="1"/>
          <p:nvPr/>
        </p:nvSpPr>
        <p:spPr>
          <a:xfrm>
            <a:off x="640080" y="5577840"/>
            <a:ext cx="10972800" cy="1097280"/>
          </a:xfrm>
          <a:prstGeom prst="rect">
            <a:avLst/>
          </a:prstGeom>
          <a:noFill/>
        </p:spPr>
        <p:txBody>
          <a:bodyPr wrap="square">
            <a:spAutoFit/>
          </a:bodyPr>
          <a:lstStyle/>
          <a:p>
            <a:pPr>
              <a:spcAft>
                <a:spcPts val="800"/>
              </a:spcAft>
              <a:defRPr sz="1500">
                <a:solidFill>
                  <a:srgbClr val="4A4A4A"/>
                </a:solidFill>
              </a:defRPr>
            </a:pPr>
            <a:r>
              <a:t>•  Oracle placement closes most of the deployed capture gap (85%).</a:t>
            </a:r>
          </a:p>
          <a:p>
            <a:pPr>
              <a:spcAft>
                <a:spcPts val="800"/>
              </a:spcAft>
              <a:defRPr sz="1500">
                <a:solidFill>
                  <a:srgbClr val="4A4A4A"/>
                </a:solidFill>
              </a:defRPr>
            </a:pPr>
            <a:r>
              <a:t>•  The unsupervised latent gives a small deployed lift today (22%, within noise).</a:t>
            </a:r>
          </a:p>
          <a:p>
            <a:pPr>
              <a:spcAft>
                <a:spcPts val="800"/>
              </a:spcAft>
              <a:defRPr sz="1500">
                <a:solidFill>
                  <a:srgbClr val="4A4A4A"/>
                </a:solidFill>
              </a:defRPr>
            </a:pPr>
            <a:r>
              <a:t>•  The sweep shows better probes translate into better BC.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15</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CAVEAT</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Honest mechanism: is the gain just averaging?</a:t>
            </a:r>
          </a:p>
        </p:txBody>
      </p:sp>
      <p:sp>
        <p:nvSpPr>
          <p:cNvPr id="5" name="TextBox 4"/>
          <p:cNvSpPr txBox="1"/>
          <p:nvPr/>
        </p:nvSpPr>
        <p:spPr>
          <a:xfrm>
            <a:off x="914400" y="1737360"/>
            <a:ext cx="10332720" cy="4114800"/>
          </a:xfrm>
          <a:prstGeom prst="rect">
            <a:avLst/>
          </a:prstGeom>
          <a:noFill/>
        </p:spPr>
        <p:txBody>
          <a:bodyPr wrap="square">
            <a:spAutoFit/>
          </a:bodyPr>
          <a:lstStyle/>
          <a:p>
            <a:pPr>
              <a:spcAft>
                <a:spcPts val="800"/>
              </a:spcAft>
              <a:defRPr sz="2000">
                <a:solidFill>
                  <a:srgbClr val="4A4A4A"/>
                </a:solidFill>
              </a:defRPr>
            </a:pPr>
            <a:r>
              <a:t>•  The placement is fixed across a specialist's episodes.</a:t>
            </a:r>
          </a:p>
          <a:p>
            <a:pPr>
              <a:spcAft>
                <a:spcPts val="800"/>
              </a:spcAft>
              <a:defRPr sz="2000">
                <a:solidFill>
                  <a:srgbClr val="4A4A4A"/>
                </a:solidFill>
              </a:defRPr>
            </a:pPr>
            <a:r>
              <a:t>•  More observation → a better occupancy ESTIMATE: averaging, not the strategy unfolding.</a:t>
            </a:r>
          </a:p>
          <a:p>
            <a:pPr>
              <a:spcAft>
                <a:spcPts val="800"/>
              </a:spcAft>
              <a:defRPr sz="2000">
                <a:solidFill>
                  <a:srgbClr val="4A4A4A"/>
                </a:solidFill>
              </a:defRPr>
            </a:pPr>
            <a:r>
              <a:t>•  Different from the hidden-intent task, where intent is revealed within the episode.</a:t>
            </a:r>
          </a:p>
          <a:p>
            <a:pPr>
              <a:spcAft>
                <a:spcPts val="800"/>
              </a:spcAft>
              <a:defRPr sz="2000">
                <a:solidFill>
                  <a:srgbClr val="4A4A4A"/>
                </a:solidFill>
              </a:defRPr>
            </a:pPr>
            <a:r>
              <a:t>•  So: a scaling-with-observation result, stated without overclaim.</a:t>
            </a:r>
          </a:p>
          <a:p>
            <a:pPr>
              <a:spcAft>
                <a:spcPts val="800"/>
              </a:spcAft>
              <a:defRPr sz="2000">
                <a:solidFill>
                  <a:srgbClr val="4A4A4A"/>
                </a:solidFill>
              </a:defRPr>
            </a:pPr>
            <a:r>
              <a:t>•  Stronger tests next: a latent that clusters, or a switching prey.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16</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FAILURE CASE</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Where vanilla BC struggles</a:t>
            </a:r>
          </a:p>
        </p:txBody>
      </p:sp>
      <p:pic>
        <p:nvPicPr>
          <p:cNvPr id="5" name="Picture 4" descr="demo_bc.gif"/>
          <p:cNvPicPr>
            <a:picLocks noChangeAspect="1"/>
          </p:cNvPicPr>
          <p:nvPr/>
        </p:nvPicPr>
        <p:blipFill>
          <a:blip r:embed="rId3"/>
          <a:stretch>
            <a:fillRect/>
          </a:stretch>
        </p:blipFill>
        <p:spPr>
          <a:xfrm>
            <a:off x="3467548" y="1280160"/>
            <a:ext cx="5226423" cy="50292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17</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PROCEDURES</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How every plot is generated</a:t>
            </a:r>
          </a:p>
        </p:txBody>
      </p:sp>
      <p:sp>
        <p:nvSpPr>
          <p:cNvPr id="5" name="TextBox 4"/>
          <p:cNvSpPr txBox="1"/>
          <p:nvPr/>
        </p:nvSpPr>
        <p:spPr>
          <a:xfrm>
            <a:off x="822960" y="1645920"/>
            <a:ext cx="10607040" cy="4389120"/>
          </a:xfrm>
          <a:prstGeom prst="rect">
            <a:avLst/>
          </a:prstGeom>
          <a:noFill/>
        </p:spPr>
        <p:txBody>
          <a:bodyPr wrap="square">
            <a:spAutoFit/>
          </a:bodyPr>
          <a:lstStyle/>
          <a:p>
            <a:pPr>
              <a:spcAft>
                <a:spcPts val="800"/>
              </a:spcAft>
              <a:defRPr sz="1700">
                <a:solidFill>
                  <a:srgbClr val="4A4A4A"/>
                </a:solidFill>
              </a:defRPr>
            </a:pPr>
            <a:r>
              <a:t>•  3 seeds throughout; mean ± std shown on every bar and curve.</a:t>
            </a:r>
          </a:p>
          <a:p>
            <a:pPr>
              <a:spcAft>
                <a:spcPts val="800"/>
              </a:spcAft>
              <a:defRPr sz="1700">
                <a:solidFill>
                  <a:srgbClr val="4A4A4A"/>
                </a:solidFill>
              </a:defRPr>
            </a:pPr>
            <a:r>
              <a:t>•  Episode-level train/val splits; conditioning never sees the predicted steps (leakage-checked).</a:t>
            </a:r>
          </a:p>
          <a:p>
            <a:pPr>
              <a:spcAft>
                <a:spcPts val="800"/>
              </a:spcAft>
              <a:defRPr sz="1700">
                <a:solidFill>
                  <a:srgbClr val="4A4A4A"/>
                </a:solidFill>
              </a:defRPr>
            </a:pPr>
            <a:r>
              <a:t>•  Occupancy = normalized 8×8 histogram of prey positions; z-scored before any encoder.</a:t>
            </a:r>
          </a:p>
          <a:p>
            <a:pPr>
              <a:spcAft>
                <a:spcPts val="800"/>
              </a:spcAft>
              <a:defRPr sz="1700">
                <a:solidFill>
                  <a:srgbClr val="4A4A4A"/>
                </a:solidFill>
              </a:defRPr>
            </a:pPr>
            <a:r>
              <a:t>•  Supervised probe = labeled, cross-validated logistic regression on the same features: the ceiling.</a:t>
            </a:r>
          </a:p>
          <a:p>
            <a:pPr>
              <a:spcAft>
                <a:spcPts val="800"/>
              </a:spcAft>
              <a:defRPr sz="1700">
                <a:solidFill>
                  <a:srgbClr val="4A4A4A"/>
                </a:solidFill>
              </a:defRPr>
            </a:pPr>
            <a:r>
              <a:t>•  Captures = raw reward / 10 per first episode, deployed in the game.</a:t>
            </a:r>
          </a:p>
          <a:p>
            <a:pPr>
              <a:spcAft>
                <a:spcPts val="800"/>
              </a:spcAft>
              <a:defRPr sz="1700">
                <a:solidFill>
                  <a:srgbClr val="4A4A4A"/>
                </a:solidFill>
              </a:defRPr>
            </a:pPr>
            <a:r>
              <a:t>•  CI: 12 unit tests + mopa-check-results validates all paper-facing numbers against raw logs.</a:t>
            </a:r>
          </a:p>
          <a:p>
            <a:pPr>
              <a:spcAft>
                <a:spcPts val="800"/>
              </a:spcAft>
              <a:defRPr sz="1700">
                <a:solidFill>
                  <a:srgbClr val="4A4A4A"/>
                </a:solidFill>
              </a:defRPr>
            </a:pPr>
            <a:r>
              <a:t>•  Full procedures: docs/METHODS.md; interpretation guide on /present.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18</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POSITIONING</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The literature slot is belief plus planning</a:t>
            </a:r>
          </a:p>
        </p:txBody>
      </p:sp>
      <p:sp>
        <p:nvSpPr>
          <p:cNvPr id="5" name="TextBox 4"/>
          <p:cNvSpPr txBox="1"/>
          <p:nvPr/>
        </p:nvSpPr>
        <p:spPr>
          <a:xfrm>
            <a:off x="640080" y="1645920"/>
            <a:ext cx="3474720" cy="457200"/>
          </a:xfrm>
          <a:prstGeom prst="rect">
            <a:avLst/>
          </a:prstGeom>
          <a:noFill/>
        </p:spPr>
        <p:txBody>
          <a:bodyPr wrap="square">
            <a:spAutoFit/>
          </a:bodyPr>
          <a:lstStyle/>
          <a:p>
            <a:pPr>
              <a:defRPr sz="1900" b="1">
                <a:solidFill>
                  <a:srgbClr val="0D6E7A"/>
                </a:solidFill>
              </a:defRPr>
            </a:pPr>
            <a:r>
              <a:t>Closest comparator</a:t>
            </a:r>
          </a:p>
        </p:txBody>
      </p:sp>
      <p:sp>
        <p:nvSpPr>
          <p:cNvPr id="6" name="TextBox 5"/>
          <p:cNvSpPr txBox="1"/>
          <p:nvPr/>
        </p:nvSpPr>
        <p:spPr>
          <a:xfrm>
            <a:off x="640080" y="2148840"/>
            <a:ext cx="3474720" cy="2011680"/>
          </a:xfrm>
          <a:prstGeom prst="rect">
            <a:avLst/>
          </a:prstGeom>
          <a:noFill/>
        </p:spPr>
        <p:txBody>
          <a:bodyPr wrap="square">
            <a:spAutoFit/>
          </a:bodyPr>
          <a:lstStyle/>
          <a:p>
            <a:pPr>
              <a:defRPr sz="1500" b="0">
                <a:solidFill>
                  <a:srgbClr val="4A4A4A"/>
                </a:solidFill>
              </a:defRPr>
            </a:pPr>
            <a:r>
              <a:t>HOP couples goal belief with tree search. The most direct system-level baseline to run.</a:t>
            </a:r>
          </a:p>
        </p:txBody>
      </p:sp>
      <p:sp>
        <p:nvSpPr>
          <p:cNvPr id="7" name="TextBox 6"/>
          <p:cNvSpPr txBox="1"/>
          <p:nvPr/>
        </p:nvSpPr>
        <p:spPr>
          <a:xfrm>
            <a:off x="4480560" y="1645920"/>
            <a:ext cx="3474720" cy="457200"/>
          </a:xfrm>
          <a:prstGeom prst="rect">
            <a:avLst/>
          </a:prstGeom>
          <a:noFill/>
        </p:spPr>
        <p:txBody>
          <a:bodyPr wrap="square">
            <a:spAutoFit/>
          </a:bodyPr>
          <a:lstStyle/>
          <a:p>
            <a:pPr>
              <a:defRPr sz="1900" b="1">
                <a:solidFill>
                  <a:srgbClr val="171717"/>
                </a:solidFill>
              </a:defRPr>
            </a:pPr>
            <a:r>
              <a:t>Model-based MARL</a:t>
            </a:r>
          </a:p>
        </p:txBody>
      </p:sp>
      <p:sp>
        <p:nvSpPr>
          <p:cNvPr id="8" name="TextBox 7"/>
          <p:cNvSpPr txBox="1"/>
          <p:nvPr/>
        </p:nvSpPr>
        <p:spPr>
          <a:xfrm>
            <a:off x="4480560" y="2148840"/>
            <a:ext cx="3474720" cy="2011680"/>
          </a:xfrm>
          <a:prstGeom prst="rect">
            <a:avLst/>
          </a:prstGeom>
          <a:noFill/>
        </p:spPr>
        <p:txBody>
          <a:bodyPr wrap="square">
            <a:spAutoFit/>
          </a:bodyPr>
          <a:lstStyle/>
          <a:p>
            <a:pPr>
              <a:defRPr sz="1500" b="0">
                <a:solidFill>
                  <a:srgbClr val="4A4A4A"/>
                </a:solidFill>
              </a:defRPr>
            </a:pPr>
            <a:r>
              <a:t>MAZero, MAMBA, MARIE, and MATWM test the planning and dynamics side of the story.</a:t>
            </a:r>
          </a:p>
        </p:txBody>
      </p:sp>
      <p:sp>
        <p:nvSpPr>
          <p:cNvPr id="9" name="TextBox 8"/>
          <p:cNvSpPr txBox="1"/>
          <p:nvPr/>
        </p:nvSpPr>
        <p:spPr>
          <a:xfrm>
            <a:off x="8321040" y="1645920"/>
            <a:ext cx="3474720" cy="457200"/>
          </a:xfrm>
          <a:prstGeom prst="rect">
            <a:avLst/>
          </a:prstGeom>
          <a:noFill/>
        </p:spPr>
        <p:txBody>
          <a:bodyPr wrap="square">
            <a:spAutoFit/>
          </a:bodyPr>
          <a:lstStyle/>
          <a:p>
            <a:pPr>
              <a:defRPr sz="1900" b="1">
                <a:solidFill>
                  <a:srgbClr val="B44233"/>
                </a:solidFill>
              </a:defRPr>
            </a:pPr>
            <a:r>
              <a:t>Opponent modeling</a:t>
            </a:r>
          </a:p>
        </p:txBody>
      </p:sp>
      <p:sp>
        <p:nvSpPr>
          <p:cNvPr id="10" name="TextBox 9"/>
          <p:cNvSpPr txBox="1"/>
          <p:nvPr/>
        </p:nvSpPr>
        <p:spPr>
          <a:xfrm>
            <a:off x="8321040" y="2148840"/>
            <a:ext cx="3474720" cy="2011680"/>
          </a:xfrm>
          <a:prstGeom prst="rect">
            <a:avLst/>
          </a:prstGeom>
          <a:noFill/>
        </p:spPr>
        <p:txBody>
          <a:bodyPr wrap="square">
            <a:spAutoFit/>
          </a:bodyPr>
          <a:lstStyle/>
          <a:p>
            <a:pPr>
              <a:defRPr sz="1500" b="0">
                <a:solidFill>
                  <a:srgbClr val="4A4A4A"/>
                </a:solidFill>
              </a:defRPr>
            </a:pPr>
            <a:r>
              <a:t>MBOM and AORPO test whether the opponent model adds value beyond policy conditioning.</a:t>
            </a:r>
          </a:p>
        </p:txBody>
      </p:sp>
      <p:sp>
        <p:nvSpPr>
          <p:cNvPr id="11" name="TextBox 10"/>
          <p:cNvSpPr txBox="1"/>
          <p:nvPr/>
        </p:nvSpPr>
        <p:spPr>
          <a:xfrm>
            <a:off x="640080" y="4754880"/>
            <a:ext cx="10972800" cy="914400"/>
          </a:xfrm>
          <a:prstGeom prst="rect">
            <a:avLst/>
          </a:prstGeom>
          <a:noFill/>
        </p:spPr>
        <p:txBody>
          <a:bodyPr wrap="square">
            <a:spAutoFit/>
          </a:bodyPr>
          <a:lstStyle/>
          <a:p>
            <a:pPr>
              <a:defRPr sz="1800" b="1">
                <a:solidFill>
                  <a:srgbClr val="171717"/>
                </a:solidFill>
              </a:defRPr>
            </a:pPr>
            <a:r>
              <a:t>Paper line: calibrated opponent belief improves planning in a controlled hidden-intent task. Broader claims need adaptive opponents and external baselines.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19</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CLOSE</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Before submission, run the missing tests</a:t>
            </a:r>
          </a:p>
        </p:txBody>
      </p:sp>
      <p:sp>
        <p:nvSpPr>
          <p:cNvPr id="5" name="TextBox 4"/>
          <p:cNvSpPr txBox="1"/>
          <p:nvPr/>
        </p:nvSpPr>
        <p:spPr>
          <a:xfrm>
            <a:off x="822960" y="1554480"/>
            <a:ext cx="2834640" cy="411480"/>
          </a:xfrm>
          <a:prstGeom prst="rect">
            <a:avLst/>
          </a:prstGeom>
          <a:noFill/>
        </p:spPr>
        <p:txBody>
          <a:bodyPr wrap="square">
            <a:spAutoFit/>
          </a:bodyPr>
          <a:lstStyle/>
          <a:p>
            <a:pPr>
              <a:defRPr sz="1800" b="1">
                <a:solidFill>
                  <a:srgbClr val="171717"/>
                </a:solidFill>
              </a:defRPr>
            </a:pPr>
            <a:r>
              <a:t>Oracle planner</a:t>
            </a:r>
          </a:p>
        </p:txBody>
      </p:sp>
      <p:sp>
        <p:nvSpPr>
          <p:cNvPr id="6" name="TextBox 5"/>
          <p:cNvSpPr txBox="1"/>
          <p:nvPr/>
        </p:nvSpPr>
        <p:spPr>
          <a:xfrm>
            <a:off x="3840480" y="1554480"/>
            <a:ext cx="7680960" cy="502920"/>
          </a:xfrm>
          <a:prstGeom prst="rect">
            <a:avLst/>
          </a:prstGeom>
          <a:noFill/>
        </p:spPr>
        <p:txBody>
          <a:bodyPr wrap="square">
            <a:spAutoFit/>
          </a:bodyPr>
          <a:lstStyle/>
          <a:p>
            <a:pPr>
              <a:defRPr sz="1700" b="0">
                <a:solidFill>
                  <a:srgbClr val="4A4A4A"/>
                </a:solidFill>
              </a:defRPr>
            </a:pPr>
            <a:r>
              <a:t>Measures the true planning ceiling with known intent.</a:t>
            </a:r>
          </a:p>
        </p:txBody>
      </p:sp>
      <p:sp>
        <p:nvSpPr>
          <p:cNvPr id="7" name="TextBox 6"/>
          <p:cNvSpPr txBox="1"/>
          <p:nvPr/>
        </p:nvSpPr>
        <p:spPr>
          <a:xfrm>
            <a:off x="822960" y="2267712"/>
            <a:ext cx="2834640" cy="411480"/>
          </a:xfrm>
          <a:prstGeom prst="rect">
            <a:avLst/>
          </a:prstGeom>
          <a:noFill/>
        </p:spPr>
        <p:txBody>
          <a:bodyPr wrap="square">
            <a:spAutoFit/>
          </a:bodyPr>
          <a:lstStyle/>
          <a:p>
            <a:pPr>
              <a:defRPr sz="1800" b="1">
                <a:solidFill>
                  <a:srgbClr val="171717"/>
                </a:solidFill>
              </a:defRPr>
            </a:pPr>
            <a:r>
              <a:t>Switching prey</a:t>
            </a:r>
          </a:p>
        </p:txBody>
      </p:sp>
      <p:sp>
        <p:nvSpPr>
          <p:cNvPr id="8" name="TextBox 7"/>
          <p:cNvSpPr txBox="1"/>
          <p:nvPr/>
        </p:nvSpPr>
        <p:spPr>
          <a:xfrm>
            <a:off x="3840480" y="2267712"/>
            <a:ext cx="7680960" cy="502920"/>
          </a:xfrm>
          <a:prstGeom prst="rect">
            <a:avLst/>
          </a:prstGeom>
          <a:noFill/>
        </p:spPr>
        <p:txBody>
          <a:bodyPr wrap="square">
            <a:spAutoFit/>
          </a:bodyPr>
          <a:lstStyle/>
          <a:p>
            <a:pPr>
              <a:defRPr sz="1700" b="0">
                <a:solidFill>
                  <a:srgbClr val="4A4A4A"/>
                </a:solidFill>
              </a:defRPr>
            </a:pPr>
            <a:r>
              <a:t>Tests whether the belief tracks a strategy change mid-episode.</a:t>
            </a:r>
          </a:p>
        </p:txBody>
      </p:sp>
      <p:sp>
        <p:nvSpPr>
          <p:cNvPr id="9" name="TextBox 8"/>
          <p:cNvSpPr txBox="1"/>
          <p:nvPr/>
        </p:nvSpPr>
        <p:spPr>
          <a:xfrm>
            <a:off x="822960" y="2980944"/>
            <a:ext cx="2834640" cy="411480"/>
          </a:xfrm>
          <a:prstGeom prst="rect">
            <a:avLst/>
          </a:prstGeom>
          <a:noFill/>
        </p:spPr>
        <p:txBody>
          <a:bodyPr wrap="square">
            <a:spAutoFit/>
          </a:bodyPr>
          <a:lstStyle/>
          <a:p>
            <a:pPr>
              <a:defRPr sz="1800" b="1">
                <a:solidFill>
                  <a:srgbClr val="171717"/>
                </a:solidFill>
              </a:defRPr>
            </a:pPr>
            <a:r>
              <a:t>HOP baseline</a:t>
            </a:r>
          </a:p>
        </p:txBody>
      </p:sp>
      <p:sp>
        <p:nvSpPr>
          <p:cNvPr id="10" name="TextBox 9"/>
          <p:cNvSpPr txBox="1"/>
          <p:nvPr/>
        </p:nvSpPr>
        <p:spPr>
          <a:xfrm>
            <a:off x="3840480" y="2980944"/>
            <a:ext cx="7680960" cy="502920"/>
          </a:xfrm>
          <a:prstGeom prst="rect">
            <a:avLst/>
          </a:prstGeom>
          <a:noFill/>
        </p:spPr>
        <p:txBody>
          <a:bodyPr wrap="square">
            <a:spAutoFit/>
          </a:bodyPr>
          <a:lstStyle/>
          <a:p>
            <a:pPr>
              <a:defRPr sz="1700" b="0">
                <a:solidFill>
                  <a:srgbClr val="4A4A4A"/>
                </a:solidFill>
              </a:defRPr>
            </a:pPr>
            <a:r>
              <a:t>Checks the closest belief-search comparator.</a:t>
            </a:r>
          </a:p>
        </p:txBody>
      </p:sp>
      <p:sp>
        <p:nvSpPr>
          <p:cNvPr id="11" name="TextBox 10"/>
          <p:cNvSpPr txBox="1"/>
          <p:nvPr/>
        </p:nvSpPr>
        <p:spPr>
          <a:xfrm>
            <a:off x="822960" y="3694176"/>
            <a:ext cx="2834640" cy="411480"/>
          </a:xfrm>
          <a:prstGeom prst="rect">
            <a:avLst/>
          </a:prstGeom>
          <a:noFill/>
        </p:spPr>
        <p:txBody>
          <a:bodyPr wrap="square">
            <a:spAutoFit/>
          </a:bodyPr>
          <a:lstStyle/>
          <a:p>
            <a:pPr>
              <a:defRPr sz="1800" b="1">
                <a:solidFill>
                  <a:srgbClr val="171717"/>
                </a:solidFill>
              </a:defRPr>
            </a:pPr>
            <a:r>
              <a:t>Snake placement</a:t>
            </a:r>
          </a:p>
        </p:txBody>
      </p:sp>
      <p:sp>
        <p:nvSpPr>
          <p:cNvPr id="12" name="TextBox 11"/>
          <p:cNvSpPr txBox="1"/>
          <p:nvPr/>
        </p:nvSpPr>
        <p:spPr>
          <a:xfrm>
            <a:off x="3840480" y="3694176"/>
            <a:ext cx="7680960" cy="502920"/>
          </a:xfrm>
          <a:prstGeom prst="rect">
            <a:avLst/>
          </a:prstGeom>
          <a:noFill/>
        </p:spPr>
        <p:txBody>
          <a:bodyPr wrap="square">
            <a:spAutoFit/>
          </a:bodyPr>
          <a:lstStyle/>
          <a:p>
            <a:pPr>
              <a:defRPr sz="1700" b="0">
                <a:solidFill>
                  <a:srgbClr val="4A4A4A"/>
                </a:solidFill>
              </a:defRPr>
            </a:pPr>
            <a:r>
              <a:t>A genuinely distinct behaviour class, so clusters can exist.</a:t>
            </a:r>
          </a:p>
        </p:txBody>
      </p:sp>
      <p:sp>
        <p:nvSpPr>
          <p:cNvPr id="13" name="TextBox 12"/>
          <p:cNvSpPr txBox="1"/>
          <p:nvPr/>
        </p:nvSpPr>
        <p:spPr>
          <a:xfrm>
            <a:off x="822960" y="4407408"/>
            <a:ext cx="2834640" cy="411480"/>
          </a:xfrm>
          <a:prstGeom prst="rect">
            <a:avLst/>
          </a:prstGeom>
          <a:noFill/>
        </p:spPr>
        <p:txBody>
          <a:bodyPr wrap="square">
            <a:spAutoFit/>
          </a:bodyPr>
          <a:lstStyle/>
          <a:p>
            <a:pPr>
              <a:defRPr sz="1800" b="1">
                <a:solidFill>
                  <a:srgbClr val="171717"/>
                </a:solidFill>
              </a:defRPr>
            </a:pPr>
            <a:r>
              <a:t>Raw artifact archive</a:t>
            </a:r>
          </a:p>
        </p:txBody>
      </p:sp>
      <p:sp>
        <p:nvSpPr>
          <p:cNvPr id="14" name="TextBox 13"/>
          <p:cNvSpPr txBox="1"/>
          <p:nvPr/>
        </p:nvSpPr>
        <p:spPr>
          <a:xfrm>
            <a:off x="3840480" y="4407408"/>
            <a:ext cx="7680960" cy="502920"/>
          </a:xfrm>
          <a:prstGeom prst="rect">
            <a:avLst/>
          </a:prstGeom>
          <a:noFill/>
        </p:spPr>
        <p:txBody>
          <a:bodyPr wrap="square">
            <a:spAutoFit/>
          </a:bodyPr>
          <a:lstStyle/>
          <a:p>
            <a:pPr>
              <a:defRPr sz="1700" b="0">
                <a:solidFill>
                  <a:srgbClr val="4A4A4A"/>
                </a:solidFill>
              </a:defRPr>
            </a:pPr>
            <a:r>
              <a:t>Pins checkpoints, logs, and metrics to a release DOI.</a:t>
            </a:r>
          </a:p>
        </p:txBody>
      </p:sp>
      <p:sp>
        <p:nvSpPr>
          <p:cNvPr id="15" name="TextBox 14"/>
          <p:cNvSpPr txBox="1"/>
          <p:nvPr/>
        </p:nvSpPr>
        <p:spPr>
          <a:xfrm>
            <a:off x="822960" y="5349240"/>
            <a:ext cx="10607040" cy="548640"/>
          </a:xfrm>
          <a:prstGeom prst="rect">
            <a:avLst/>
          </a:prstGeom>
          <a:noFill/>
        </p:spPr>
        <p:txBody>
          <a:bodyPr wrap="square">
            <a:spAutoFit/>
          </a:bodyPr>
          <a:lstStyle/>
          <a:p>
            <a:pPr>
              <a:defRPr sz="1800" b="1">
                <a:solidFill>
                  <a:srgbClr val="171717"/>
                </a:solidFill>
              </a:defRPr>
            </a:pPr>
            <a:r>
              <a:t>End with a concrete ask: accept the controlled result, then fund the baseline and switching-opponent 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