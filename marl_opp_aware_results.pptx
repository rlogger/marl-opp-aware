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658f90074fc47b9" /><Relationship Type="http://schemas.openxmlformats.org/officeDocument/2006/relationships/extended-properties" Target="/docProps/app.xml" Id="R2f86571dbf20485e" /><Relationship Type="http://schemas.openxmlformats.org/officeDocument/2006/relationships/officeDocument" Target="/ppt/presentation.xml" Id="R13059e9aae014703" /></Relationships>
</file>

<file path=ppt/presentation.xml><?xml version="1.0" encoding="utf-8"?>
<p:presentation xmlns:p="http://schemas.openxmlformats.org/presentationml/2006/main">
  <p:sldMasterIdLst>
    <p:sldMasterId xmlns:r="http://schemas.openxmlformats.org/officeDocument/2006/relationships" id="2147483648" r:id="Rc9f64235cecd495e"/>
  </p:sldMasterIdLst>
  <p:notesMasterIdLst>
    <p:notesMasterId xmlns:r="http://schemas.openxmlformats.org/officeDocument/2006/relationships" r:id="R998293e07d554763"/>
  </p:notesMasterIdLst>
  <p:sldIdLst>
    <p:sldId xmlns:r="http://schemas.openxmlformats.org/officeDocument/2006/relationships" id="256" r:id="R11d5e7f84e0949a3"/>
    <p:sldId xmlns:r="http://schemas.openxmlformats.org/officeDocument/2006/relationships" id="257" r:id="Rb5c08fd9155040e6"/>
    <p:sldId xmlns:r="http://schemas.openxmlformats.org/officeDocument/2006/relationships" id="258" r:id="Re80dc489d72744ff"/>
    <p:sldId xmlns:r="http://schemas.openxmlformats.org/officeDocument/2006/relationships" id="259" r:id="R0484d0b685b94dce"/>
    <p:sldId xmlns:r="http://schemas.openxmlformats.org/officeDocument/2006/relationships" id="260" r:id="Rdb68792c8a8d497f"/>
    <p:sldId xmlns:r="http://schemas.openxmlformats.org/officeDocument/2006/relationships" id="261" r:id="Ra8fe374139ed47c7"/>
    <p:sldId xmlns:r="http://schemas.openxmlformats.org/officeDocument/2006/relationships" id="262" r:id="Re0161b6a59664b52"/>
    <p:sldId xmlns:r="http://schemas.openxmlformats.org/officeDocument/2006/relationships" id="263" r:id="R24a68b7bf0764e9d"/>
    <p:sldId xmlns:r="http://schemas.openxmlformats.org/officeDocument/2006/relationships" id="264" r:id="Rc7a52020e65342f1"/>
    <p:sldId xmlns:r="http://schemas.openxmlformats.org/officeDocument/2006/relationships" id="265" r:id="R9465503e35b948b4"/>
    <p:sldId xmlns:r="http://schemas.openxmlformats.org/officeDocument/2006/relationships" id="266" r:id="R1046cbeb9cad44b7"/>
    <p:sldId xmlns:r="http://schemas.openxmlformats.org/officeDocument/2006/relationships" id="267" r:id="R6477cc398057411f"/>
    <p:sldId xmlns:r="http://schemas.openxmlformats.org/officeDocument/2006/relationships" id="268" r:id="R8f0c6f2daac34f28"/>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1e35d9c0de441ef" /><Relationship Type="http://schemas.openxmlformats.org/officeDocument/2006/relationships/slideMaster" Target="/ppt/slideMasters/slideMaster1.xml" Id="Rc9f64235cecd495e" /><Relationship Type="http://schemas.openxmlformats.org/officeDocument/2006/relationships/notesMaster" Target="/ppt/notesMasters/notesMaster1.xml" Id="R998293e07d554763" /><Relationship Type="http://schemas.openxmlformats.org/officeDocument/2006/relationships/presProps" Target="/ppt/presProps.xml" Id="Rb11d4a7808e14879" /><Relationship Type="http://schemas.openxmlformats.org/officeDocument/2006/relationships/tableStyles" Target="/ppt/tableStyles.xml" Id="R380b7cecb7164e4f" /><Relationship Type="http://schemas.openxmlformats.org/officeDocument/2006/relationships/slide" Target="/ppt/slides/slide1.xml" Id="R11d5e7f84e0949a3" /><Relationship Type="http://schemas.openxmlformats.org/officeDocument/2006/relationships/slide" Target="/ppt/slides/slide2.xml" Id="Rb5c08fd9155040e6" /><Relationship Type="http://schemas.openxmlformats.org/officeDocument/2006/relationships/slide" Target="/ppt/slides/slide3.xml" Id="Re80dc489d72744ff" /><Relationship Type="http://schemas.openxmlformats.org/officeDocument/2006/relationships/slide" Target="/ppt/slides/slide4.xml" Id="R0484d0b685b94dce" /><Relationship Type="http://schemas.openxmlformats.org/officeDocument/2006/relationships/slide" Target="/ppt/slides/slide5.xml" Id="Rdb68792c8a8d497f" /><Relationship Type="http://schemas.openxmlformats.org/officeDocument/2006/relationships/slide" Target="/ppt/slides/slide6.xml" Id="Ra8fe374139ed47c7" /><Relationship Type="http://schemas.openxmlformats.org/officeDocument/2006/relationships/slide" Target="/ppt/slides/slide7.xml" Id="Re0161b6a59664b52" /><Relationship Type="http://schemas.openxmlformats.org/officeDocument/2006/relationships/slide" Target="/ppt/slides/slide8.xml" Id="R24a68b7bf0764e9d" /><Relationship Type="http://schemas.openxmlformats.org/officeDocument/2006/relationships/slide" Target="/ppt/slides/slide9.xml" Id="Rc7a52020e65342f1" /><Relationship Type="http://schemas.openxmlformats.org/officeDocument/2006/relationships/slide" Target="/ppt/slides/slide10.xml" Id="R9465503e35b948b4" /><Relationship Type="http://schemas.openxmlformats.org/officeDocument/2006/relationships/slide" Target="/ppt/slides/slide11.xml" Id="R1046cbeb9cad44b7" /><Relationship Type="http://schemas.openxmlformats.org/officeDocument/2006/relationships/slide" Target="/ppt/slides/slide12.xml" Id="R6477cc398057411f" /><Relationship Type="http://schemas.openxmlformats.org/officeDocument/2006/relationships/slide" Target="/ppt/slides/slide13.xml" Id="R8f0c6f2daac34f2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be3f4cc3b87485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39a88e946d54681" /><Relationship Type="http://schemas.openxmlformats.org/officeDocument/2006/relationships/notesMaster" Target="/ppt/notesMasters/notesMaster1.xml" Id="Rde3556c479724cdf" /></Relationships>
</file>

<file path=ppt/notesSlides/_rels/notesSlide2.xml.rels>&#65279;<?xml version="1.0" encoding="utf-8"?><Relationships xmlns="http://schemas.openxmlformats.org/package/2006/relationships"><Relationship Type="http://schemas.openxmlformats.org/officeDocument/2006/relationships/slide" Target="/ppt/slides/slide2.xml" Id="Ra5e5b440bf9848ed" /><Relationship Type="http://schemas.openxmlformats.org/officeDocument/2006/relationships/notesMaster" Target="/ppt/notesMasters/notesMaster1.xml" Id="Rc3d3b563edb14828" /></Relationships>
</file>

<file path=ppt/notesSlides/_rels/notesSlide3.xml.rels>&#65279;<?xml version="1.0" encoding="utf-8"?><Relationships xmlns="http://schemas.openxmlformats.org/package/2006/relationships"><Relationship Type="http://schemas.openxmlformats.org/officeDocument/2006/relationships/slide" Target="/ppt/slides/slide3.xml" Id="R17719ac9d55e4ef5" /><Relationship Type="http://schemas.openxmlformats.org/officeDocument/2006/relationships/notesMaster" Target="/ppt/notesMasters/notesMaster1.xml" Id="R1dd3b1efb52141ba" /></Relationships>
</file>

<file path=ppt/notesSlides/_rels/notesSlide4.xml.rels>&#65279;<?xml version="1.0" encoding="utf-8"?><Relationships xmlns="http://schemas.openxmlformats.org/package/2006/relationships"><Relationship Type="http://schemas.openxmlformats.org/officeDocument/2006/relationships/slide" Target="/ppt/slides/slide4.xml" Id="R74ab63e14f344314" /><Relationship Type="http://schemas.openxmlformats.org/officeDocument/2006/relationships/notesMaster" Target="/ppt/notesMasters/notesMaster1.xml" Id="R93d27256baa54b89" /></Relationships>
</file>

<file path=ppt/notesSlides/_rels/notesSlide5.xml.rels>&#65279;<?xml version="1.0" encoding="utf-8"?><Relationships xmlns="http://schemas.openxmlformats.org/package/2006/relationships"><Relationship Type="http://schemas.openxmlformats.org/officeDocument/2006/relationships/slide" Target="/ppt/slides/slide5.xml" Id="R767ab332721b4e66" /><Relationship Type="http://schemas.openxmlformats.org/officeDocument/2006/relationships/notesMaster" Target="/ppt/notesMasters/notesMaster1.xml" Id="Rfe893829dd684963" /></Relationships>
</file>

<file path=ppt/notesSlides/_rels/notesSlide6.xml.rels>&#65279;<?xml version="1.0" encoding="utf-8"?><Relationships xmlns="http://schemas.openxmlformats.org/package/2006/relationships"><Relationship Type="http://schemas.openxmlformats.org/officeDocument/2006/relationships/slide" Target="/ppt/slides/slide6.xml" Id="R856b602163594bd7" /><Relationship Type="http://schemas.openxmlformats.org/officeDocument/2006/relationships/notesMaster" Target="/ppt/notesMasters/notesMaster1.xml" Id="R29a8db1773c04385" /></Relationships>
</file>

<file path=ppt/notesSlides/_rels/notesSlide7.xml.rels>&#65279;<?xml version="1.0" encoding="utf-8"?><Relationships xmlns="http://schemas.openxmlformats.org/package/2006/relationships"><Relationship Type="http://schemas.openxmlformats.org/officeDocument/2006/relationships/slide" Target="/ppt/slides/slide7.xml" Id="R0c4075eb610a48c3" /><Relationship Type="http://schemas.openxmlformats.org/officeDocument/2006/relationships/notesMaster" Target="/ppt/notesMasters/notesMaster1.xml" Id="Rc8724c0a5d564ca3" /></Relationships>
</file>

<file path=ppt/notesSlides/_rels/notesSlide8.xml.rels>&#65279;<?xml version="1.0" encoding="utf-8"?><Relationships xmlns="http://schemas.openxmlformats.org/package/2006/relationships"><Relationship Type="http://schemas.openxmlformats.org/officeDocument/2006/relationships/slide" Target="/ppt/slides/slide8.xml" Id="R1f1c298213ee42f8" /><Relationship Type="http://schemas.openxmlformats.org/officeDocument/2006/relationships/notesMaster" Target="/ppt/notesMasters/notesMaster1.xml" Id="Rbaa08857aa624f07" /></Relationships>
</file>

<file path=ppt/notesSlides/_rels/notesSlide9.xml.rels>&#65279;<?xml version="1.0" encoding="utf-8"?><Relationships xmlns="http://schemas.openxmlformats.org/package/2006/relationships"><Relationship Type="http://schemas.openxmlformats.org/officeDocument/2006/relationships/slide" Target="/ppt/slides/slide9.xml" Id="R939f2918a1bd4d92" /><Relationship Type="http://schemas.openxmlformats.org/officeDocument/2006/relationships/notesMaster" Target="/ppt/notesMasters/notesMaster1.xml" Id="R817c8cd4e2ab4a8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834510dc5034b46" /><Relationship Type="http://schemas.openxmlformats.org/officeDocument/2006/relationships/notesMaster" Target="/ppt/notesMasters/notesMaster1.xml" Id="Reb0b0b23b28d4a5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653bdda330f46d0" /><Relationship Type="http://schemas.openxmlformats.org/officeDocument/2006/relationships/notesMaster" Target="/ppt/notesMasters/notesMaster1.xml" Id="R3fd475c7b6e74aa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5f2bf4ff7244d72" /><Relationship Type="http://schemas.openxmlformats.org/officeDocument/2006/relationships/notesMaster" Target="/ppt/notesMasters/notesMaster1.xml" Id="Rdae1dc2003b14c0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c9380493330436a" /><Relationship Type="http://schemas.openxmlformats.org/officeDocument/2006/relationships/notesMaster" Target="/ppt/notesMasters/notesMaster1.xml" Id="Rac3dd0f5ac3d40c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slowly. The whole talk is about one controlled question: can a team measure an opponent's hidden strategy, keep uncertainty in the loop, and use that belief during planning?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state the exact claim. The evidence comes from captures, not action accuracy. The 4.31 result is the main positive result. The 1.42 result explains why hard labels can hurt 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lived detail: three blue predators chase one red prey in the JaxMARL simple-tag arena. The prey knows the intent. The predators infer it from motion. This design isolates opponent modeling from map perception.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plot from left to right. The encoder starts uncertain, then locks onto the intent as the prey commits. This matters because the planner can act before the final steps, when interception still has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explains why the method carries a distribution. The wrong hard-intent condition is a stress test. It measured 1.42 captures, far below 2.68 for the blind policy. That failure supports uncertainty-aware 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central evidence slide. The flat planner controls for generic lookahead. The inferred-belief planner improves on it, which points to opponent inference as the source of the lift.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defense slide. The planner has lookahead, while the oracle policy reacts. That difference explains why 4.31 can sit above 4.05 without claiming a stronger result than the experiment supports.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connects the supervised belief result to a label-free route. JEPA performs better because the prediction task rewards features that explain future motion. The VAE spends capacity on reconstruction detail that does less for intent.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honest boundary. The encoder can discard nuisance motion, while a dynamics model must preserve details that affect control. The current data supports belief planning with simulator dynamics.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a sanity check. A poor clone would make the latent experiment hard to read. Here the clone is close enough to MAPPO that placement information can be evaluated in deployed captures.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gives the careful BC interpretation. True placement information matters. The current unsupervised latent has headroom. Do not sell this as the main paper win; sell it as evidence that a better strategy code could matter.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arms the literature answer. HOP is the cleanest first comparison. The model-based MARL line tests world-model quality. The opponent-modeling line tests whether belief adds more than conditioning on opponent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specific work. The repo now has code hygiene, tests, result checks, and a deck. The scientific gap is the next experiment set: oracle planner, switching prey, HOP, and archived raw runs.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0776345444b497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3f4539ce80d4b4c" /><Relationship Type="http://schemas.openxmlformats.org/officeDocument/2006/relationships/slideLayout" Target="/ppt/slideLayouts/slideLayout1.xml" Id="R9d466f6ef8094be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d466f6ef8094be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a7483b558ec49ee" /><Relationship Type="http://schemas.openxmlformats.org/officeDocument/2006/relationships/notesSlide" Target="/ppt/notesSlides/notesSlide1.xml" Id="R21841e1813024b1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2282414c6ea460f" /><Relationship Type="http://schemas.openxmlformats.org/officeDocument/2006/relationships/notesSlide" Target="/ppt/notesSlides/notesSlide2.xml" Id="R3293969f192045c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ef0312358cc49d4" /><Relationship Type="http://schemas.openxmlformats.org/officeDocument/2006/relationships/notesSlide" Target="/ppt/notesSlides/notesSlide3.xml" Id="R90eed82e5eaf406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823a289d39a4d4a" /><Relationship Type="http://schemas.openxmlformats.org/officeDocument/2006/relationships/image" Target="/ppt/media/image.png" Id="R07093cb16dcc4191" /><Relationship Type="http://schemas.openxmlformats.org/officeDocument/2006/relationships/notesSlide" Target="/ppt/notesSlides/notesSlide4.xml" Id="Rc7d324f0113848b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66e3d5117ec41af" /><Relationship Type="http://schemas.openxmlformats.org/officeDocument/2006/relationships/notesSlide" Target="/ppt/notesSlides/notesSlide5.xml" Id="R22e07ed3a097467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72896b82a5f44f0" /><Relationship Type="http://schemas.openxmlformats.org/officeDocument/2006/relationships/image" Target="/ppt/media/image2.png" Id="R7de016b5a6144926" /><Relationship Type="http://schemas.openxmlformats.org/officeDocument/2006/relationships/notesSlide" Target="/ppt/notesSlides/notesSlide6.xml" Id="R9430e81e10a44b1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54dcb57881d4330" /><Relationship Type="http://schemas.openxmlformats.org/officeDocument/2006/relationships/notesSlide" Target="/ppt/notesSlides/notesSlide7.xml" Id="R0e140650867e4da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106ce3e032e45e3" /><Relationship Type="http://schemas.openxmlformats.org/officeDocument/2006/relationships/image" Target="/ppt/media/image3.png" Id="R1ae4d801a9db4fb1" /><Relationship Type="http://schemas.openxmlformats.org/officeDocument/2006/relationships/notesSlide" Target="/ppt/notesSlides/notesSlide8.xml" Id="R83a050399e1847e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072cdeb191d46ad" /><Relationship Type="http://schemas.openxmlformats.org/officeDocument/2006/relationships/image" Target="/ppt/media/image4.png" Id="R2bf498cbca6f4108" /><Relationship Type="http://schemas.openxmlformats.org/officeDocument/2006/relationships/notesSlide" Target="/ppt/notesSlides/notesSlide9.xml" Id="Rada1318f8db8433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a224f5e2c9f4278" /><Relationship Type="http://schemas.openxmlformats.org/officeDocument/2006/relationships/image" Target="/ppt/media/image5.png" Id="Rce2ab90fe64940a3" /><Relationship Type="http://schemas.openxmlformats.org/officeDocument/2006/relationships/notesSlide" Target="/ppt/notesSlides/notesSlide10.xml" Id="R229aa171c597449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edcf1e704e74fc6" /><Relationship Type="http://schemas.openxmlformats.org/officeDocument/2006/relationships/image" Target="/ppt/media/image6.png" Id="Rbd2fb01058ca46f9" /><Relationship Type="http://schemas.openxmlformats.org/officeDocument/2006/relationships/image" Target="/ppt/media/image7.png" Id="Rd1db85b84ffe4010" /><Relationship Type="http://schemas.openxmlformats.org/officeDocument/2006/relationships/notesSlide" Target="/ppt/notesSlides/notesSlide11.xml" Id="R707879905f7c428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8b20b75206d4f19" /><Relationship Type="http://schemas.openxmlformats.org/officeDocument/2006/relationships/notesSlide" Target="/ppt/notesSlides/notesSlide12.xml" Id="R3767173259ec470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4efe7bed57347f2" /><Relationship Type="http://schemas.openxmlformats.org/officeDocument/2006/relationships/notesSlide" Target="/ppt/notesSlides/notesSlide13.xml" Id="Ree071315ce5a4d7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F11801F-9F31-41B0-8842-12C2D38992F9}"/>
              </a:ext>
            </a:extLst>
          </p:cNvPr>
          <p:cNvSpPr>
            <a:spLocks xmlns:a="http://schemas.openxmlformats.org/drawingml/2006/main" noGrp="1"/>
          </p:cNvSpPr>
          <p:nvPr/>
        </p:nvSpPr>
        <p:spPr>
          <a:xfrm xmlns:a="http://schemas.openxmlformats.org/drawingml/2006/main">
            <a:off x="1428750" y="2286000"/>
            <a:ext cx="9334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4800" b="1">
                <a:solidFill>
                  <a:srgbClr val="0A0A0A"/>
                </a:solidFill>
              </a:defRPr>
            </a:pPr>
            <a:r>
              <a:rPr sz="4800" b="1">
                <a:solidFill>
                  <a:srgbClr val="0A0A0A"/>
                </a:solidFill>
              </a:rPr>
              <a:t>Adaptive Opponent</a:t>
            </a:r>
          </a:p>
          <a:p xmlns:a="http://schemas.openxmlformats.org/drawingml/2006/main">
            <a:pPr algn="ctr">
              <a:defRPr sz="4800" b="1">
                <a:solidFill>
                  <a:srgbClr val="0A0A0A"/>
                </a:solidFill>
              </a:defRPr>
            </a:pPr>
            <a:r>
              <a:rPr sz="4800" b="1">
                <a:solidFill>
                  <a:srgbClr val="0A0A0A"/>
                </a:solidFill>
              </a:rPr>
              <a:t>Modeling for MARL</a:t>
            </a:r>
          </a:p>
        </p:txBody>
      </p:sp>
    </p:spTree>
    <p:extLst>
      <p:ext uri="{BB962C8B-B14F-4D97-AF65-F5344CB8AC3E}">
        <p14:creationId xmlns:p14="http://schemas.microsoft.com/office/powerpoint/2010/main" val="104838460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A9DA591-3285-4517-846B-720F809562BF}"/>
              </a:ext>
            </a:extLst>
          </p:cNvPr>
          <p:cNvSpPr>
            <a:spLocks xmlns:a="http://schemas.openxmlformats.org/drawingml/2006/main" noGrp="1"/>
          </p:cNvSpPr>
          <p:nvPr/>
        </p:nvSpPr>
        <p:spPr>
          <a:xfrm xmlns:a="http://schemas.openxmlformats.org/drawingml/2006/main">
            <a:off x="533400" y="323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4F5661"/>
                </a:solidFill>
              </a:defRPr>
            </a:pPr>
            <a:r>
              <a:rPr sz="975" b="1">
                <a:solidFill>
                  <a:srgbClr val="4F5661"/>
                </a:solidFill>
              </a:rPr>
              <a:t>CLAIM</a:t>
            </a:r>
          </a:p>
        </p:txBody>
      </p:sp>
      <p:sp>
        <p:nvSpPr>
          <p:cNvPr id="2" name="">
            <a:extLst xmlns:a="http://schemas.openxmlformats.org/drawingml/2006/main">
              <a:ext uri="{FF2B5EF4-FFF2-40B4-BE49-F238E27FC236}">
                <a16:creationId xmlns:a16="http://schemas.microsoft.com/office/drawing/2014/main" id="{1A5AAC05-E69D-43A6-8AFF-0B2D9D78B52B}"/>
              </a:ext>
            </a:extLst>
          </p:cNvPr>
          <p:cNvSpPr>
            <a:spLocks xmlns:a="http://schemas.openxmlformats.org/drawingml/2006/main" noGrp="1"/>
          </p:cNvSpPr>
          <p:nvPr/>
        </p:nvSpPr>
        <p:spPr>
          <a:xfrm xmlns:a="http://schemas.openxmlformats.org/drawingml/2006/main">
            <a:off x="533400" y="590550"/>
            <a:ext cx="10287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0A0A0A"/>
                </a:solidFill>
              </a:defRPr>
            </a:pPr>
            <a:r>
              <a:rPr sz="3150" b="1">
                <a:solidFill>
                  <a:srgbClr val="0A0A0A"/>
                </a:solidFill>
              </a:rPr>
              <a:t>The paper claim is narrow enough to defend</a:t>
            </a:r>
          </a:p>
        </p:txBody>
      </p:sp>
      <p:sp>
        <p:nvSpPr>
          <p:cNvPr id="3" name="">
            <a:extLst xmlns:a="http://schemas.openxmlformats.org/drawingml/2006/main">
              <a:ext uri="{FF2B5EF4-FFF2-40B4-BE49-F238E27FC236}">
                <a16:creationId xmlns:a16="http://schemas.microsoft.com/office/drawing/2014/main" id="{F646C037-A378-4349-9A66-9B04082778EE}"/>
              </a:ext>
            </a:extLst>
          </p:cNvPr>
          <p:cNvSpPr>
            <a:spLocks xmlns:a="http://schemas.openxmlformats.org/drawingml/2006/main" noGrp="1"/>
          </p:cNvSpPr>
          <p:nvPr/>
        </p:nvSpPr>
        <p:spPr>
          <a:xfrm xmlns:a="http://schemas.openxmlformats.org/drawingml/2006/main">
            <a:off x="533400" y="1733550"/>
            <a:ext cx="8191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400" b="1">
                <a:solidFill>
                  <a:srgbClr val="0A0A0A"/>
                </a:solidFill>
              </a:defRPr>
            </a:pPr>
            <a:r>
              <a:rPr sz="2400" b="1">
                <a:solidFill>
                  <a:srgbClr val="0A0A0A"/>
                </a:solidFill>
              </a:rPr>
              <a:t>A predator team performs better when it plans against a calibrated belief over the prey's hidden intent.</a:t>
            </a:r>
          </a:p>
        </p:txBody>
      </p:sp>
      <p:sp>
        <p:nvSpPr>
          <p:cNvPr id="4" name="">
            <a:extLst xmlns:a="http://schemas.openxmlformats.org/drawingml/2006/main">
              <a:ext uri="{FF2B5EF4-FFF2-40B4-BE49-F238E27FC236}">
                <a16:creationId xmlns:a16="http://schemas.microsoft.com/office/drawing/2014/main" id="{BE5D460E-B5C9-4202-A85D-AC1FEA996D92}"/>
              </a:ext>
            </a:extLst>
          </p:cNvPr>
          <p:cNvSpPr>
            <a:spLocks xmlns:a="http://schemas.openxmlformats.org/drawingml/2006/main" noGrp="1"/>
          </p:cNvSpPr>
          <p:nvPr/>
        </p:nvSpPr>
        <p:spPr>
          <a:xfrm xmlns:a="http://schemas.openxmlformats.org/drawingml/2006/main">
            <a:off x="685800" y="3467100"/>
            <a:ext cx="295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4200" b="1">
                <a:solidFill>
                  <a:srgbClr val="0D6E7A"/>
                </a:solidFill>
              </a:defRPr>
            </a:pPr>
            <a:r>
              <a:rPr sz="4200" b="1">
                <a:solidFill>
                  <a:srgbClr val="0D6E7A"/>
                </a:solidFill>
              </a:rPr>
              <a:t>4.31</a:t>
            </a:r>
          </a:p>
        </p:txBody>
      </p:sp>
      <p:sp>
        <p:nvSpPr>
          <p:cNvPr id="5" name="">
            <a:extLst xmlns:a="http://schemas.openxmlformats.org/drawingml/2006/main">
              <a:ext uri="{FF2B5EF4-FFF2-40B4-BE49-F238E27FC236}">
                <a16:creationId xmlns:a16="http://schemas.microsoft.com/office/drawing/2014/main" id="{64B395BB-22CD-4822-A64B-63F1887067ED}"/>
              </a:ext>
            </a:extLst>
          </p:cNvPr>
          <p:cNvSpPr>
            <a:spLocks xmlns:a="http://schemas.openxmlformats.org/drawingml/2006/main" noGrp="1"/>
          </p:cNvSpPr>
          <p:nvPr/>
        </p:nvSpPr>
        <p:spPr>
          <a:xfrm xmlns:a="http://schemas.openxmlformats.org/drawingml/2006/main">
            <a:off x="685800" y="4133850"/>
            <a:ext cx="295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4F5661"/>
                </a:solidFill>
              </a:defRPr>
            </a:pPr>
            <a:r>
              <a:rPr sz="1425">
                <a:solidFill>
                  <a:srgbClr val="4F5661"/>
                </a:solidFill>
              </a:rPr>
              <a:t>captures/episode with inferred-belief planning</a:t>
            </a:r>
          </a:p>
        </p:txBody>
      </p:sp>
      <p:sp>
        <p:nvSpPr>
          <p:cNvPr id="6" name="">
            <a:extLst xmlns:a="http://schemas.openxmlformats.org/drawingml/2006/main">
              <a:ext uri="{FF2B5EF4-FFF2-40B4-BE49-F238E27FC236}">
                <a16:creationId xmlns:a16="http://schemas.microsoft.com/office/drawing/2014/main" id="{4E1FDD65-371B-421C-9336-346A5F757FBE}"/>
              </a:ext>
            </a:extLst>
          </p:cNvPr>
          <p:cNvSpPr>
            <a:spLocks xmlns:a="http://schemas.openxmlformats.org/drawingml/2006/main" noGrp="1"/>
          </p:cNvSpPr>
          <p:nvPr/>
        </p:nvSpPr>
        <p:spPr>
          <a:xfrm xmlns:a="http://schemas.openxmlformats.org/drawingml/2006/main">
            <a:off x="4533900" y="3467100"/>
            <a:ext cx="314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4200" b="1">
                <a:solidFill>
                  <a:srgbClr val="C84C2A"/>
                </a:solidFill>
              </a:defRPr>
            </a:pPr>
            <a:r>
              <a:rPr sz="4200" b="1">
                <a:solidFill>
                  <a:srgbClr val="C84C2A"/>
                </a:solidFill>
              </a:rPr>
              <a:t>1.42</a:t>
            </a:r>
          </a:p>
        </p:txBody>
      </p:sp>
      <p:sp>
        <p:nvSpPr>
          <p:cNvPr id="7" name="">
            <a:extLst xmlns:a="http://schemas.openxmlformats.org/drawingml/2006/main">
              <a:ext uri="{FF2B5EF4-FFF2-40B4-BE49-F238E27FC236}">
                <a16:creationId xmlns:a16="http://schemas.microsoft.com/office/drawing/2014/main" id="{13BC3492-5C32-4724-926C-CC6B1285F91B}"/>
              </a:ext>
            </a:extLst>
          </p:cNvPr>
          <p:cNvSpPr>
            <a:spLocks xmlns:a="http://schemas.openxmlformats.org/drawingml/2006/main" noGrp="1"/>
          </p:cNvSpPr>
          <p:nvPr/>
        </p:nvSpPr>
        <p:spPr>
          <a:xfrm xmlns:a="http://schemas.openxmlformats.org/drawingml/2006/main">
            <a:off x="4533900" y="4133850"/>
            <a:ext cx="314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4F5661"/>
                </a:solidFill>
              </a:defRPr>
            </a:pPr>
            <a:r>
              <a:rPr sz="1425">
                <a:solidFill>
                  <a:srgbClr val="4F5661"/>
                </a:solidFill>
              </a:rPr>
              <a:t>captures/episode when the model uses a wrong hard intent</a:t>
            </a:r>
          </a:p>
        </p:txBody>
      </p:sp>
      <p:sp>
        <p:nvSpPr>
          <p:cNvPr id="8" name="">
            <a:extLst xmlns:a="http://schemas.openxmlformats.org/drawingml/2006/main">
              <a:ext uri="{FF2B5EF4-FFF2-40B4-BE49-F238E27FC236}">
                <a16:creationId xmlns:a16="http://schemas.microsoft.com/office/drawing/2014/main" id="{2C974229-238B-46FA-94D6-0A5CE76FBF7B}"/>
              </a:ext>
            </a:extLst>
          </p:cNvPr>
          <p:cNvSpPr>
            <a:spLocks xmlns:a="http://schemas.openxmlformats.org/drawingml/2006/main" noGrp="1"/>
          </p:cNvSpPr>
          <p:nvPr/>
        </p:nvSpPr>
        <p:spPr>
          <a:xfrm xmlns:a="http://schemas.openxmlformats.org/drawingml/2006/main">
            <a:off x="8458200" y="3467100"/>
            <a:ext cx="285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4200" b="1">
                <a:solidFill>
                  <a:srgbClr val="0A0A0A"/>
                </a:solidFill>
              </a:defRPr>
            </a:pPr>
            <a:r>
              <a:rPr sz="4200" b="1">
                <a:solidFill>
                  <a:srgbClr val="0A0A0A"/>
                </a:solidFill>
              </a:rPr>
              <a:t>4.08</a:t>
            </a:r>
          </a:p>
        </p:txBody>
      </p:sp>
      <p:sp>
        <p:nvSpPr>
          <p:cNvPr id="9" name="">
            <a:extLst xmlns:a="http://schemas.openxmlformats.org/drawingml/2006/main">
              <a:ext uri="{FF2B5EF4-FFF2-40B4-BE49-F238E27FC236}">
                <a16:creationId xmlns:a16="http://schemas.microsoft.com/office/drawing/2014/main" id="{D7AB6BFE-DE90-4363-9463-8FA7F9410556}"/>
              </a:ext>
            </a:extLst>
          </p:cNvPr>
          <p:cNvSpPr>
            <a:spLocks xmlns:a="http://schemas.openxmlformats.org/drawingml/2006/main" noGrp="1"/>
          </p:cNvSpPr>
          <p:nvPr/>
        </p:nvSpPr>
        <p:spPr>
          <a:xfrm xmlns:a="http://schemas.openxmlformats.org/drawingml/2006/main">
            <a:off x="8458200" y="4133850"/>
            <a:ext cx="285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4F5661"/>
                </a:solidFill>
              </a:defRPr>
            </a:pPr>
            <a:r>
              <a:rPr sz="1425">
                <a:solidFill>
                  <a:srgbClr val="4F5661"/>
                </a:solidFill>
              </a:rPr>
              <a:t>captures/episode with the label-free JEPA belief</a:t>
            </a:r>
          </a:p>
        </p:txBody>
      </p:sp>
      <p:sp>
        <p:nvSpPr>
          <p:cNvPr id="10" name="">
            <a:extLst xmlns:a="http://schemas.openxmlformats.org/drawingml/2006/main">
              <a:ext uri="{FF2B5EF4-FFF2-40B4-BE49-F238E27FC236}">
                <a16:creationId xmlns:a16="http://schemas.microsoft.com/office/drawing/2014/main" id="{7AF76EDA-1664-4020-A826-D2DF8DC70D64}"/>
              </a:ext>
            </a:extLst>
          </p:cNvPr>
          <p:cNvSpPr>
            <a:spLocks xmlns:a="http://schemas.openxmlformats.org/drawingml/2006/main" noGrp="1"/>
          </p:cNvSpPr>
          <p:nvPr/>
        </p:nvSpPr>
        <p:spPr>
          <a:xfrm xmlns:a="http://schemas.openxmlformats.org/drawingml/2006/main">
            <a:off x="11277600" y="62674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a:solidFill>
                  <a:srgbClr val="4F5661"/>
                </a:solidFill>
              </a:defRPr>
            </a:pPr>
            <a:r>
              <a:rPr sz="1050">
                <a:solidFill>
                  <a:srgbClr val="4F5661"/>
                </a:solidFill>
              </a:rPr>
              <a:t>02</a:t>
            </a:r>
          </a:p>
        </p:txBody>
      </p:sp>
    </p:spTree>
    <p:extLst>
      <p:ext uri="{BB962C8B-B14F-4D97-AF65-F5344CB8AC3E}">
        <p14:creationId xmlns:p14="http://schemas.microsoft.com/office/powerpoint/2010/main" val="194063291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C94118F-DD73-4AA2-A04F-92BADB04E0E8}"/>
              </a:ext>
            </a:extLst>
          </p:cNvPr>
          <p:cNvSpPr>
            <a:spLocks xmlns:a="http://schemas.openxmlformats.org/drawingml/2006/main" noGrp="1"/>
          </p:cNvSpPr>
          <p:nvPr/>
        </p:nvSpPr>
        <p:spPr>
          <a:xfrm xmlns:a="http://schemas.openxmlformats.org/drawingml/2006/main">
            <a:off x="533400" y="323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4F5661"/>
                </a:solidFill>
              </a:defRPr>
            </a:pPr>
            <a:r>
              <a:rPr sz="975" b="1">
                <a:solidFill>
                  <a:srgbClr val="4F5661"/>
                </a:solidFill>
              </a:rPr>
              <a:t>SETUP</a:t>
            </a:r>
          </a:p>
        </p:txBody>
      </p:sp>
      <p:sp>
        <p:nvSpPr>
          <p:cNvPr id="2" name="">
            <a:extLst xmlns:a="http://schemas.openxmlformats.org/drawingml/2006/main">
              <a:ext uri="{FF2B5EF4-FFF2-40B4-BE49-F238E27FC236}">
                <a16:creationId xmlns:a16="http://schemas.microsoft.com/office/drawing/2014/main" id="{1BC11552-7A9D-43D3-9FD9-F31C550B2EED}"/>
              </a:ext>
            </a:extLst>
          </p:cNvPr>
          <p:cNvSpPr>
            <a:spLocks xmlns:a="http://schemas.openxmlformats.org/drawingml/2006/main" noGrp="1"/>
          </p:cNvSpPr>
          <p:nvPr/>
        </p:nvSpPr>
        <p:spPr>
          <a:xfrm xmlns:a="http://schemas.openxmlformats.org/drawingml/2006/main">
            <a:off x="533400" y="590550"/>
            <a:ext cx="10287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0A0A0A"/>
                </a:solidFill>
              </a:defRPr>
            </a:pPr>
            <a:r>
              <a:rPr sz="3150" b="1">
                <a:solidFill>
                  <a:srgbClr val="0A0A0A"/>
                </a:solidFill>
              </a:rPr>
              <a:t>The task hides strategy inside the prey</a:t>
            </a:r>
          </a:p>
        </p:txBody>
      </p:sp>
      <p:sp>
        <p:nvSpPr>
          <p:cNvPr id="3" name="">
            <a:extLst xmlns:a="http://schemas.openxmlformats.org/drawingml/2006/main">
              <a:ext uri="{FF2B5EF4-FFF2-40B4-BE49-F238E27FC236}">
                <a16:creationId xmlns:a16="http://schemas.microsoft.com/office/drawing/2014/main" id="{E8F9A293-01BE-4B64-BAB8-524AC4081725}"/>
              </a:ext>
            </a:extLst>
          </p:cNvPr>
          <p:cNvSpPr>
            <a:spLocks xmlns:a="http://schemas.openxmlformats.org/drawingml/2006/main" noGrp="1"/>
          </p:cNvSpPr>
          <p:nvPr/>
        </p:nvSpPr>
        <p:spPr>
          <a:xfrm xmlns:a="http://schemas.openxmlformats.org/drawingml/2006/main">
            <a:off x="685800" y="1943100"/>
            <a:ext cx="819150" cy="38100"/>
          </a:xfrm>
          <a:prstGeom xmlns:a="http://schemas.openxmlformats.org/drawingml/2006/main" prst="rect">
            <a:avLst/>
          </a:prstGeom>
          <a:solidFill xmlns:a="http://schemas.openxmlformats.org/drawingml/2006/main">
            <a:srgbClr val="0D6E7A"/>
          </a:solidFill>
          <a:ln xmlns:a="http://schemas.openxmlformats.org/drawingml/2006/main" w="0">
            <a:solidFill>
              <a:srgbClr val="0D6E7A"/>
            </a:solidFill>
            <a:prstDash val="solid"/>
          </a:ln>
        </p:spPr>
      </p:sp>
      <p:sp>
        <p:nvSpPr>
          <p:cNvPr id="4" name="">
            <a:extLst xmlns:a="http://schemas.openxmlformats.org/drawingml/2006/main">
              <a:ext uri="{FF2B5EF4-FFF2-40B4-BE49-F238E27FC236}">
                <a16:creationId xmlns:a16="http://schemas.microsoft.com/office/drawing/2014/main" id="{C9368710-7411-4F23-AE20-2ABF560D3568}"/>
              </a:ext>
            </a:extLst>
          </p:cNvPr>
          <p:cNvSpPr>
            <a:spLocks xmlns:a="http://schemas.openxmlformats.org/drawingml/2006/main" noGrp="1"/>
          </p:cNvSpPr>
          <p:nvPr/>
        </p:nvSpPr>
        <p:spPr>
          <a:xfrm xmlns:a="http://schemas.openxmlformats.org/drawingml/2006/main">
            <a:off x="1809750" y="1790700"/>
            <a:ext cx="228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0A0A0A"/>
                </a:solidFill>
              </a:defRPr>
            </a:pPr>
            <a:r>
              <a:rPr sz="1800" b="1">
                <a:solidFill>
                  <a:srgbClr val="0A0A0A"/>
                </a:solidFill>
              </a:rPr>
              <a:t>Episode draw</a:t>
            </a:r>
          </a:p>
        </p:txBody>
      </p:sp>
      <p:sp>
        <p:nvSpPr>
          <p:cNvPr id="5" name="">
            <a:extLst xmlns:a="http://schemas.openxmlformats.org/drawingml/2006/main">
              <a:ext uri="{FF2B5EF4-FFF2-40B4-BE49-F238E27FC236}">
                <a16:creationId xmlns:a16="http://schemas.microsoft.com/office/drawing/2014/main" id="{D39AD77F-A09A-46C3-B55D-4096AD088E2D}"/>
              </a:ext>
            </a:extLst>
          </p:cNvPr>
          <p:cNvSpPr>
            <a:spLocks xmlns:a="http://schemas.openxmlformats.org/drawingml/2006/main" noGrp="1"/>
          </p:cNvSpPr>
          <p:nvPr/>
        </p:nvSpPr>
        <p:spPr>
          <a:xfrm xmlns:a="http://schemas.openxmlformats.org/drawingml/2006/main">
            <a:off x="4381500" y="1790700"/>
            <a:ext cx="6286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4F5661"/>
                </a:solidFill>
              </a:defRPr>
            </a:pPr>
            <a:r>
              <a:rPr sz="1800">
                <a:solidFill>
                  <a:srgbClr val="4F5661"/>
                </a:solidFill>
              </a:rPr>
              <a:t>The prey receives one hidden corner intent at reset.</a:t>
            </a:r>
          </a:p>
        </p:txBody>
      </p:sp>
      <p:sp>
        <p:nvSpPr>
          <p:cNvPr id="6" name="">
            <a:extLst xmlns:a="http://schemas.openxmlformats.org/drawingml/2006/main">
              <a:ext uri="{FF2B5EF4-FFF2-40B4-BE49-F238E27FC236}">
                <a16:creationId xmlns:a16="http://schemas.microsoft.com/office/drawing/2014/main" id="{1E9112C6-A179-4CF5-9D72-B96C7B189AEF}"/>
              </a:ext>
            </a:extLst>
          </p:cNvPr>
          <p:cNvSpPr>
            <a:spLocks xmlns:a="http://schemas.openxmlformats.org/drawingml/2006/main" noGrp="1"/>
          </p:cNvSpPr>
          <p:nvPr/>
        </p:nvSpPr>
        <p:spPr>
          <a:xfrm xmlns:a="http://schemas.openxmlformats.org/drawingml/2006/main">
            <a:off x="685800" y="2781300"/>
            <a:ext cx="819150" cy="38100"/>
          </a:xfrm>
          <a:prstGeom xmlns:a="http://schemas.openxmlformats.org/drawingml/2006/main" prst="rect">
            <a:avLst/>
          </a:prstGeom>
          <a:solidFill xmlns:a="http://schemas.openxmlformats.org/drawingml/2006/main">
            <a:srgbClr val="0D6E7A"/>
          </a:solidFill>
          <a:ln xmlns:a="http://schemas.openxmlformats.org/drawingml/2006/main" w="0">
            <a:solidFill>
              <a:srgbClr val="0D6E7A"/>
            </a:solidFill>
            <a:prstDash val="solid"/>
          </a:ln>
        </p:spPr>
      </p:sp>
      <p:sp>
        <p:nvSpPr>
          <p:cNvPr id="7" name="">
            <a:extLst xmlns:a="http://schemas.openxmlformats.org/drawingml/2006/main">
              <a:ext uri="{FF2B5EF4-FFF2-40B4-BE49-F238E27FC236}">
                <a16:creationId xmlns:a16="http://schemas.microsoft.com/office/drawing/2014/main" id="{E58E30AE-ABDB-41F7-BC4B-8F43643B344F}"/>
              </a:ext>
            </a:extLst>
          </p:cNvPr>
          <p:cNvSpPr>
            <a:spLocks xmlns:a="http://schemas.openxmlformats.org/drawingml/2006/main" noGrp="1"/>
          </p:cNvSpPr>
          <p:nvPr/>
        </p:nvSpPr>
        <p:spPr>
          <a:xfrm xmlns:a="http://schemas.openxmlformats.org/drawingml/2006/main">
            <a:off x="1809750" y="2628900"/>
            <a:ext cx="228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0A0A0A"/>
                </a:solidFill>
              </a:defRPr>
            </a:pPr>
            <a:r>
              <a:rPr sz="1800" b="1">
                <a:solidFill>
                  <a:srgbClr val="0A0A0A"/>
                </a:solidFill>
              </a:rPr>
              <a:t>Observation</a:t>
            </a:r>
          </a:p>
        </p:txBody>
      </p:sp>
      <p:sp>
        <p:nvSpPr>
          <p:cNvPr id="8" name="">
            <a:extLst xmlns:a="http://schemas.openxmlformats.org/drawingml/2006/main">
              <a:ext uri="{FF2B5EF4-FFF2-40B4-BE49-F238E27FC236}">
                <a16:creationId xmlns:a16="http://schemas.microsoft.com/office/drawing/2014/main" id="{3538C459-5A8D-4DA4-9C78-99C7FC684F57}"/>
              </a:ext>
            </a:extLst>
          </p:cNvPr>
          <p:cNvSpPr>
            <a:spLocks xmlns:a="http://schemas.openxmlformats.org/drawingml/2006/main" noGrp="1"/>
          </p:cNvSpPr>
          <p:nvPr/>
        </p:nvSpPr>
        <p:spPr>
          <a:xfrm xmlns:a="http://schemas.openxmlformats.org/drawingml/2006/main">
            <a:off x="4381500" y="2628900"/>
            <a:ext cx="6286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4F5661"/>
                </a:solidFill>
              </a:defRPr>
            </a:pPr>
            <a:r>
              <a:rPr sz="1800">
                <a:solidFill>
                  <a:srgbClr val="4F5661"/>
                </a:solidFill>
              </a:rPr>
              <a:t>Predators see motion, positions, obstacles, and rewards.</a:t>
            </a:r>
          </a:p>
        </p:txBody>
      </p:sp>
      <p:sp>
        <p:nvSpPr>
          <p:cNvPr id="9" name="">
            <a:extLst xmlns:a="http://schemas.openxmlformats.org/drawingml/2006/main">
              <a:ext uri="{FF2B5EF4-FFF2-40B4-BE49-F238E27FC236}">
                <a16:creationId xmlns:a16="http://schemas.microsoft.com/office/drawing/2014/main" id="{A359693B-966D-422A-80FA-6B6A85B7A477}"/>
              </a:ext>
            </a:extLst>
          </p:cNvPr>
          <p:cNvSpPr>
            <a:spLocks xmlns:a="http://schemas.openxmlformats.org/drawingml/2006/main" noGrp="1"/>
          </p:cNvSpPr>
          <p:nvPr/>
        </p:nvSpPr>
        <p:spPr>
          <a:xfrm xmlns:a="http://schemas.openxmlformats.org/drawingml/2006/main">
            <a:off x="685800" y="3619500"/>
            <a:ext cx="819150" cy="38100"/>
          </a:xfrm>
          <a:prstGeom xmlns:a="http://schemas.openxmlformats.org/drawingml/2006/main" prst="rect">
            <a:avLst/>
          </a:prstGeom>
          <a:solidFill xmlns:a="http://schemas.openxmlformats.org/drawingml/2006/main">
            <a:srgbClr val="0D6E7A"/>
          </a:solidFill>
          <a:ln xmlns:a="http://schemas.openxmlformats.org/drawingml/2006/main" w="0">
            <a:solidFill>
              <a:srgbClr val="0D6E7A"/>
            </a:solidFill>
            <a:prstDash val="solid"/>
          </a:ln>
        </p:spPr>
      </p:sp>
      <p:sp>
        <p:nvSpPr>
          <p:cNvPr id="10" name="">
            <a:extLst xmlns:a="http://schemas.openxmlformats.org/drawingml/2006/main">
              <a:ext uri="{FF2B5EF4-FFF2-40B4-BE49-F238E27FC236}">
                <a16:creationId xmlns:a16="http://schemas.microsoft.com/office/drawing/2014/main" id="{BB6CBF86-867E-49CA-ABC2-F31F9AB2B016}"/>
              </a:ext>
            </a:extLst>
          </p:cNvPr>
          <p:cNvSpPr>
            <a:spLocks xmlns:a="http://schemas.openxmlformats.org/drawingml/2006/main" noGrp="1"/>
          </p:cNvSpPr>
          <p:nvPr/>
        </p:nvSpPr>
        <p:spPr>
          <a:xfrm xmlns:a="http://schemas.openxmlformats.org/drawingml/2006/main">
            <a:off x="1809750" y="3467100"/>
            <a:ext cx="228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0A0A0A"/>
                </a:solidFill>
              </a:defRPr>
            </a:pPr>
            <a:r>
              <a:rPr sz="1800" b="1">
                <a:solidFill>
                  <a:srgbClr val="0A0A0A"/>
                </a:solidFill>
              </a:rPr>
              <a:t>Belief</a:t>
            </a:r>
          </a:p>
        </p:txBody>
      </p:sp>
      <p:sp>
        <p:nvSpPr>
          <p:cNvPr id="11" name="">
            <a:extLst xmlns:a="http://schemas.openxmlformats.org/drawingml/2006/main">
              <a:ext uri="{FF2B5EF4-FFF2-40B4-BE49-F238E27FC236}">
                <a16:creationId xmlns:a16="http://schemas.microsoft.com/office/drawing/2014/main" id="{16328150-8071-40C8-8C33-D5F233DAAD50}"/>
              </a:ext>
            </a:extLst>
          </p:cNvPr>
          <p:cNvSpPr>
            <a:spLocks xmlns:a="http://schemas.openxmlformats.org/drawingml/2006/main" noGrp="1"/>
          </p:cNvSpPr>
          <p:nvPr/>
        </p:nvSpPr>
        <p:spPr>
          <a:xfrm xmlns:a="http://schemas.openxmlformats.org/drawingml/2006/main">
            <a:off x="4381500" y="3467100"/>
            <a:ext cx="6286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4F5661"/>
                </a:solidFill>
              </a:defRPr>
            </a:pPr>
            <a:r>
              <a:rPr sz="1800">
                <a:solidFill>
                  <a:srgbClr val="4F5661"/>
                </a:solidFill>
              </a:rPr>
              <a:t>The first k prey steps produce a posterior over four intents.</a:t>
            </a:r>
          </a:p>
        </p:txBody>
      </p:sp>
      <p:sp>
        <p:nvSpPr>
          <p:cNvPr id="12" name="">
            <a:extLst xmlns:a="http://schemas.openxmlformats.org/drawingml/2006/main">
              <a:ext uri="{FF2B5EF4-FFF2-40B4-BE49-F238E27FC236}">
                <a16:creationId xmlns:a16="http://schemas.microsoft.com/office/drawing/2014/main" id="{9449CB77-E7D7-429F-8792-D9872D8E4969}"/>
              </a:ext>
            </a:extLst>
          </p:cNvPr>
          <p:cNvSpPr>
            <a:spLocks xmlns:a="http://schemas.openxmlformats.org/drawingml/2006/main" noGrp="1"/>
          </p:cNvSpPr>
          <p:nvPr/>
        </p:nvSpPr>
        <p:spPr>
          <a:xfrm xmlns:a="http://schemas.openxmlformats.org/drawingml/2006/main">
            <a:off x="685800" y="4457700"/>
            <a:ext cx="819150" cy="38100"/>
          </a:xfrm>
          <a:prstGeom xmlns:a="http://schemas.openxmlformats.org/drawingml/2006/main" prst="rect">
            <a:avLst/>
          </a:prstGeom>
          <a:solidFill xmlns:a="http://schemas.openxmlformats.org/drawingml/2006/main">
            <a:srgbClr val="0D6E7A"/>
          </a:solidFill>
          <a:ln xmlns:a="http://schemas.openxmlformats.org/drawingml/2006/main" w="0">
            <a:solidFill>
              <a:srgbClr val="0D6E7A"/>
            </a:solidFill>
            <a:prstDash val="solid"/>
          </a:ln>
        </p:spPr>
      </p:sp>
      <p:sp>
        <p:nvSpPr>
          <p:cNvPr id="13" name="">
            <a:extLst xmlns:a="http://schemas.openxmlformats.org/drawingml/2006/main">
              <a:ext uri="{FF2B5EF4-FFF2-40B4-BE49-F238E27FC236}">
                <a16:creationId xmlns:a16="http://schemas.microsoft.com/office/drawing/2014/main" id="{E6101140-A8BB-40B7-8A3F-B601C75ACC64}"/>
              </a:ext>
            </a:extLst>
          </p:cNvPr>
          <p:cNvSpPr>
            <a:spLocks xmlns:a="http://schemas.openxmlformats.org/drawingml/2006/main" noGrp="1"/>
          </p:cNvSpPr>
          <p:nvPr/>
        </p:nvSpPr>
        <p:spPr>
          <a:xfrm xmlns:a="http://schemas.openxmlformats.org/drawingml/2006/main">
            <a:off x="1809750" y="4305300"/>
            <a:ext cx="228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0A0A0A"/>
                </a:solidFill>
              </a:defRPr>
            </a:pPr>
            <a:r>
              <a:rPr sz="1800" b="1">
                <a:solidFill>
                  <a:srgbClr val="0A0A0A"/>
                </a:solidFill>
              </a:rPr>
              <a:t>Control</a:t>
            </a:r>
          </a:p>
        </p:txBody>
      </p:sp>
      <p:sp>
        <p:nvSpPr>
          <p:cNvPr id="14" name="">
            <a:extLst xmlns:a="http://schemas.openxmlformats.org/drawingml/2006/main">
              <a:ext uri="{FF2B5EF4-FFF2-40B4-BE49-F238E27FC236}">
                <a16:creationId xmlns:a16="http://schemas.microsoft.com/office/drawing/2014/main" id="{1AA85942-4EC8-4F2B-80B1-A9B889CD6AFD}"/>
              </a:ext>
            </a:extLst>
          </p:cNvPr>
          <p:cNvSpPr>
            <a:spLocks xmlns:a="http://schemas.openxmlformats.org/drawingml/2006/main" noGrp="1"/>
          </p:cNvSpPr>
          <p:nvPr/>
        </p:nvSpPr>
        <p:spPr>
          <a:xfrm xmlns:a="http://schemas.openxmlformats.org/drawingml/2006/main">
            <a:off x="4381500" y="4305300"/>
            <a:ext cx="6286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4F5661"/>
                </a:solidFill>
              </a:defRPr>
            </a:pPr>
            <a:r>
              <a:rPr sz="1800">
                <a:solidFill>
                  <a:srgbClr val="4F5661"/>
                </a:solidFill>
              </a:rPr>
              <a:t>The planner samples that posterior during lookahead.</a:t>
            </a:r>
          </a:p>
        </p:txBody>
      </p:sp>
      <p:sp>
        <p:nvSpPr>
          <p:cNvPr id="15" name="">
            <a:extLst xmlns:a="http://schemas.openxmlformats.org/drawingml/2006/main">
              <a:ext uri="{FF2B5EF4-FFF2-40B4-BE49-F238E27FC236}">
                <a16:creationId xmlns:a16="http://schemas.microsoft.com/office/drawing/2014/main" id="{196251DF-079F-4C56-8BC4-7065E0064F1F}"/>
              </a:ext>
            </a:extLst>
          </p:cNvPr>
          <p:cNvSpPr>
            <a:spLocks xmlns:a="http://schemas.openxmlformats.org/drawingml/2006/main" noGrp="1"/>
          </p:cNvSpPr>
          <p:nvPr/>
        </p:nvSpPr>
        <p:spPr>
          <a:xfrm xmlns:a="http://schemas.openxmlformats.org/drawingml/2006/main">
            <a:off x="685800" y="5543550"/>
            <a:ext cx="8858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0A0A0A"/>
                </a:solidFill>
              </a:defRPr>
            </a:pPr>
            <a:r>
              <a:rPr sz="1800" b="1">
                <a:solidFill>
                  <a:srgbClr val="0A0A0A"/>
                </a:solidFill>
              </a:rPr>
              <a:t>This setup keeps the map fixed. Any lift must come from reading behavior and using the belief.</a:t>
            </a:r>
          </a:p>
        </p:txBody>
      </p:sp>
      <p:sp>
        <p:nvSpPr>
          <p:cNvPr id="16" name="">
            <a:extLst xmlns:a="http://schemas.openxmlformats.org/drawingml/2006/main">
              <a:ext uri="{FF2B5EF4-FFF2-40B4-BE49-F238E27FC236}">
                <a16:creationId xmlns:a16="http://schemas.microsoft.com/office/drawing/2014/main" id="{88B32EB8-FE91-4D17-BA8B-A0FA81CCED67}"/>
              </a:ext>
            </a:extLst>
          </p:cNvPr>
          <p:cNvSpPr>
            <a:spLocks xmlns:a="http://schemas.openxmlformats.org/drawingml/2006/main" noGrp="1"/>
          </p:cNvSpPr>
          <p:nvPr/>
        </p:nvSpPr>
        <p:spPr>
          <a:xfrm xmlns:a="http://schemas.openxmlformats.org/drawingml/2006/main">
            <a:off x="11277600" y="62674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a:solidFill>
                  <a:srgbClr val="4F5661"/>
                </a:solidFill>
              </a:defRPr>
            </a:pPr>
            <a:r>
              <a:rPr sz="1050">
                <a:solidFill>
                  <a:srgbClr val="4F5661"/>
                </a:solidFill>
              </a:rPr>
              <a:t>03</a:t>
            </a:r>
          </a:p>
        </p:txBody>
      </p:sp>
    </p:spTree>
    <p:extLst>
      <p:ext uri="{BB962C8B-B14F-4D97-AF65-F5344CB8AC3E}">
        <p14:creationId xmlns:p14="http://schemas.microsoft.com/office/powerpoint/2010/main" val="54137545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FE12766-802A-44A7-9402-ED44FC2D40EF}"/>
              </a:ext>
            </a:extLst>
          </p:cNvPr>
          <p:cNvSpPr>
            <a:spLocks xmlns:a="http://schemas.openxmlformats.org/drawingml/2006/main" noGrp="1"/>
          </p:cNvSpPr>
          <p:nvPr/>
        </p:nvSpPr>
        <p:spPr>
          <a:xfrm xmlns:a="http://schemas.openxmlformats.org/drawingml/2006/main">
            <a:off x="533400" y="323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4F5661"/>
                </a:solidFill>
              </a:defRPr>
            </a:pPr>
            <a:r>
              <a:rPr sz="975" b="1">
                <a:solidFill>
                  <a:srgbClr val="4F5661"/>
                </a:solidFill>
              </a:rPr>
              <a:t>PART 1</a:t>
            </a:r>
          </a:p>
        </p:txBody>
      </p:sp>
      <p:sp>
        <p:nvSpPr>
          <p:cNvPr id="2" name="">
            <a:extLst xmlns:a="http://schemas.openxmlformats.org/drawingml/2006/main">
              <a:ext uri="{FF2B5EF4-FFF2-40B4-BE49-F238E27FC236}">
                <a16:creationId xmlns:a16="http://schemas.microsoft.com/office/drawing/2014/main" id="{20FEA239-64C0-4723-BC07-1F39E465884C}"/>
              </a:ext>
            </a:extLst>
          </p:cNvPr>
          <p:cNvSpPr>
            <a:spLocks xmlns:a="http://schemas.openxmlformats.org/drawingml/2006/main" noGrp="1"/>
          </p:cNvSpPr>
          <p:nvPr/>
        </p:nvSpPr>
        <p:spPr>
          <a:xfrm xmlns:a="http://schemas.openxmlformats.org/drawingml/2006/main">
            <a:off x="533400" y="590550"/>
            <a:ext cx="10287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0A0A0A"/>
                </a:solidFill>
              </a:defRPr>
            </a:pPr>
            <a:r>
              <a:rPr sz="3150" b="1">
                <a:solidFill>
                  <a:srgbClr val="0A0A0A"/>
                </a:solidFill>
              </a:rPr>
              <a:t>The belief signal becomes measurable</a:t>
            </a:r>
          </a:p>
        </p:txBody>
      </p:sp>
      <p:sp>
        <p:nvSpPr>
          <p:cNvPr id="3" name="">
            <a:extLst xmlns:a="http://schemas.openxmlformats.org/drawingml/2006/main">
              <a:ext uri="{FF2B5EF4-FFF2-40B4-BE49-F238E27FC236}">
                <a16:creationId xmlns:a16="http://schemas.microsoft.com/office/drawing/2014/main" id="{496263B6-4770-42CB-B157-88C77D242956}"/>
              </a:ext>
            </a:extLst>
          </p:cNvPr>
          <p:cNvSpPr>
            <a:spLocks xmlns:a="http://schemas.openxmlformats.org/drawingml/2006/main" noGrp="1"/>
          </p:cNvSpPr>
          <p:nvPr/>
        </p:nvSpPr>
        <p:spPr>
          <a:xfrm xmlns:a="http://schemas.openxmlformats.org/drawingml/2006/main">
            <a:off x="11277600" y="62674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a:solidFill>
                  <a:srgbClr val="4F5661"/>
                </a:solidFill>
              </a:defRPr>
            </a:pPr>
            <a:r>
              <a:rPr sz="1050">
                <a:solidFill>
                  <a:srgbClr val="4F5661"/>
                </a:solidFill>
              </a:rPr>
              <a:t>04</a:t>
            </a:r>
          </a:p>
        </p:txBody>
      </p:sp>
      <p:sp>
        <p:nvSpPr>
          <p:cNvPr id="4" name="">
            <a:extLst xmlns:a="http://schemas.openxmlformats.org/drawingml/2006/main">
              <a:ext uri="{FF2B5EF4-FFF2-40B4-BE49-F238E27FC236}">
                <a16:creationId xmlns:a16="http://schemas.microsoft.com/office/drawing/2014/main" id="{7B65C3DC-0DBB-4529-A87A-81D18FBA1C32}"/>
              </a:ext>
            </a:extLst>
          </p:cNvPr>
          <p:cNvSpPr>
            <a:spLocks xmlns:a="http://schemas.openxmlformats.org/drawingml/2006/main" noGrp="1"/>
          </p:cNvSpPr>
          <p:nvPr/>
        </p:nvSpPr>
        <p:spPr>
          <a:xfrm xmlns:a="http://schemas.openxmlformats.org/drawingml/2006/main">
            <a:off x="533400" y="1581150"/>
            <a:ext cx="6705600" cy="4114800"/>
          </a:xfrm>
          <a:prstGeom xmlns:a="http://schemas.openxmlformats.org/drawingml/2006/main" prst="rect">
            <a:avLst/>
          </a:prstGeom>
          <a:solidFill xmlns:a="http://schemas.openxmlformats.org/drawingml/2006/main">
            <a:srgbClr val="F4F5F7"/>
          </a:solidFill>
          <a:ln xmlns:a="http://schemas.openxmlformats.org/drawingml/2006/main" w="0">
            <a:solidFill>
              <a:srgbClr val="F4F5F7"/>
            </a:solid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7093cb16dcc4191"/>
          <a:stretch xmlns:a="http://schemas.openxmlformats.org/drawingml/2006/main"/>
        </p:blipFill>
        <p:spPr>
          <a:xfrm xmlns:a="http://schemas.openxmlformats.org/drawingml/2006/main">
            <a:off x="685800" y="2688754"/>
            <a:ext cx="6400800" cy="189959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F765836-9962-45DE-BCA0-8842B178130B}"/>
              </a:ext>
            </a:extLst>
          </p:cNvPr>
          <p:cNvSpPr>
            <a:spLocks xmlns:a="http://schemas.openxmlformats.org/drawingml/2006/main" noGrp="1"/>
          </p:cNvSpPr>
          <p:nvPr/>
        </p:nvSpPr>
        <p:spPr>
          <a:xfrm xmlns:a="http://schemas.openxmlformats.org/drawingml/2006/main">
            <a:off x="7620000" y="1752600"/>
            <a:ext cx="57150" cy="2000250"/>
          </a:xfrm>
          <a:prstGeom xmlns:a="http://schemas.openxmlformats.org/drawingml/2006/main" prst="rect">
            <a:avLst/>
          </a:prstGeom>
          <a:solidFill xmlns:a="http://schemas.openxmlformats.org/drawingml/2006/main">
            <a:srgbClr val="0D6E7A"/>
          </a:solidFill>
          <a:ln xmlns:a="http://schemas.openxmlformats.org/drawingml/2006/main" w="0">
            <a:solidFill>
              <a:srgbClr val="0D6E7A"/>
            </a:solidFill>
            <a:prstDash val="solid"/>
          </a:ln>
        </p:spPr>
      </p:sp>
      <p:sp>
        <p:nvSpPr>
          <p:cNvPr id="7" name="">
            <a:extLst xmlns:a="http://schemas.openxmlformats.org/drawingml/2006/main">
              <a:ext uri="{FF2B5EF4-FFF2-40B4-BE49-F238E27FC236}">
                <a16:creationId xmlns:a16="http://schemas.microsoft.com/office/drawing/2014/main" id="{0A57A3F7-1045-4D8C-8916-097C8BA03F99}"/>
              </a:ext>
            </a:extLst>
          </p:cNvPr>
          <p:cNvSpPr>
            <a:spLocks xmlns:a="http://schemas.openxmlformats.org/drawingml/2006/main" noGrp="1"/>
          </p:cNvSpPr>
          <p:nvPr/>
        </p:nvSpPr>
        <p:spPr>
          <a:xfrm xmlns:a="http://schemas.openxmlformats.org/drawingml/2006/main">
            <a:off x="7829550" y="1733550"/>
            <a:ext cx="33147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4F5661"/>
                </a:solidFill>
              </a:defRPr>
            </a:pPr>
            <a:r>
              <a:rPr sz="1650">
                <a:solidFill>
                  <a:srgbClr val="4F5661"/>
                </a:solidFill>
              </a:rPr>
              <a:t>- Accuracy rises from 0.37 at 3 observed steps to 0.97 at 25.</a:t>
            </a:r>
          </a:p>
          <a:p xmlns:a="http://schemas.openxmlformats.org/drawingml/2006/main">
            <a:pPr>
              <a:defRPr sz="1650">
                <a:solidFill>
                  <a:srgbClr val="4F5661"/>
                </a:solidFill>
              </a:defRPr>
            </a:pPr>
            <a:r>
              <a:rPr sz="1650">
                <a:solidFill>
                  <a:srgbClr val="4F5661"/>
                </a:solidFill>
              </a:rPr>
              <a:t>- Posterior entropy falls from 1.35 to 0.03 nats.</a:t>
            </a:r>
          </a:p>
          <a:p xmlns:a="http://schemas.openxmlformats.org/drawingml/2006/main">
            <a:pPr>
              <a:defRPr sz="1650">
                <a:solidFill>
                  <a:srgbClr val="4F5661"/>
                </a:solidFill>
              </a:defRPr>
            </a:pPr>
            <a:r>
              <a:rPr sz="1650">
                <a:solidFill>
                  <a:srgbClr val="4F5661"/>
                </a:solidFill>
              </a:rPr>
              <a:t>- The belief sharpens before the episode ends.</a:t>
            </a:r>
          </a:p>
        </p:txBody>
      </p:sp>
      <p:sp>
        <p:nvSpPr>
          <p:cNvPr id="8" name="">
            <a:extLst xmlns:a="http://schemas.openxmlformats.org/drawingml/2006/main">
              <a:ext uri="{FF2B5EF4-FFF2-40B4-BE49-F238E27FC236}">
                <a16:creationId xmlns:a16="http://schemas.microsoft.com/office/drawing/2014/main" id="{22928C6B-5FC7-4473-9BCB-2BF21DDCDEFC}"/>
              </a:ext>
            </a:extLst>
          </p:cNvPr>
          <p:cNvSpPr>
            <a:spLocks xmlns:a="http://schemas.openxmlformats.org/drawingml/2006/main" noGrp="1"/>
          </p:cNvSpPr>
          <p:nvPr/>
        </p:nvSpPr>
        <p:spPr>
          <a:xfrm xmlns:a="http://schemas.openxmlformats.org/drawingml/2006/main">
            <a:off x="7620000" y="4514850"/>
            <a:ext cx="35433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0A0A0A"/>
                </a:solidFill>
              </a:defRPr>
            </a:pPr>
            <a:r>
              <a:rPr sz="1875" b="1">
                <a:solidFill>
                  <a:srgbClr val="0A0A0A"/>
                </a:solidFill>
              </a:rPr>
              <a:t>This validates the Part 1 encoder: early motion carries the hidden intent.</a:t>
            </a:r>
          </a:p>
        </p:txBody>
      </p:sp>
    </p:spTree>
    <p:extLst>
      <p:ext uri="{BB962C8B-B14F-4D97-AF65-F5344CB8AC3E}">
        <p14:creationId xmlns:p14="http://schemas.microsoft.com/office/powerpoint/2010/main" val="58177405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9CB5FE1-265B-4691-80AF-74D2A0CB2C6E}"/>
              </a:ext>
            </a:extLst>
          </p:cNvPr>
          <p:cNvSpPr>
            <a:spLocks xmlns:a="http://schemas.openxmlformats.org/drawingml/2006/main" noGrp="1"/>
          </p:cNvSpPr>
          <p:nvPr/>
        </p:nvSpPr>
        <p:spPr>
          <a:xfrm xmlns:a="http://schemas.openxmlformats.org/drawingml/2006/main">
            <a:off x="533400" y="323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4F5661"/>
                </a:solidFill>
              </a:defRPr>
            </a:pPr>
            <a:r>
              <a:rPr sz="975" b="1">
                <a:solidFill>
                  <a:srgbClr val="4F5661"/>
                </a:solidFill>
              </a:rPr>
              <a:t>ABLATION</a:t>
            </a:r>
          </a:p>
        </p:txBody>
      </p:sp>
      <p:sp>
        <p:nvSpPr>
          <p:cNvPr id="2" name="">
            <a:extLst xmlns:a="http://schemas.openxmlformats.org/drawingml/2006/main">
              <a:ext uri="{FF2B5EF4-FFF2-40B4-BE49-F238E27FC236}">
                <a16:creationId xmlns:a16="http://schemas.microsoft.com/office/drawing/2014/main" id="{E6C6C82C-5948-4A97-AF64-AC052A77B654}"/>
              </a:ext>
            </a:extLst>
          </p:cNvPr>
          <p:cNvSpPr>
            <a:spLocks xmlns:a="http://schemas.openxmlformats.org/drawingml/2006/main" noGrp="1"/>
          </p:cNvSpPr>
          <p:nvPr/>
        </p:nvSpPr>
        <p:spPr>
          <a:xfrm xmlns:a="http://schemas.openxmlformats.org/drawingml/2006/main">
            <a:off x="533400" y="590550"/>
            <a:ext cx="10287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0A0A0A"/>
                </a:solidFill>
              </a:defRPr>
            </a:pPr>
            <a:r>
              <a:rPr sz="3150" b="1">
                <a:solidFill>
                  <a:srgbClr val="0A0A0A"/>
                </a:solidFill>
              </a:rPr>
              <a:t>Hard intent labels can damage control</a:t>
            </a:r>
          </a:p>
        </p:txBody>
      </p:sp>
      <p:sp>
        <p:nvSpPr>
          <p:cNvPr id="3" name="">
            <a:extLst xmlns:a="http://schemas.openxmlformats.org/drawingml/2006/main">
              <a:ext uri="{FF2B5EF4-FFF2-40B4-BE49-F238E27FC236}">
                <a16:creationId xmlns:a16="http://schemas.microsoft.com/office/drawing/2014/main" id="{E0D6F1C9-7786-47F3-A4A6-71AA875385D1}"/>
              </a:ext>
            </a:extLst>
          </p:cNvPr>
          <p:cNvSpPr>
            <a:spLocks xmlns:a="http://schemas.openxmlformats.org/drawingml/2006/main" noGrp="1"/>
          </p:cNvSpPr>
          <p:nvPr/>
        </p:nvSpPr>
        <p:spPr>
          <a:xfrm xmlns:a="http://schemas.openxmlformats.org/drawingml/2006/main">
            <a:off x="685800" y="1809750"/>
            <a:ext cx="3105150" cy="2305050"/>
          </a:xfrm>
          <a:prstGeom xmlns:a="http://schemas.openxmlformats.org/drawingml/2006/main" prst="rect">
            <a:avLst/>
          </a:prstGeom>
          <a:solidFill xmlns:a="http://schemas.openxmlformats.org/drawingml/2006/main">
            <a:srgbClr val="F4F5F7"/>
          </a:solidFill>
          <a:ln xmlns:a="http://schemas.openxmlformats.org/drawingml/2006/main" w="0">
            <a:solidFill>
              <a:srgbClr val="F4F5F7"/>
            </a:solidFill>
            <a:prstDash val="solid"/>
          </a:ln>
        </p:spPr>
      </p:sp>
      <p:sp>
        <p:nvSpPr>
          <p:cNvPr id="4" name="">
            <a:extLst xmlns:a="http://schemas.openxmlformats.org/drawingml/2006/main">
              <a:ext uri="{FF2B5EF4-FFF2-40B4-BE49-F238E27FC236}">
                <a16:creationId xmlns:a16="http://schemas.microsoft.com/office/drawing/2014/main" id="{93D9E52C-97B2-477A-8CF3-4BC24C78584B}"/>
              </a:ext>
            </a:extLst>
          </p:cNvPr>
          <p:cNvSpPr>
            <a:spLocks xmlns:a="http://schemas.openxmlformats.org/drawingml/2006/main" noGrp="1"/>
          </p:cNvSpPr>
          <p:nvPr/>
        </p:nvSpPr>
        <p:spPr>
          <a:xfrm xmlns:a="http://schemas.openxmlformats.org/drawingml/2006/main">
            <a:off x="4533900" y="1809750"/>
            <a:ext cx="3105150" cy="2305050"/>
          </a:xfrm>
          <a:prstGeom xmlns:a="http://schemas.openxmlformats.org/drawingml/2006/main" prst="rect">
            <a:avLst/>
          </a:prstGeom>
          <a:solidFill xmlns:a="http://schemas.openxmlformats.org/drawingml/2006/main">
            <a:srgbClr val="F4F5F7"/>
          </a:solidFill>
          <a:ln xmlns:a="http://schemas.openxmlformats.org/drawingml/2006/main" w="0">
            <a:solidFill>
              <a:srgbClr val="F4F5F7"/>
            </a:solidFill>
            <a:prstDash val="solid"/>
          </a:ln>
        </p:spPr>
      </p:sp>
      <p:sp>
        <p:nvSpPr>
          <p:cNvPr id="5" name="">
            <a:extLst xmlns:a="http://schemas.openxmlformats.org/drawingml/2006/main">
              <a:ext uri="{FF2B5EF4-FFF2-40B4-BE49-F238E27FC236}">
                <a16:creationId xmlns:a16="http://schemas.microsoft.com/office/drawing/2014/main" id="{773E0E45-8E1D-46E6-B557-5BC272EB51CC}"/>
              </a:ext>
            </a:extLst>
          </p:cNvPr>
          <p:cNvSpPr>
            <a:spLocks xmlns:a="http://schemas.openxmlformats.org/drawingml/2006/main" noGrp="1"/>
          </p:cNvSpPr>
          <p:nvPr/>
        </p:nvSpPr>
        <p:spPr>
          <a:xfrm xmlns:a="http://schemas.openxmlformats.org/drawingml/2006/main">
            <a:off x="8382000" y="1809750"/>
            <a:ext cx="3105150" cy="2305050"/>
          </a:xfrm>
          <a:prstGeom xmlns:a="http://schemas.openxmlformats.org/drawingml/2006/main" prst="rect">
            <a:avLst/>
          </a:prstGeom>
          <a:solidFill xmlns:a="http://schemas.openxmlformats.org/drawingml/2006/main">
            <a:srgbClr val="F4F5F7"/>
          </a:solidFill>
          <a:ln xmlns:a="http://schemas.openxmlformats.org/drawingml/2006/main" w="0">
            <a:solidFill>
              <a:srgbClr val="F4F5F7"/>
            </a:solidFill>
            <a:prstDash val="solid"/>
          </a:ln>
        </p:spPr>
      </p:sp>
      <p:sp>
        <p:nvSpPr>
          <p:cNvPr id="6" name="">
            <a:extLst xmlns:a="http://schemas.openxmlformats.org/drawingml/2006/main">
              <a:ext uri="{FF2B5EF4-FFF2-40B4-BE49-F238E27FC236}">
                <a16:creationId xmlns:a16="http://schemas.microsoft.com/office/drawing/2014/main" id="{C71915D6-EA9B-46D1-BE95-10122B2B4537}"/>
              </a:ext>
            </a:extLst>
          </p:cNvPr>
          <p:cNvSpPr>
            <a:spLocks xmlns:a="http://schemas.openxmlformats.org/drawingml/2006/main" noGrp="1"/>
          </p:cNvSpPr>
          <p:nvPr/>
        </p:nvSpPr>
        <p:spPr>
          <a:xfrm xmlns:a="http://schemas.openxmlformats.org/drawingml/2006/main">
            <a:off x="990600" y="2171700"/>
            <a:ext cx="238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4200" b="1">
                <a:solidFill>
                  <a:srgbClr val="0D6E7A"/>
                </a:solidFill>
              </a:defRPr>
            </a:pPr>
            <a:r>
              <a:rPr sz="4200" b="1">
                <a:solidFill>
                  <a:srgbClr val="0D6E7A"/>
                </a:solidFill>
              </a:rPr>
              <a:t>2.68</a:t>
            </a:r>
          </a:p>
        </p:txBody>
      </p:sp>
      <p:sp>
        <p:nvSpPr>
          <p:cNvPr id="7" name="">
            <a:extLst xmlns:a="http://schemas.openxmlformats.org/drawingml/2006/main">
              <a:ext uri="{FF2B5EF4-FFF2-40B4-BE49-F238E27FC236}">
                <a16:creationId xmlns:a16="http://schemas.microsoft.com/office/drawing/2014/main" id="{55483CEC-FFC5-4B15-92FB-8CF65C6365DA}"/>
              </a:ext>
            </a:extLst>
          </p:cNvPr>
          <p:cNvSpPr>
            <a:spLocks xmlns:a="http://schemas.openxmlformats.org/drawingml/2006/main" noGrp="1"/>
          </p:cNvSpPr>
          <p:nvPr/>
        </p:nvSpPr>
        <p:spPr>
          <a:xfrm xmlns:a="http://schemas.openxmlformats.org/drawingml/2006/main">
            <a:off x="990600" y="2838450"/>
            <a:ext cx="238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4F5661"/>
                </a:solidFill>
              </a:defRPr>
            </a:pPr>
            <a:r>
              <a:rPr sz="1425">
                <a:solidFill>
                  <a:srgbClr val="4F5661"/>
                </a:solidFill>
              </a:rPr>
              <a:t>opponent-blind baseline</a:t>
            </a:r>
          </a:p>
        </p:txBody>
      </p:sp>
      <p:sp>
        <p:nvSpPr>
          <p:cNvPr id="8" name="">
            <a:extLst xmlns:a="http://schemas.openxmlformats.org/drawingml/2006/main">
              <a:ext uri="{FF2B5EF4-FFF2-40B4-BE49-F238E27FC236}">
                <a16:creationId xmlns:a16="http://schemas.microsoft.com/office/drawing/2014/main" id="{B176061D-FE99-4CFA-9376-16FAFD84F46B}"/>
              </a:ext>
            </a:extLst>
          </p:cNvPr>
          <p:cNvSpPr>
            <a:spLocks xmlns:a="http://schemas.openxmlformats.org/drawingml/2006/main" noGrp="1"/>
          </p:cNvSpPr>
          <p:nvPr/>
        </p:nvSpPr>
        <p:spPr>
          <a:xfrm xmlns:a="http://schemas.openxmlformats.org/drawingml/2006/main">
            <a:off x="4838700" y="2171700"/>
            <a:ext cx="238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4200" b="1">
                <a:solidFill>
                  <a:srgbClr val="0A0A0A"/>
                </a:solidFill>
              </a:defRPr>
            </a:pPr>
            <a:r>
              <a:rPr sz="4200" b="1">
                <a:solidFill>
                  <a:srgbClr val="0A0A0A"/>
                </a:solidFill>
              </a:rPr>
              <a:t>2.56</a:t>
            </a:r>
          </a:p>
        </p:txBody>
      </p:sp>
      <p:sp>
        <p:nvSpPr>
          <p:cNvPr id="9" name="">
            <a:extLst xmlns:a="http://schemas.openxmlformats.org/drawingml/2006/main">
              <a:ext uri="{FF2B5EF4-FFF2-40B4-BE49-F238E27FC236}">
                <a16:creationId xmlns:a16="http://schemas.microsoft.com/office/drawing/2014/main" id="{E62CBC45-7801-4446-98EB-4B1A734819D3}"/>
              </a:ext>
            </a:extLst>
          </p:cNvPr>
          <p:cNvSpPr>
            <a:spLocks xmlns:a="http://schemas.openxmlformats.org/drawingml/2006/main" noGrp="1"/>
          </p:cNvSpPr>
          <p:nvPr/>
        </p:nvSpPr>
        <p:spPr>
          <a:xfrm xmlns:a="http://schemas.openxmlformats.org/drawingml/2006/main">
            <a:off x="4838700" y="2838450"/>
            <a:ext cx="238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4F5661"/>
                </a:solidFill>
              </a:defRPr>
            </a:pPr>
            <a:r>
              <a:rPr sz="1425">
                <a:solidFill>
                  <a:srgbClr val="4F5661"/>
                </a:solidFill>
              </a:rPr>
              <a:t>hard intent inferred at k=8</a:t>
            </a:r>
          </a:p>
        </p:txBody>
      </p:sp>
      <p:sp>
        <p:nvSpPr>
          <p:cNvPr id="10" name="">
            <a:extLst xmlns:a="http://schemas.openxmlformats.org/drawingml/2006/main">
              <a:ext uri="{FF2B5EF4-FFF2-40B4-BE49-F238E27FC236}">
                <a16:creationId xmlns:a16="http://schemas.microsoft.com/office/drawing/2014/main" id="{8ABC439D-68E9-4D95-BB4D-8CC3D0EB8A90}"/>
              </a:ext>
            </a:extLst>
          </p:cNvPr>
          <p:cNvSpPr>
            <a:spLocks xmlns:a="http://schemas.openxmlformats.org/drawingml/2006/main" noGrp="1"/>
          </p:cNvSpPr>
          <p:nvPr/>
        </p:nvSpPr>
        <p:spPr>
          <a:xfrm xmlns:a="http://schemas.openxmlformats.org/drawingml/2006/main">
            <a:off x="8686800" y="2171700"/>
            <a:ext cx="238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4200" b="1">
                <a:solidFill>
                  <a:srgbClr val="C84C2A"/>
                </a:solidFill>
              </a:defRPr>
            </a:pPr>
            <a:r>
              <a:rPr sz="4200" b="1">
                <a:solidFill>
                  <a:srgbClr val="C84C2A"/>
                </a:solidFill>
              </a:rPr>
              <a:t>1.42</a:t>
            </a:r>
          </a:p>
        </p:txBody>
      </p:sp>
      <p:sp>
        <p:nvSpPr>
          <p:cNvPr id="11" name="">
            <a:extLst xmlns:a="http://schemas.openxmlformats.org/drawingml/2006/main">
              <a:ext uri="{FF2B5EF4-FFF2-40B4-BE49-F238E27FC236}">
                <a16:creationId xmlns:a16="http://schemas.microsoft.com/office/drawing/2014/main" id="{C63C7FAB-8E48-49A4-A26C-E71E56E04690}"/>
              </a:ext>
            </a:extLst>
          </p:cNvPr>
          <p:cNvSpPr>
            <a:spLocks xmlns:a="http://schemas.openxmlformats.org/drawingml/2006/main" noGrp="1"/>
          </p:cNvSpPr>
          <p:nvPr/>
        </p:nvSpPr>
        <p:spPr>
          <a:xfrm xmlns:a="http://schemas.openxmlformats.org/drawingml/2006/main">
            <a:off x="8686800" y="2838450"/>
            <a:ext cx="238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4F5661"/>
                </a:solidFill>
              </a:defRPr>
            </a:pPr>
            <a:r>
              <a:rPr sz="1425">
                <a:solidFill>
                  <a:srgbClr val="4F5661"/>
                </a:solidFill>
              </a:rPr>
              <a:t>confident wrong intent</a:t>
            </a:r>
          </a:p>
        </p:txBody>
      </p:sp>
      <p:sp>
        <p:nvSpPr>
          <p:cNvPr id="12" name="">
            <a:extLst xmlns:a="http://schemas.openxmlformats.org/drawingml/2006/main">
              <a:ext uri="{FF2B5EF4-FFF2-40B4-BE49-F238E27FC236}">
                <a16:creationId xmlns:a16="http://schemas.microsoft.com/office/drawing/2014/main" id="{6091DDFD-DE94-4E18-800B-C41D0DAC941D}"/>
              </a:ext>
            </a:extLst>
          </p:cNvPr>
          <p:cNvSpPr>
            <a:spLocks xmlns:a="http://schemas.openxmlformats.org/drawingml/2006/main" noGrp="1"/>
          </p:cNvSpPr>
          <p:nvPr/>
        </p:nvSpPr>
        <p:spPr>
          <a:xfrm xmlns:a="http://schemas.openxmlformats.org/drawingml/2006/main">
            <a:off x="819150" y="4914900"/>
            <a:ext cx="66675" cy="704850"/>
          </a:xfrm>
          <a:prstGeom xmlns:a="http://schemas.openxmlformats.org/drawingml/2006/main" prst="rect">
            <a:avLst/>
          </a:prstGeom>
          <a:solidFill xmlns:a="http://schemas.openxmlformats.org/drawingml/2006/main">
            <a:srgbClr val="C84C2A"/>
          </a:solidFill>
          <a:ln xmlns:a="http://schemas.openxmlformats.org/drawingml/2006/main" w="0">
            <a:solidFill>
              <a:srgbClr val="C84C2A"/>
            </a:solidFill>
            <a:prstDash val="solid"/>
          </a:ln>
        </p:spPr>
      </p:sp>
      <p:sp>
        <p:nvSpPr>
          <p:cNvPr id="13" name="">
            <a:extLst xmlns:a="http://schemas.openxmlformats.org/drawingml/2006/main">
              <a:ext uri="{FF2B5EF4-FFF2-40B4-BE49-F238E27FC236}">
                <a16:creationId xmlns:a16="http://schemas.microsoft.com/office/drawing/2014/main" id="{BC16AE0E-CB14-4C42-AA9F-549DB3FA955A}"/>
              </a:ext>
            </a:extLst>
          </p:cNvPr>
          <p:cNvSpPr>
            <a:spLocks xmlns:a="http://schemas.openxmlformats.org/drawingml/2006/main" noGrp="1"/>
          </p:cNvSpPr>
          <p:nvPr/>
        </p:nvSpPr>
        <p:spPr>
          <a:xfrm xmlns:a="http://schemas.openxmlformats.org/drawingml/2006/main">
            <a:off x="1066800" y="4838700"/>
            <a:ext cx="8763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0A0A0A"/>
                </a:solidFill>
              </a:defRPr>
            </a:pPr>
            <a:r>
              <a:rPr sz="2025" b="1">
                <a:solidFill>
                  <a:srgbClr val="0A0A0A"/>
                </a:solidFill>
              </a:rPr>
              <a:t>A point estimate throws away uncertainty. When the estimate is wrong, the predators move toward the wrong interception.</a:t>
            </a:r>
          </a:p>
        </p:txBody>
      </p:sp>
      <p:sp>
        <p:nvSpPr>
          <p:cNvPr id="14" name="">
            <a:extLst xmlns:a="http://schemas.openxmlformats.org/drawingml/2006/main">
              <a:ext uri="{FF2B5EF4-FFF2-40B4-BE49-F238E27FC236}">
                <a16:creationId xmlns:a16="http://schemas.microsoft.com/office/drawing/2014/main" id="{A37B081E-8850-4C17-966F-75969A67F80A}"/>
              </a:ext>
            </a:extLst>
          </p:cNvPr>
          <p:cNvSpPr>
            <a:spLocks xmlns:a="http://schemas.openxmlformats.org/drawingml/2006/main" noGrp="1"/>
          </p:cNvSpPr>
          <p:nvPr/>
        </p:nvSpPr>
        <p:spPr>
          <a:xfrm xmlns:a="http://schemas.openxmlformats.org/drawingml/2006/main">
            <a:off x="11277600" y="62674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a:solidFill>
                  <a:srgbClr val="4F5661"/>
                </a:solidFill>
              </a:defRPr>
            </a:pPr>
            <a:r>
              <a:rPr sz="1050">
                <a:solidFill>
                  <a:srgbClr val="4F5661"/>
                </a:solidFill>
              </a:rPr>
              <a:t>05</a:t>
            </a:r>
          </a:p>
        </p:txBody>
      </p:sp>
    </p:spTree>
    <p:extLst>
      <p:ext uri="{BB962C8B-B14F-4D97-AF65-F5344CB8AC3E}">
        <p14:creationId xmlns:p14="http://schemas.microsoft.com/office/powerpoint/2010/main" val="185924552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57DFF60-88CA-4BAA-8E8E-7344EC1AE9FE}"/>
              </a:ext>
            </a:extLst>
          </p:cNvPr>
          <p:cNvSpPr>
            <a:spLocks xmlns:a="http://schemas.openxmlformats.org/drawingml/2006/main" noGrp="1"/>
          </p:cNvSpPr>
          <p:nvPr/>
        </p:nvSpPr>
        <p:spPr>
          <a:xfrm xmlns:a="http://schemas.openxmlformats.org/drawingml/2006/main">
            <a:off x="533400" y="323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4F5661"/>
                </a:solidFill>
              </a:defRPr>
            </a:pPr>
            <a:r>
              <a:rPr sz="975" b="1">
                <a:solidFill>
                  <a:srgbClr val="4F5661"/>
                </a:solidFill>
              </a:rPr>
              <a:t>PART 2</a:t>
            </a:r>
          </a:p>
        </p:txBody>
      </p:sp>
      <p:sp>
        <p:nvSpPr>
          <p:cNvPr id="2" name="">
            <a:extLst xmlns:a="http://schemas.openxmlformats.org/drawingml/2006/main">
              <a:ext uri="{FF2B5EF4-FFF2-40B4-BE49-F238E27FC236}">
                <a16:creationId xmlns:a16="http://schemas.microsoft.com/office/drawing/2014/main" id="{02FC33F2-5FD3-405B-87BF-B3A9268AA100}"/>
              </a:ext>
            </a:extLst>
          </p:cNvPr>
          <p:cNvSpPr>
            <a:spLocks xmlns:a="http://schemas.openxmlformats.org/drawingml/2006/main" noGrp="1"/>
          </p:cNvSpPr>
          <p:nvPr/>
        </p:nvSpPr>
        <p:spPr>
          <a:xfrm xmlns:a="http://schemas.openxmlformats.org/drawingml/2006/main">
            <a:off x="533400" y="590550"/>
            <a:ext cx="10287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0A0A0A"/>
                </a:solidFill>
              </a:defRPr>
            </a:pPr>
            <a:r>
              <a:rPr sz="3150" b="1">
                <a:solidFill>
                  <a:srgbClr val="0A0A0A"/>
                </a:solidFill>
              </a:rPr>
              <a:t>The planner gets value from the whole belief</a:t>
            </a:r>
          </a:p>
        </p:txBody>
      </p:sp>
      <p:sp>
        <p:nvSpPr>
          <p:cNvPr id="3" name="">
            <a:extLst xmlns:a="http://schemas.openxmlformats.org/drawingml/2006/main">
              <a:ext uri="{FF2B5EF4-FFF2-40B4-BE49-F238E27FC236}">
                <a16:creationId xmlns:a16="http://schemas.microsoft.com/office/drawing/2014/main" id="{FF32EF74-A0A6-46DD-95B6-DBA0364BD094}"/>
              </a:ext>
            </a:extLst>
          </p:cNvPr>
          <p:cNvSpPr>
            <a:spLocks xmlns:a="http://schemas.openxmlformats.org/drawingml/2006/main" noGrp="1"/>
          </p:cNvSpPr>
          <p:nvPr/>
        </p:nvSpPr>
        <p:spPr>
          <a:xfrm xmlns:a="http://schemas.openxmlformats.org/drawingml/2006/main">
            <a:off x="11277600" y="62674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a:solidFill>
                  <a:srgbClr val="4F5661"/>
                </a:solidFill>
              </a:defRPr>
            </a:pPr>
            <a:r>
              <a:rPr sz="1050">
                <a:solidFill>
                  <a:srgbClr val="4F5661"/>
                </a:solidFill>
              </a:rPr>
              <a:t>06</a:t>
            </a:r>
          </a:p>
        </p:txBody>
      </p:sp>
      <p:sp>
        <p:nvSpPr>
          <p:cNvPr id="4" name="">
            <a:extLst xmlns:a="http://schemas.openxmlformats.org/drawingml/2006/main">
              <a:ext uri="{FF2B5EF4-FFF2-40B4-BE49-F238E27FC236}">
                <a16:creationId xmlns:a16="http://schemas.microsoft.com/office/drawing/2014/main" id="{C8B627D1-9814-4C3B-8D8A-E06A8BAEFCF1}"/>
              </a:ext>
            </a:extLst>
          </p:cNvPr>
          <p:cNvSpPr>
            <a:spLocks xmlns:a="http://schemas.openxmlformats.org/drawingml/2006/main" noGrp="1"/>
          </p:cNvSpPr>
          <p:nvPr/>
        </p:nvSpPr>
        <p:spPr>
          <a:xfrm xmlns:a="http://schemas.openxmlformats.org/drawingml/2006/main">
            <a:off x="533400" y="1581150"/>
            <a:ext cx="6572250" cy="4114800"/>
          </a:xfrm>
          <a:prstGeom xmlns:a="http://schemas.openxmlformats.org/drawingml/2006/main" prst="rect">
            <a:avLst/>
          </a:prstGeom>
          <a:solidFill xmlns:a="http://schemas.openxmlformats.org/drawingml/2006/main">
            <a:srgbClr val="F4F5F7"/>
          </a:solidFill>
          <a:ln xmlns:a="http://schemas.openxmlformats.org/drawingml/2006/main" w="0">
            <a:solidFill>
              <a:srgbClr val="F4F5F7"/>
            </a:solid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de016b5a6144926"/>
          <a:stretch xmlns:a="http://schemas.openxmlformats.org/drawingml/2006/main"/>
        </p:blipFill>
        <p:spPr>
          <a:xfrm xmlns:a="http://schemas.openxmlformats.org/drawingml/2006/main">
            <a:off x="685800" y="1847850"/>
            <a:ext cx="6267450" cy="35814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66AE27D-2076-4FC4-91D7-338F6291A153}"/>
              </a:ext>
            </a:extLst>
          </p:cNvPr>
          <p:cNvSpPr>
            <a:spLocks xmlns:a="http://schemas.openxmlformats.org/drawingml/2006/main" noGrp="1"/>
          </p:cNvSpPr>
          <p:nvPr/>
        </p:nvSpPr>
        <p:spPr>
          <a:xfrm xmlns:a="http://schemas.openxmlformats.org/drawingml/2006/main">
            <a:off x="7524750" y="1752600"/>
            <a:ext cx="57150" cy="2095500"/>
          </a:xfrm>
          <a:prstGeom xmlns:a="http://schemas.openxmlformats.org/drawingml/2006/main" prst="rect">
            <a:avLst/>
          </a:prstGeom>
          <a:solidFill xmlns:a="http://schemas.openxmlformats.org/drawingml/2006/main">
            <a:srgbClr val="0D6E7A"/>
          </a:solidFill>
          <a:ln xmlns:a="http://schemas.openxmlformats.org/drawingml/2006/main" w="0">
            <a:solidFill>
              <a:srgbClr val="0D6E7A"/>
            </a:solidFill>
            <a:prstDash val="solid"/>
          </a:ln>
        </p:spPr>
      </p:sp>
      <p:sp>
        <p:nvSpPr>
          <p:cNvPr id="7" name="">
            <a:extLst xmlns:a="http://schemas.openxmlformats.org/drawingml/2006/main">
              <a:ext uri="{FF2B5EF4-FFF2-40B4-BE49-F238E27FC236}">
                <a16:creationId xmlns:a16="http://schemas.microsoft.com/office/drawing/2014/main" id="{ADBCAD13-A404-4467-9272-A9DE3343F8E9}"/>
              </a:ext>
            </a:extLst>
          </p:cNvPr>
          <p:cNvSpPr>
            <a:spLocks xmlns:a="http://schemas.openxmlformats.org/drawingml/2006/main" noGrp="1"/>
          </p:cNvSpPr>
          <p:nvPr/>
        </p:nvSpPr>
        <p:spPr>
          <a:xfrm xmlns:a="http://schemas.openxmlformats.org/drawingml/2006/main">
            <a:off x="7734300" y="1733550"/>
            <a:ext cx="34290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4F5661"/>
                </a:solidFill>
              </a:defRPr>
            </a:pPr>
            <a:r>
              <a:rPr sz="1650">
                <a:solidFill>
                  <a:srgbClr val="4F5661"/>
                </a:solidFill>
              </a:rPr>
              <a:t>- Flat-belief planner: 3.07 captures/episode.</a:t>
            </a:r>
          </a:p>
          <a:p xmlns:a="http://schemas.openxmlformats.org/drawingml/2006/main">
            <a:pPr>
              <a:defRPr sz="1650">
                <a:solidFill>
                  <a:srgbClr val="4F5661"/>
                </a:solidFill>
              </a:defRPr>
            </a:pPr>
            <a:r>
              <a:rPr sz="1650">
                <a:solidFill>
                  <a:srgbClr val="4F5661"/>
                </a:solidFill>
              </a:rPr>
              <a:t>- Reactive oracle with true intent: 4.05.</a:t>
            </a:r>
          </a:p>
          <a:p xmlns:a="http://schemas.openxmlformats.org/drawingml/2006/main">
            <a:pPr>
              <a:defRPr sz="1650">
                <a:solidFill>
                  <a:srgbClr val="4F5661"/>
                </a:solidFill>
              </a:defRPr>
            </a:pPr>
            <a:r>
              <a:rPr sz="1650">
                <a:solidFill>
                  <a:srgbClr val="4F5661"/>
                </a:solidFill>
              </a:rPr>
              <a:t>- Planner with inferred belief: 4.31.</a:t>
            </a:r>
          </a:p>
        </p:txBody>
      </p:sp>
      <p:sp>
        <p:nvSpPr>
          <p:cNvPr id="8" name="">
            <a:extLst xmlns:a="http://schemas.openxmlformats.org/drawingml/2006/main">
              <a:ext uri="{FF2B5EF4-FFF2-40B4-BE49-F238E27FC236}">
                <a16:creationId xmlns:a16="http://schemas.microsoft.com/office/drawing/2014/main" id="{A82FCF55-8BDE-4734-B5BA-69821DEF9D6D}"/>
              </a:ext>
            </a:extLst>
          </p:cNvPr>
          <p:cNvSpPr>
            <a:spLocks xmlns:a="http://schemas.openxmlformats.org/drawingml/2006/main" noGrp="1"/>
          </p:cNvSpPr>
          <p:nvPr/>
        </p:nvSpPr>
        <p:spPr>
          <a:xfrm xmlns:a="http://schemas.openxmlformats.org/drawingml/2006/main">
            <a:off x="7524750" y="4476750"/>
            <a:ext cx="37528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0A0A0A"/>
                </a:solidFill>
              </a:defRPr>
            </a:pPr>
            <a:r>
              <a:rPr sz="1875" b="1">
                <a:solidFill>
                  <a:srgbClr val="0A0A0A"/>
                </a:solidFill>
              </a:rPr>
              <a:t>The lift comes from inference plus lookahead, measured against a flat-belief ablation.</a:t>
            </a:r>
          </a:p>
        </p:txBody>
      </p:sp>
    </p:spTree>
    <p:extLst>
      <p:ext uri="{BB962C8B-B14F-4D97-AF65-F5344CB8AC3E}">
        <p14:creationId xmlns:p14="http://schemas.microsoft.com/office/powerpoint/2010/main" val="212662998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6C592FD-BE74-4D42-A458-576E7EA66824}"/>
              </a:ext>
            </a:extLst>
          </p:cNvPr>
          <p:cNvSpPr>
            <a:spLocks xmlns:a="http://schemas.openxmlformats.org/drawingml/2006/main" noGrp="1"/>
          </p:cNvSpPr>
          <p:nvPr/>
        </p:nvSpPr>
        <p:spPr>
          <a:xfrm xmlns:a="http://schemas.openxmlformats.org/drawingml/2006/main">
            <a:off x="533400" y="323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4F5661"/>
                </a:solidFill>
              </a:defRPr>
            </a:pPr>
            <a:r>
              <a:rPr sz="975" b="1">
                <a:solidFill>
                  <a:srgbClr val="4F5661"/>
                </a:solidFill>
              </a:rPr>
              <a:t>INTERPRETATION</a:t>
            </a:r>
          </a:p>
        </p:txBody>
      </p:sp>
      <p:sp>
        <p:nvSpPr>
          <p:cNvPr id="2" name="">
            <a:extLst xmlns:a="http://schemas.openxmlformats.org/drawingml/2006/main">
              <a:ext uri="{FF2B5EF4-FFF2-40B4-BE49-F238E27FC236}">
                <a16:creationId xmlns:a16="http://schemas.microsoft.com/office/drawing/2014/main" id="{9B1EBAEF-5F1C-495B-8571-B9DB8967523A}"/>
              </a:ext>
            </a:extLst>
          </p:cNvPr>
          <p:cNvSpPr>
            <a:spLocks xmlns:a="http://schemas.openxmlformats.org/drawingml/2006/main" noGrp="1"/>
          </p:cNvSpPr>
          <p:nvPr/>
        </p:nvSpPr>
        <p:spPr>
          <a:xfrm xmlns:a="http://schemas.openxmlformats.org/drawingml/2006/main">
            <a:off x="533400" y="590550"/>
            <a:ext cx="10287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0A0A0A"/>
                </a:solidFill>
              </a:defRPr>
            </a:pPr>
            <a:r>
              <a:rPr sz="3150" b="1">
                <a:solidFill>
                  <a:srgbClr val="0A0A0A"/>
                </a:solidFill>
              </a:rPr>
              <a:t>The oracle comparison needs precise wording</a:t>
            </a:r>
          </a:p>
        </p:txBody>
      </p:sp>
      <p:sp>
        <p:nvSpPr>
          <p:cNvPr id="3" name="">
            <a:extLst xmlns:a="http://schemas.openxmlformats.org/drawingml/2006/main">
              <a:ext uri="{FF2B5EF4-FFF2-40B4-BE49-F238E27FC236}">
                <a16:creationId xmlns:a16="http://schemas.microsoft.com/office/drawing/2014/main" id="{33AE94C1-20A9-4F4B-AB8A-4AAB1E9F7A3C}"/>
              </a:ext>
            </a:extLst>
          </p:cNvPr>
          <p:cNvSpPr>
            <a:spLocks xmlns:a="http://schemas.openxmlformats.org/drawingml/2006/main" noGrp="1"/>
          </p:cNvSpPr>
          <p:nvPr/>
        </p:nvSpPr>
        <p:spPr>
          <a:xfrm xmlns:a="http://schemas.openxmlformats.org/drawingml/2006/main">
            <a:off x="685800" y="1847850"/>
            <a:ext cx="800100" cy="57150"/>
          </a:xfrm>
          <a:prstGeom xmlns:a="http://schemas.openxmlformats.org/drawingml/2006/main" prst="rect">
            <a:avLst/>
          </a:prstGeom>
          <a:solidFill xmlns:a="http://schemas.openxmlformats.org/drawingml/2006/main">
            <a:srgbClr val="0A0A0A"/>
          </a:solidFill>
          <a:ln xmlns:a="http://schemas.openxmlformats.org/drawingml/2006/main" w="0">
            <a:solidFill>
              <a:srgbClr val="0A0A0A"/>
            </a:solidFill>
            <a:prstDash val="solid"/>
          </a:ln>
        </p:spPr>
      </p:sp>
      <p:sp>
        <p:nvSpPr>
          <p:cNvPr id="4" name="">
            <a:extLst xmlns:a="http://schemas.openxmlformats.org/drawingml/2006/main">
              <a:ext uri="{FF2B5EF4-FFF2-40B4-BE49-F238E27FC236}">
                <a16:creationId xmlns:a16="http://schemas.microsoft.com/office/drawing/2014/main" id="{F14F6E8D-AEE3-4BE8-BD18-CE8D09270590}"/>
              </a:ext>
            </a:extLst>
          </p:cNvPr>
          <p:cNvSpPr>
            <a:spLocks xmlns:a="http://schemas.openxmlformats.org/drawingml/2006/main" noGrp="1"/>
          </p:cNvSpPr>
          <p:nvPr/>
        </p:nvSpPr>
        <p:spPr>
          <a:xfrm xmlns:a="http://schemas.openxmlformats.org/drawingml/2006/main">
            <a:off x="685800" y="2114550"/>
            <a:ext cx="2914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0A0A0A"/>
                </a:solidFill>
              </a:defRPr>
            </a:pPr>
            <a:r>
              <a:rPr sz="1875" b="1">
                <a:solidFill>
                  <a:srgbClr val="0A0A0A"/>
                </a:solidFill>
              </a:rPr>
              <a:t>Oracle policy</a:t>
            </a:r>
          </a:p>
        </p:txBody>
      </p:sp>
      <p:sp>
        <p:nvSpPr>
          <p:cNvPr id="5" name="">
            <a:extLst xmlns:a="http://schemas.openxmlformats.org/drawingml/2006/main">
              <a:ext uri="{FF2B5EF4-FFF2-40B4-BE49-F238E27FC236}">
                <a16:creationId xmlns:a16="http://schemas.microsoft.com/office/drawing/2014/main" id="{5ED0477E-9B78-4647-B427-30D1B9D57717}"/>
              </a:ext>
            </a:extLst>
          </p:cNvPr>
          <p:cNvSpPr>
            <a:spLocks xmlns:a="http://schemas.openxmlformats.org/drawingml/2006/main" noGrp="1"/>
          </p:cNvSpPr>
          <p:nvPr/>
        </p:nvSpPr>
        <p:spPr>
          <a:xfrm xmlns:a="http://schemas.openxmlformats.org/drawingml/2006/main">
            <a:off x="685800" y="2667000"/>
            <a:ext cx="29146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4F5661"/>
                </a:solidFill>
              </a:defRPr>
            </a:pPr>
            <a:r>
              <a:rPr sz="1650">
                <a:solidFill>
                  <a:srgbClr val="4F5661"/>
                </a:solidFill>
              </a:rPr>
              <a:t>Receives the true intent, then reacts with the trained policy. It has perfect intent information.</a:t>
            </a:r>
          </a:p>
        </p:txBody>
      </p:sp>
      <p:sp>
        <p:nvSpPr>
          <p:cNvPr id="6" name="">
            <a:extLst xmlns:a="http://schemas.openxmlformats.org/drawingml/2006/main">
              <a:ext uri="{FF2B5EF4-FFF2-40B4-BE49-F238E27FC236}">
                <a16:creationId xmlns:a16="http://schemas.microsoft.com/office/drawing/2014/main" id="{0D8D7C8D-49E8-4C25-BD72-FAC21DBF7717}"/>
              </a:ext>
            </a:extLst>
          </p:cNvPr>
          <p:cNvSpPr>
            <a:spLocks xmlns:a="http://schemas.openxmlformats.org/drawingml/2006/main" noGrp="1"/>
          </p:cNvSpPr>
          <p:nvPr/>
        </p:nvSpPr>
        <p:spPr>
          <a:xfrm xmlns:a="http://schemas.openxmlformats.org/drawingml/2006/main">
            <a:off x="4648200" y="1847850"/>
            <a:ext cx="800100" cy="57150"/>
          </a:xfrm>
          <a:prstGeom xmlns:a="http://schemas.openxmlformats.org/drawingml/2006/main" prst="rect">
            <a:avLst/>
          </a:prstGeom>
          <a:solidFill xmlns:a="http://schemas.openxmlformats.org/drawingml/2006/main">
            <a:srgbClr val="0D6E7A"/>
          </a:solidFill>
          <a:ln xmlns:a="http://schemas.openxmlformats.org/drawingml/2006/main" w="0">
            <a:solidFill>
              <a:srgbClr val="0D6E7A"/>
            </a:solidFill>
            <a:prstDash val="solid"/>
          </a:ln>
        </p:spPr>
      </p:sp>
      <p:sp>
        <p:nvSpPr>
          <p:cNvPr id="7" name="">
            <a:extLst xmlns:a="http://schemas.openxmlformats.org/drawingml/2006/main">
              <a:ext uri="{FF2B5EF4-FFF2-40B4-BE49-F238E27FC236}">
                <a16:creationId xmlns:a16="http://schemas.microsoft.com/office/drawing/2014/main" id="{BB32E10F-2804-4AA1-BA44-A737ACE86B76}"/>
              </a:ext>
            </a:extLst>
          </p:cNvPr>
          <p:cNvSpPr>
            <a:spLocks xmlns:a="http://schemas.openxmlformats.org/drawingml/2006/main" noGrp="1"/>
          </p:cNvSpPr>
          <p:nvPr/>
        </p:nvSpPr>
        <p:spPr>
          <a:xfrm xmlns:a="http://schemas.openxmlformats.org/drawingml/2006/main">
            <a:off x="4648200" y="2114550"/>
            <a:ext cx="2914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0A0A0A"/>
                </a:solidFill>
              </a:defRPr>
            </a:pPr>
            <a:r>
              <a:rPr sz="1875" b="1">
                <a:solidFill>
                  <a:srgbClr val="0A0A0A"/>
                </a:solidFill>
              </a:rPr>
              <a:t>Belief planner</a:t>
            </a:r>
          </a:p>
        </p:txBody>
      </p:sp>
      <p:sp>
        <p:nvSpPr>
          <p:cNvPr id="8" name="">
            <a:extLst xmlns:a="http://schemas.openxmlformats.org/drawingml/2006/main">
              <a:ext uri="{FF2B5EF4-FFF2-40B4-BE49-F238E27FC236}">
                <a16:creationId xmlns:a16="http://schemas.microsoft.com/office/drawing/2014/main" id="{E0146389-B14C-4E47-B5DE-A7A070D0F93C}"/>
              </a:ext>
            </a:extLst>
          </p:cNvPr>
          <p:cNvSpPr>
            <a:spLocks xmlns:a="http://schemas.openxmlformats.org/drawingml/2006/main" noGrp="1"/>
          </p:cNvSpPr>
          <p:nvPr/>
        </p:nvSpPr>
        <p:spPr>
          <a:xfrm xmlns:a="http://schemas.openxmlformats.org/drawingml/2006/main">
            <a:off x="4648200" y="2667000"/>
            <a:ext cx="29146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4F5661"/>
                </a:solidFill>
              </a:defRPr>
            </a:pPr>
            <a:r>
              <a:rPr sz="1650">
                <a:solidFill>
                  <a:srgbClr val="4F5661"/>
                </a:solidFill>
              </a:rPr>
              <a:t>Receives an inferred distribution, then searches short futures with simulator dynamics.</a:t>
            </a:r>
          </a:p>
        </p:txBody>
      </p:sp>
      <p:sp>
        <p:nvSpPr>
          <p:cNvPr id="9" name="">
            <a:extLst xmlns:a="http://schemas.openxmlformats.org/drawingml/2006/main">
              <a:ext uri="{FF2B5EF4-FFF2-40B4-BE49-F238E27FC236}">
                <a16:creationId xmlns:a16="http://schemas.microsoft.com/office/drawing/2014/main" id="{1ECE68E4-7D1D-4F70-96AB-3BD983B3AD7C}"/>
              </a:ext>
            </a:extLst>
          </p:cNvPr>
          <p:cNvSpPr>
            <a:spLocks xmlns:a="http://schemas.openxmlformats.org/drawingml/2006/main" noGrp="1"/>
          </p:cNvSpPr>
          <p:nvPr/>
        </p:nvSpPr>
        <p:spPr>
          <a:xfrm xmlns:a="http://schemas.openxmlformats.org/drawingml/2006/main">
            <a:off x="8610600" y="1847850"/>
            <a:ext cx="800100" cy="57150"/>
          </a:xfrm>
          <a:prstGeom xmlns:a="http://schemas.openxmlformats.org/drawingml/2006/main" prst="rect">
            <a:avLst/>
          </a:prstGeom>
          <a:solidFill xmlns:a="http://schemas.openxmlformats.org/drawingml/2006/main">
            <a:srgbClr val="C84C2A"/>
          </a:solidFill>
          <a:ln xmlns:a="http://schemas.openxmlformats.org/drawingml/2006/main" w="0">
            <a:solidFill>
              <a:srgbClr val="C84C2A"/>
            </a:solidFill>
            <a:prstDash val="solid"/>
          </a:ln>
        </p:spPr>
      </p:sp>
      <p:sp>
        <p:nvSpPr>
          <p:cNvPr id="10" name="">
            <a:extLst xmlns:a="http://schemas.openxmlformats.org/drawingml/2006/main">
              <a:ext uri="{FF2B5EF4-FFF2-40B4-BE49-F238E27FC236}">
                <a16:creationId xmlns:a16="http://schemas.microsoft.com/office/drawing/2014/main" id="{49EB4FA0-6935-43C4-AF77-1D3F243EB679}"/>
              </a:ext>
            </a:extLst>
          </p:cNvPr>
          <p:cNvSpPr>
            <a:spLocks xmlns:a="http://schemas.openxmlformats.org/drawingml/2006/main" noGrp="1"/>
          </p:cNvSpPr>
          <p:nvPr/>
        </p:nvSpPr>
        <p:spPr>
          <a:xfrm xmlns:a="http://schemas.openxmlformats.org/drawingml/2006/main">
            <a:off x="8610600" y="2114550"/>
            <a:ext cx="2914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0A0A0A"/>
                </a:solidFill>
              </a:defRPr>
            </a:pPr>
            <a:r>
              <a:rPr sz="1875" b="1">
                <a:solidFill>
                  <a:srgbClr val="0A0A0A"/>
                </a:solidFill>
              </a:rPr>
              <a:t>Reviewer line</a:t>
            </a:r>
          </a:p>
        </p:txBody>
      </p:sp>
      <p:sp>
        <p:nvSpPr>
          <p:cNvPr id="11" name="">
            <a:extLst xmlns:a="http://schemas.openxmlformats.org/drawingml/2006/main">
              <a:ext uri="{FF2B5EF4-FFF2-40B4-BE49-F238E27FC236}">
                <a16:creationId xmlns:a16="http://schemas.microsoft.com/office/drawing/2014/main" id="{70327D8B-C94D-4B13-ADEF-9A460E30D8E8}"/>
              </a:ext>
            </a:extLst>
          </p:cNvPr>
          <p:cNvSpPr>
            <a:spLocks xmlns:a="http://schemas.openxmlformats.org/drawingml/2006/main" noGrp="1"/>
          </p:cNvSpPr>
          <p:nvPr/>
        </p:nvSpPr>
        <p:spPr>
          <a:xfrm xmlns:a="http://schemas.openxmlformats.org/drawingml/2006/main">
            <a:off x="8610600" y="2667000"/>
            <a:ext cx="29146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4F5661"/>
                </a:solidFill>
              </a:defRPr>
            </a:pPr>
            <a:r>
              <a:rPr sz="1650">
                <a:solidFill>
                  <a:srgbClr val="4F5661"/>
                </a:solidFill>
              </a:rPr>
              <a:t>Say it exceeds a reactive oracle. An oracle planner remains the real ceiling experiment.</a:t>
            </a:r>
          </a:p>
        </p:txBody>
      </p:sp>
      <p:sp>
        <p:nvSpPr>
          <p:cNvPr id="12" name="">
            <a:extLst xmlns:a="http://schemas.openxmlformats.org/drawingml/2006/main">
              <a:ext uri="{FF2B5EF4-FFF2-40B4-BE49-F238E27FC236}">
                <a16:creationId xmlns:a16="http://schemas.microsoft.com/office/drawing/2014/main" id="{7A9AD3C4-1CCA-40D2-806B-A981B49C4E24}"/>
              </a:ext>
            </a:extLst>
          </p:cNvPr>
          <p:cNvSpPr>
            <a:spLocks xmlns:a="http://schemas.openxmlformats.org/drawingml/2006/main" noGrp="1"/>
          </p:cNvSpPr>
          <p:nvPr/>
        </p:nvSpPr>
        <p:spPr>
          <a:xfrm xmlns:a="http://schemas.openxmlformats.org/drawingml/2006/main">
            <a:off x="685800" y="5581650"/>
            <a:ext cx="895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0A0A0A"/>
                </a:solidFill>
              </a:defRPr>
            </a:pPr>
            <a:r>
              <a:rPr sz="1950" b="1">
                <a:solidFill>
                  <a:srgbClr val="0A0A0A"/>
                </a:solidFill>
              </a:rPr>
              <a:t>This wording preserves the strongest result without overstating the comparator.</a:t>
            </a:r>
          </a:p>
        </p:txBody>
      </p:sp>
      <p:sp>
        <p:nvSpPr>
          <p:cNvPr id="13" name="">
            <a:extLst xmlns:a="http://schemas.openxmlformats.org/drawingml/2006/main">
              <a:ext uri="{FF2B5EF4-FFF2-40B4-BE49-F238E27FC236}">
                <a16:creationId xmlns:a16="http://schemas.microsoft.com/office/drawing/2014/main" id="{B02AEBDF-F013-479E-9A3A-4077AD8F56E8}"/>
              </a:ext>
            </a:extLst>
          </p:cNvPr>
          <p:cNvSpPr>
            <a:spLocks xmlns:a="http://schemas.openxmlformats.org/drawingml/2006/main" noGrp="1"/>
          </p:cNvSpPr>
          <p:nvPr/>
        </p:nvSpPr>
        <p:spPr>
          <a:xfrm xmlns:a="http://schemas.openxmlformats.org/drawingml/2006/main">
            <a:off x="11277600" y="62674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a:solidFill>
                  <a:srgbClr val="4F5661"/>
                </a:solidFill>
              </a:defRPr>
            </a:pPr>
            <a:r>
              <a:rPr sz="1050">
                <a:solidFill>
                  <a:srgbClr val="4F5661"/>
                </a:solidFill>
              </a:rPr>
              <a:t>07</a:t>
            </a:r>
          </a:p>
        </p:txBody>
      </p:sp>
    </p:spTree>
    <p:extLst>
      <p:ext uri="{BB962C8B-B14F-4D97-AF65-F5344CB8AC3E}">
        <p14:creationId xmlns:p14="http://schemas.microsoft.com/office/powerpoint/2010/main" val="64885207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AB615D5-96A7-49BE-BB35-CD26291467F7}"/>
              </a:ext>
            </a:extLst>
          </p:cNvPr>
          <p:cNvSpPr>
            <a:spLocks xmlns:a="http://schemas.openxmlformats.org/drawingml/2006/main" noGrp="1"/>
          </p:cNvSpPr>
          <p:nvPr/>
        </p:nvSpPr>
        <p:spPr>
          <a:xfrm xmlns:a="http://schemas.openxmlformats.org/drawingml/2006/main">
            <a:off x="533400" y="323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4F5661"/>
                </a:solidFill>
              </a:defRPr>
            </a:pPr>
            <a:r>
              <a:rPr sz="975" b="1">
                <a:solidFill>
                  <a:srgbClr val="4F5661"/>
                </a:solidFill>
              </a:rPr>
              <a:t>REPRESENTATION</a:t>
            </a:r>
          </a:p>
        </p:txBody>
      </p:sp>
      <p:sp>
        <p:nvSpPr>
          <p:cNvPr id="2" name="">
            <a:extLst xmlns:a="http://schemas.openxmlformats.org/drawingml/2006/main">
              <a:ext uri="{FF2B5EF4-FFF2-40B4-BE49-F238E27FC236}">
                <a16:creationId xmlns:a16="http://schemas.microsoft.com/office/drawing/2014/main" id="{2A84A702-9F84-40AB-9299-CE6AB6A8616B}"/>
              </a:ext>
            </a:extLst>
          </p:cNvPr>
          <p:cNvSpPr>
            <a:spLocks xmlns:a="http://schemas.openxmlformats.org/drawingml/2006/main" noGrp="1"/>
          </p:cNvSpPr>
          <p:nvPr/>
        </p:nvSpPr>
        <p:spPr>
          <a:xfrm xmlns:a="http://schemas.openxmlformats.org/drawingml/2006/main">
            <a:off x="533400" y="590550"/>
            <a:ext cx="10287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0A0A0A"/>
                </a:solidFill>
              </a:defRPr>
            </a:pPr>
            <a:r>
              <a:rPr sz="3150" b="1">
                <a:solidFill>
                  <a:srgbClr val="0A0A0A"/>
                </a:solidFill>
              </a:rPr>
              <a:t>JEPA recovers the belief without intent labels</a:t>
            </a:r>
          </a:p>
        </p:txBody>
      </p:sp>
      <p:sp>
        <p:nvSpPr>
          <p:cNvPr id="3" name="">
            <a:extLst xmlns:a="http://schemas.openxmlformats.org/drawingml/2006/main">
              <a:ext uri="{FF2B5EF4-FFF2-40B4-BE49-F238E27FC236}">
                <a16:creationId xmlns:a16="http://schemas.microsoft.com/office/drawing/2014/main" id="{42ACBBDC-253D-42FE-A4B1-A43E59E2D503}"/>
              </a:ext>
            </a:extLst>
          </p:cNvPr>
          <p:cNvSpPr>
            <a:spLocks xmlns:a="http://schemas.openxmlformats.org/drawingml/2006/main" noGrp="1"/>
          </p:cNvSpPr>
          <p:nvPr/>
        </p:nvSpPr>
        <p:spPr>
          <a:xfrm xmlns:a="http://schemas.openxmlformats.org/drawingml/2006/main">
            <a:off x="11277600" y="62674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a:solidFill>
                  <a:srgbClr val="4F5661"/>
                </a:solidFill>
              </a:defRPr>
            </a:pPr>
            <a:r>
              <a:rPr sz="1050">
                <a:solidFill>
                  <a:srgbClr val="4F5661"/>
                </a:solidFill>
              </a:rPr>
              <a:t>08</a:t>
            </a:r>
          </a:p>
        </p:txBody>
      </p:sp>
      <p:sp>
        <p:nvSpPr>
          <p:cNvPr id="4" name="">
            <a:extLst xmlns:a="http://schemas.openxmlformats.org/drawingml/2006/main">
              <a:ext uri="{FF2B5EF4-FFF2-40B4-BE49-F238E27FC236}">
                <a16:creationId xmlns:a16="http://schemas.microsoft.com/office/drawing/2014/main" id="{AE795CA8-E513-495F-B7F3-A47AF0EF8E7F}"/>
              </a:ext>
            </a:extLst>
          </p:cNvPr>
          <p:cNvSpPr>
            <a:spLocks xmlns:a="http://schemas.openxmlformats.org/drawingml/2006/main" noGrp="1"/>
          </p:cNvSpPr>
          <p:nvPr/>
        </p:nvSpPr>
        <p:spPr>
          <a:xfrm xmlns:a="http://schemas.openxmlformats.org/drawingml/2006/main">
            <a:off x="533400" y="1581150"/>
            <a:ext cx="6743700" cy="4114800"/>
          </a:xfrm>
          <a:prstGeom xmlns:a="http://schemas.openxmlformats.org/drawingml/2006/main" prst="rect">
            <a:avLst/>
          </a:prstGeom>
          <a:solidFill xmlns:a="http://schemas.openxmlformats.org/drawingml/2006/main">
            <a:srgbClr val="F4F5F7"/>
          </a:solidFill>
          <a:ln xmlns:a="http://schemas.openxmlformats.org/drawingml/2006/main" w="0">
            <a:solidFill>
              <a:srgbClr val="F4F5F7"/>
            </a:solid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1ae4d801a9db4fb1"/>
          <a:stretch xmlns:a="http://schemas.openxmlformats.org/drawingml/2006/main"/>
        </p:blipFill>
        <p:spPr>
          <a:xfrm xmlns:a="http://schemas.openxmlformats.org/drawingml/2006/main">
            <a:off x="685800" y="2651252"/>
            <a:ext cx="6438900" cy="1974596"/>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83EF68C-EE41-437A-B994-3ABBE8D03D37}"/>
              </a:ext>
            </a:extLst>
          </p:cNvPr>
          <p:cNvSpPr>
            <a:spLocks xmlns:a="http://schemas.openxmlformats.org/drawingml/2006/main" noGrp="1"/>
          </p:cNvSpPr>
          <p:nvPr/>
        </p:nvSpPr>
        <p:spPr>
          <a:xfrm xmlns:a="http://schemas.openxmlformats.org/drawingml/2006/main">
            <a:off x="7696200" y="1752600"/>
            <a:ext cx="57150" cy="2266950"/>
          </a:xfrm>
          <a:prstGeom xmlns:a="http://schemas.openxmlformats.org/drawingml/2006/main" prst="rect">
            <a:avLst/>
          </a:prstGeom>
          <a:solidFill xmlns:a="http://schemas.openxmlformats.org/drawingml/2006/main">
            <a:srgbClr val="0D6E7A"/>
          </a:solidFill>
          <a:ln xmlns:a="http://schemas.openxmlformats.org/drawingml/2006/main" w="0">
            <a:solidFill>
              <a:srgbClr val="0D6E7A"/>
            </a:solidFill>
            <a:prstDash val="solid"/>
          </a:ln>
        </p:spPr>
      </p:sp>
      <p:sp>
        <p:nvSpPr>
          <p:cNvPr id="7" name="">
            <a:extLst xmlns:a="http://schemas.openxmlformats.org/drawingml/2006/main">
              <a:ext uri="{FF2B5EF4-FFF2-40B4-BE49-F238E27FC236}">
                <a16:creationId xmlns:a16="http://schemas.microsoft.com/office/drawing/2014/main" id="{5CB3DE5F-5792-45CB-84A5-F3EDAF273C5D}"/>
              </a:ext>
            </a:extLst>
          </p:cNvPr>
          <p:cNvSpPr>
            <a:spLocks xmlns:a="http://schemas.openxmlformats.org/drawingml/2006/main" noGrp="1"/>
          </p:cNvSpPr>
          <p:nvPr/>
        </p:nvSpPr>
        <p:spPr>
          <a:xfrm xmlns:a="http://schemas.openxmlformats.org/drawingml/2006/main">
            <a:off x="7905750" y="1733550"/>
            <a:ext cx="3219450"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4F5661"/>
                </a:solidFill>
              </a:defRPr>
            </a:pPr>
            <a:r>
              <a:rPr sz="1650">
                <a:solidFill>
                  <a:srgbClr val="4F5661"/>
                </a:solidFill>
              </a:rPr>
              <a:t>- Same trajectory data and the same 2-D latent size.</a:t>
            </a:r>
          </a:p>
          <a:p xmlns:a="http://schemas.openxmlformats.org/drawingml/2006/main">
            <a:pPr>
              <a:defRPr sz="1650">
                <a:solidFill>
                  <a:srgbClr val="4F5661"/>
                </a:solidFill>
              </a:defRPr>
            </a:pPr>
            <a:r>
              <a:rPr sz="1650">
                <a:solidFill>
                  <a:srgbClr val="4F5661"/>
                </a:solidFill>
              </a:rPr>
              <a:t>- JEPA probe accuracy: 0.89. VAE probe accuracy: 0.53.</a:t>
            </a:r>
          </a:p>
          <a:p xmlns:a="http://schemas.openxmlformats.org/drawingml/2006/main">
            <a:pPr>
              <a:defRPr sz="1650">
                <a:solidFill>
                  <a:srgbClr val="4F5661"/>
                </a:solidFill>
              </a:defRPr>
            </a:pPr>
            <a:r>
              <a:rPr sz="1650">
                <a:solidFill>
                  <a:srgbClr val="4F5661"/>
                </a:solidFill>
              </a:rPr>
              <a:t>- JEPA belief planner reaches 4.08 captures/episode.</a:t>
            </a:r>
          </a:p>
        </p:txBody>
      </p:sp>
      <p:sp>
        <p:nvSpPr>
          <p:cNvPr id="8" name="">
            <a:extLst xmlns:a="http://schemas.openxmlformats.org/drawingml/2006/main">
              <a:ext uri="{FF2B5EF4-FFF2-40B4-BE49-F238E27FC236}">
                <a16:creationId xmlns:a16="http://schemas.microsoft.com/office/drawing/2014/main" id="{27DAE3CD-A310-4672-A087-2E96C4DBE119}"/>
              </a:ext>
            </a:extLst>
          </p:cNvPr>
          <p:cNvSpPr>
            <a:spLocks xmlns:a="http://schemas.openxmlformats.org/drawingml/2006/main" noGrp="1"/>
          </p:cNvSpPr>
          <p:nvPr/>
        </p:nvSpPr>
        <p:spPr>
          <a:xfrm xmlns:a="http://schemas.openxmlformats.org/drawingml/2006/main">
            <a:off x="7696200" y="4724400"/>
            <a:ext cx="3524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0A0A0A"/>
                </a:solidFill>
              </a:defRPr>
            </a:pPr>
            <a:r>
              <a:rPr sz="1875" b="1">
                <a:solidFill>
                  <a:srgbClr val="0A0A0A"/>
                </a:solidFill>
              </a:rPr>
              <a:t>Predicting future behavior keeps the stable intent signal.</a:t>
            </a:r>
          </a:p>
        </p:txBody>
      </p:sp>
    </p:spTree>
    <p:extLst>
      <p:ext uri="{BB962C8B-B14F-4D97-AF65-F5344CB8AC3E}">
        <p14:creationId xmlns:p14="http://schemas.microsoft.com/office/powerpoint/2010/main" val="154139008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6EA7D74-8C6B-4DC8-863C-A4140350349E}"/>
              </a:ext>
            </a:extLst>
          </p:cNvPr>
          <p:cNvSpPr>
            <a:spLocks xmlns:a="http://schemas.openxmlformats.org/drawingml/2006/main" noGrp="1"/>
          </p:cNvSpPr>
          <p:nvPr/>
        </p:nvSpPr>
        <p:spPr>
          <a:xfrm xmlns:a="http://schemas.openxmlformats.org/drawingml/2006/main">
            <a:off x="533400" y="323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4F5661"/>
                </a:solidFill>
              </a:defRPr>
            </a:pPr>
            <a:r>
              <a:rPr sz="975" b="1">
                <a:solidFill>
                  <a:srgbClr val="4F5661"/>
                </a:solidFill>
              </a:rPr>
              <a:t>BOUNDARY</a:t>
            </a:r>
          </a:p>
        </p:txBody>
      </p:sp>
      <p:sp>
        <p:nvSpPr>
          <p:cNvPr id="2" name="">
            <a:extLst xmlns:a="http://schemas.openxmlformats.org/drawingml/2006/main">
              <a:ext uri="{FF2B5EF4-FFF2-40B4-BE49-F238E27FC236}">
                <a16:creationId xmlns:a16="http://schemas.microsoft.com/office/drawing/2014/main" id="{40C03E9F-B750-474E-9F6F-98B379FA39AD}"/>
              </a:ext>
            </a:extLst>
          </p:cNvPr>
          <p:cNvSpPr>
            <a:spLocks xmlns:a="http://schemas.openxmlformats.org/drawingml/2006/main" noGrp="1"/>
          </p:cNvSpPr>
          <p:nvPr/>
        </p:nvSpPr>
        <p:spPr>
          <a:xfrm xmlns:a="http://schemas.openxmlformats.org/drawingml/2006/main">
            <a:off x="533400" y="590550"/>
            <a:ext cx="10287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0A0A0A"/>
                </a:solidFill>
              </a:defRPr>
            </a:pPr>
            <a:r>
              <a:rPr sz="3150" b="1">
                <a:solidFill>
                  <a:srgbClr val="0A0A0A"/>
                </a:solidFill>
              </a:rPr>
              <a:t>Learned dynamics failed the control test</a:t>
            </a:r>
          </a:p>
        </p:txBody>
      </p:sp>
      <p:sp>
        <p:nvSpPr>
          <p:cNvPr id="3" name="">
            <a:extLst xmlns:a="http://schemas.openxmlformats.org/drawingml/2006/main">
              <a:ext uri="{FF2B5EF4-FFF2-40B4-BE49-F238E27FC236}">
                <a16:creationId xmlns:a16="http://schemas.microsoft.com/office/drawing/2014/main" id="{718EC59C-26E3-4ECB-9FB0-94AF9E12F1AD}"/>
              </a:ext>
            </a:extLst>
          </p:cNvPr>
          <p:cNvSpPr>
            <a:spLocks xmlns:a="http://schemas.openxmlformats.org/drawingml/2006/main" noGrp="1"/>
          </p:cNvSpPr>
          <p:nvPr/>
        </p:nvSpPr>
        <p:spPr>
          <a:xfrm xmlns:a="http://schemas.openxmlformats.org/drawingml/2006/main">
            <a:off x="11277600" y="62674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a:solidFill>
                  <a:srgbClr val="4F5661"/>
                </a:solidFill>
              </a:defRPr>
            </a:pPr>
            <a:r>
              <a:rPr sz="1050">
                <a:solidFill>
                  <a:srgbClr val="4F5661"/>
                </a:solidFill>
              </a:rPr>
              <a:t>09</a:t>
            </a:r>
          </a:p>
        </p:txBody>
      </p:sp>
      <p:sp>
        <p:nvSpPr>
          <p:cNvPr id="4" name="">
            <a:extLst xmlns:a="http://schemas.openxmlformats.org/drawingml/2006/main">
              <a:ext uri="{FF2B5EF4-FFF2-40B4-BE49-F238E27FC236}">
                <a16:creationId xmlns:a16="http://schemas.microsoft.com/office/drawing/2014/main" id="{9CB8E267-9A84-4D35-9BA7-391FDEB821AB}"/>
              </a:ext>
            </a:extLst>
          </p:cNvPr>
          <p:cNvSpPr>
            <a:spLocks xmlns:a="http://schemas.openxmlformats.org/drawingml/2006/main" noGrp="1"/>
          </p:cNvSpPr>
          <p:nvPr/>
        </p:nvSpPr>
        <p:spPr>
          <a:xfrm xmlns:a="http://schemas.openxmlformats.org/drawingml/2006/main">
            <a:off x="533400" y="1581150"/>
            <a:ext cx="6572250" cy="4114800"/>
          </a:xfrm>
          <a:prstGeom xmlns:a="http://schemas.openxmlformats.org/drawingml/2006/main" prst="rect">
            <a:avLst/>
          </a:prstGeom>
          <a:solidFill xmlns:a="http://schemas.openxmlformats.org/drawingml/2006/main">
            <a:srgbClr val="F4F5F7"/>
          </a:solidFill>
          <a:ln xmlns:a="http://schemas.openxmlformats.org/drawingml/2006/main" w="0">
            <a:solidFill>
              <a:srgbClr val="F4F5F7"/>
            </a:solid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2bf498cbca6f4108"/>
          <a:stretch xmlns:a="http://schemas.openxmlformats.org/drawingml/2006/main"/>
        </p:blipFill>
        <p:spPr>
          <a:xfrm xmlns:a="http://schemas.openxmlformats.org/drawingml/2006/main">
            <a:off x="723900" y="1733550"/>
            <a:ext cx="6191250" cy="3810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3169FED-1A1A-452C-8AAB-40C1108B8F63}"/>
              </a:ext>
            </a:extLst>
          </p:cNvPr>
          <p:cNvSpPr>
            <a:spLocks xmlns:a="http://schemas.openxmlformats.org/drawingml/2006/main" noGrp="1"/>
          </p:cNvSpPr>
          <p:nvPr/>
        </p:nvSpPr>
        <p:spPr>
          <a:xfrm xmlns:a="http://schemas.openxmlformats.org/drawingml/2006/main">
            <a:off x="7524750" y="1752600"/>
            <a:ext cx="57150" cy="2247900"/>
          </a:xfrm>
          <a:prstGeom xmlns:a="http://schemas.openxmlformats.org/drawingml/2006/main" prst="rect">
            <a:avLst/>
          </a:prstGeom>
          <a:solidFill xmlns:a="http://schemas.openxmlformats.org/drawingml/2006/main">
            <a:srgbClr val="0D6E7A"/>
          </a:solidFill>
          <a:ln xmlns:a="http://schemas.openxmlformats.org/drawingml/2006/main" w="0">
            <a:solidFill>
              <a:srgbClr val="0D6E7A"/>
            </a:solidFill>
            <a:prstDash val="solid"/>
          </a:ln>
        </p:spPr>
      </p:sp>
      <p:sp>
        <p:nvSpPr>
          <p:cNvPr id="7" name="">
            <a:extLst xmlns:a="http://schemas.openxmlformats.org/drawingml/2006/main">
              <a:ext uri="{FF2B5EF4-FFF2-40B4-BE49-F238E27FC236}">
                <a16:creationId xmlns:a16="http://schemas.microsoft.com/office/drawing/2014/main" id="{9A7FDCAB-5E90-4798-A0E3-47BCA6918645}"/>
              </a:ext>
            </a:extLst>
          </p:cNvPr>
          <p:cNvSpPr>
            <a:spLocks xmlns:a="http://schemas.openxmlformats.org/drawingml/2006/main" noGrp="1"/>
          </p:cNvSpPr>
          <p:nvPr/>
        </p:nvSpPr>
        <p:spPr>
          <a:xfrm xmlns:a="http://schemas.openxmlformats.org/drawingml/2006/main">
            <a:off x="7734300" y="1733550"/>
            <a:ext cx="346710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4F5661"/>
                </a:solidFill>
              </a:defRPr>
            </a:pPr>
            <a:r>
              <a:rPr sz="1650">
                <a:solidFill>
                  <a:srgbClr val="4F5661"/>
                </a:solidFill>
              </a:rPr>
              <a:t>- Simulator belief planning works.</a:t>
            </a:r>
          </a:p>
          <a:p xmlns:a="http://schemas.openxmlformats.org/drawingml/2006/main">
            <a:pPr>
              <a:defRPr sz="1650">
                <a:solidFill>
                  <a:srgbClr val="4F5661"/>
                </a:solidFill>
              </a:defRPr>
            </a:pPr>
            <a:r>
              <a:rPr sz="1650">
                <a:solidFill>
                  <a:srgbClr val="4F5661"/>
                </a:solidFill>
              </a:rPr>
              <a:t>- The latent world planner reaches 0.57 captures/episode.</a:t>
            </a:r>
          </a:p>
          <a:p xmlns:a="http://schemas.openxmlformats.org/drawingml/2006/main">
            <a:pPr>
              <a:defRPr sz="1650">
                <a:solidFill>
                  <a:srgbClr val="4F5661"/>
                </a:solidFill>
              </a:defRPr>
            </a:pPr>
            <a:r>
              <a:rPr sz="1650">
                <a:solidFill>
                  <a:srgbClr val="4F5661"/>
                </a:solidFill>
              </a:rPr>
              <a:t>- The control bottleneck is dynamics fidelity.</a:t>
            </a:r>
          </a:p>
        </p:txBody>
      </p:sp>
      <p:sp>
        <p:nvSpPr>
          <p:cNvPr id="8" name="">
            <a:extLst xmlns:a="http://schemas.openxmlformats.org/drawingml/2006/main">
              <a:ext uri="{FF2B5EF4-FFF2-40B4-BE49-F238E27FC236}">
                <a16:creationId xmlns:a16="http://schemas.microsoft.com/office/drawing/2014/main" id="{863DA49C-A045-437C-B567-41136E8B46C7}"/>
              </a:ext>
            </a:extLst>
          </p:cNvPr>
          <p:cNvSpPr>
            <a:spLocks xmlns:a="http://schemas.openxmlformats.org/drawingml/2006/main" noGrp="1"/>
          </p:cNvSpPr>
          <p:nvPr/>
        </p:nvSpPr>
        <p:spPr>
          <a:xfrm xmlns:a="http://schemas.openxmlformats.org/drawingml/2006/main">
            <a:off x="7524750" y="4552950"/>
            <a:ext cx="36766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0A0A0A"/>
                </a:solidFill>
              </a:defRPr>
            </a:pPr>
            <a:r>
              <a:rPr sz="1875" b="1">
                <a:solidFill>
                  <a:srgbClr val="0A0A0A"/>
                </a:solidFill>
              </a:rPr>
              <a:t>Keep this negative result in the talk. It tells reviewers where the method breaks today.</a:t>
            </a:r>
          </a:p>
        </p:txBody>
      </p:sp>
    </p:spTree>
    <p:extLst>
      <p:ext uri="{BB962C8B-B14F-4D97-AF65-F5344CB8AC3E}">
        <p14:creationId xmlns:p14="http://schemas.microsoft.com/office/powerpoint/2010/main" val="97687028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E1D2947-5E02-4E12-A37B-00DC7236AA3F}"/>
              </a:ext>
            </a:extLst>
          </p:cNvPr>
          <p:cNvSpPr>
            <a:spLocks xmlns:a="http://schemas.openxmlformats.org/drawingml/2006/main" noGrp="1"/>
          </p:cNvSpPr>
          <p:nvPr/>
        </p:nvSpPr>
        <p:spPr>
          <a:xfrm xmlns:a="http://schemas.openxmlformats.org/drawingml/2006/main">
            <a:off x="533400" y="323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4F5661"/>
                </a:solidFill>
              </a:defRPr>
            </a:pPr>
            <a:r>
              <a:rPr sz="975" b="1">
                <a:solidFill>
                  <a:srgbClr val="4F5661"/>
                </a:solidFill>
              </a:rPr>
              <a:t>FOLLOW-UP</a:t>
            </a:r>
          </a:p>
        </p:txBody>
      </p:sp>
      <p:sp>
        <p:nvSpPr>
          <p:cNvPr id="2" name="">
            <a:extLst xmlns:a="http://schemas.openxmlformats.org/drawingml/2006/main">
              <a:ext uri="{FF2B5EF4-FFF2-40B4-BE49-F238E27FC236}">
                <a16:creationId xmlns:a16="http://schemas.microsoft.com/office/drawing/2014/main" id="{EC94E838-567F-43DC-A40B-0FD07A1EB6CE}"/>
              </a:ext>
            </a:extLst>
          </p:cNvPr>
          <p:cNvSpPr>
            <a:spLocks xmlns:a="http://schemas.openxmlformats.org/drawingml/2006/main" noGrp="1"/>
          </p:cNvSpPr>
          <p:nvPr/>
        </p:nvSpPr>
        <p:spPr>
          <a:xfrm xmlns:a="http://schemas.openxmlformats.org/drawingml/2006/main">
            <a:off x="533400" y="590550"/>
            <a:ext cx="10287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0A0A0A"/>
                </a:solidFill>
              </a:defRPr>
            </a:pPr>
            <a:r>
              <a:rPr sz="3150" b="1">
                <a:solidFill>
                  <a:srgbClr val="0A0A0A"/>
                </a:solidFill>
              </a:rPr>
              <a:t>BC is strong enough to test strategy inputs</a:t>
            </a:r>
          </a:p>
        </p:txBody>
      </p:sp>
      <p:sp>
        <p:nvSpPr>
          <p:cNvPr id="3" name="">
            <a:extLst xmlns:a="http://schemas.openxmlformats.org/drawingml/2006/main">
              <a:ext uri="{FF2B5EF4-FFF2-40B4-BE49-F238E27FC236}">
                <a16:creationId xmlns:a16="http://schemas.microsoft.com/office/drawing/2014/main" id="{6F289AEA-D886-4989-A71C-D279E0CE910E}"/>
              </a:ext>
            </a:extLst>
          </p:cNvPr>
          <p:cNvSpPr>
            <a:spLocks xmlns:a="http://schemas.openxmlformats.org/drawingml/2006/main" noGrp="1"/>
          </p:cNvSpPr>
          <p:nvPr/>
        </p:nvSpPr>
        <p:spPr>
          <a:xfrm xmlns:a="http://schemas.openxmlformats.org/drawingml/2006/main">
            <a:off x="11277600" y="62674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a:solidFill>
                  <a:srgbClr val="4F5661"/>
                </a:solidFill>
              </a:defRPr>
            </a:pPr>
            <a:r>
              <a:rPr sz="1050">
                <a:solidFill>
                  <a:srgbClr val="4F5661"/>
                </a:solidFill>
              </a:rPr>
              <a:t>10</a:t>
            </a:r>
          </a:p>
        </p:txBody>
      </p:sp>
      <p:sp>
        <p:nvSpPr>
          <p:cNvPr id="4" name="">
            <a:extLst xmlns:a="http://schemas.openxmlformats.org/drawingml/2006/main">
              <a:ext uri="{FF2B5EF4-FFF2-40B4-BE49-F238E27FC236}">
                <a16:creationId xmlns:a16="http://schemas.microsoft.com/office/drawing/2014/main" id="{13E2AB4C-B295-4F91-8D57-BFC0F96C4816}"/>
              </a:ext>
            </a:extLst>
          </p:cNvPr>
          <p:cNvSpPr>
            <a:spLocks xmlns:a="http://schemas.openxmlformats.org/drawingml/2006/main" noGrp="1"/>
          </p:cNvSpPr>
          <p:nvPr/>
        </p:nvSpPr>
        <p:spPr>
          <a:xfrm xmlns:a="http://schemas.openxmlformats.org/drawingml/2006/main">
            <a:off x="533400" y="1581150"/>
            <a:ext cx="6572250" cy="4114800"/>
          </a:xfrm>
          <a:prstGeom xmlns:a="http://schemas.openxmlformats.org/drawingml/2006/main" prst="rect">
            <a:avLst/>
          </a:prstGeom>
          <a:solidFill xmlns:a="http://schemas.openxmlformats.org/drawingml/2006/main">
            <a:srgbClr val="F4F5F7"/>
          </a:solidFill>
          <a:ln xmlns:a="http://schemas.openxmlformats.org/drawingml/2006/main" w="0">
            <a:solidFill>
              <a:srgbClr val="F4F5F7"/>
            </a:solid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ce2ab90fe64940a3"/>
          <a:stretch xmlns:a="http://schemas.openxmlformats.org/drawingml/2006/main"/>
        </p:blipFill>
        <p:spPr>
          <a:xfrm xmlns:a="http://schemas.openxmlformats.org/drawingml/2006/main">
            <a:off x="685800" y="1741822"/>
            <a:ext cx="6267450" cy="379345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7B7DDDE-5CC7-4293-B17E-7EFA091B1409}"/>
              </a:ext>
            </a:extLst>
          </p:cNvPr>
          <p:cNvSpPr>
            <a:spLocks xmlns:a="http://schemas.openxmlformats.org/drawingml/2006/main" noGrp="1"/>
          </p:cNvSpPr>
          <p:nvPr/>
        </p:nvSpPr>
        <p:spPr>
          <a:xfrm xmlns:a="http://schemas.openxmlformats.org/drawingml/2006/main">
            <a:off x="7524750" y="1752600"/>
            <a:ext cx="57150" cy="2266950"/>
          </a:xfrm>
          <a:prstGeom xmlns:a="http://schemas.openxmlformats.org/drawingml/2006/main" prst="rect">
            <a:avLst/>
          </a:prstGeom>
          <a:solidFill xmlns:a="http://schemas.openxmlformats.org/drawingml/2006/main">
            <a:srgbClr val="0D6E7A"/>
          </a:solidFill>
          <a:ln xmlns:a="http://schemas.openxmlformats.org/drawingml/2006/main" w="0">
            <a:solidFill>
              <a:srgbClr val="0D6E7A"/>
            </a:solidFill>
            <a:prstDash val="solid"/>
          </a:ln>
        </p:spPr>
      </p:sp>
      <p:sp>
        <p:nvSpPr>
          <p:cNvPr id="7" name="">
            <a:extLst xmlns:a="http://schemas.openxmlformats.org/drawingml/2006/main">
              <a:ext uri="{FF2B5EF4-FFF2-40B4-BE49-F238E27FC236}">
                <a16:creationId xmlns:a16="http://schemas.microsoft.com/office/drawing/2014/main" id="{ED15EF91-7702-47AA-9437-1ECFDB6F99C1}"/>
              </a:ext>
            </a:extLst>
          </p:cNvPr>
          <p:cNvSpPr>
            <a:spLocks xmlns:a="http://schemas.openxmlformats.org/drawingml/2006/main" noGrp="1"/>
          </p:cNvSpPr>
          <p:nvPr/>
        </p:nvSpPr>
        <p:spPr>
          <a:xfrm xmlns:a="http://schemas.openxmlformats.org/drawingml/2006/main">
            <a:off x="7734300" y="1733550"/>
            <a:ext cx="3467100"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4F5661"/>
                </a:solidFill>
              </a:defRPr>
            </a:pPr>
            <a:r>
              <a:rPr sz="1650">
                <a:solidFill>
                  <a:srgbClr val="4F5661"/>
                </a:solidFill>
              </a:rPr>
              <a:t>- Random policy: 0.40 captures/episode.</a:t>
            </a:r>
          </a:p>
          <a:p xmlns:a="http://schemas.openxmlformats.org/drawingml/2006/main">
            <a:pPr>
              <a:defRPr sz="1650">
                <a:solidFill>
                  <a:srgbClr val="4F5661"/>
                </a:solidFill>
              </a:defRPr>
            </a:pPr>
            <a:r>
              <a:rPr sz="1650">
                <a:solidFill>
                  <a:srgbClr val="4F5661"/>
                </a:solidFill>
              </a:rPr>
              <a:t>- Vanilla BC: 1.22 captures/episode.</a:t>
            </a:r>
          </a:p>
          <a:p xmlns:a="http://schemas.openxmlformats.org/drawingml/2006/main">
            <a:pPr>
              <a:defRPr sz="1650">
                <a:solidFill>
                  <a:srgbClr val="4F5661"/>
                </a:solidFill>
              </a:defRPr>
            </a:pPr>
            <a:r>
              <a:rPr sz="1650">
                <a:solidFill>
                  <a:srgbClr val="4F5661"/>
                </a:solidFill>
              </a:rPr>
              <a:t>- MAPPO expert: 1.35 captures/episode.</a:t>
            </a:r>
          </a:p>
        </p:txBody>
      </p:sp>
      <p:sp>
        <p:nvSpPr>
          <p:cNvPr id="8" name="">
            <a:extLst xmlns:a="http://schemas.openxmlformats.org/drawingml/2006/main">
              <a:ext uri="{FF2B5EF4-FFF2-40B4-BE49-F238E27FC236}">
                <a16:creationId xmlns:a16="http://schemas.microsoft.com/office/drawing/2014/main" id="{A971ADF7-8AC6-493D-92FE-0614E6E4F6E6}"/>
              </a:ext>
            </a:extLst>
          </p:cNvPr>
          <p:cNvSpPr>
            <a:spLocks xmlns:a="http://schemas.openxmlformats.org/drawingml/2006/main" noGrp="1"/>
          </p:cNvSpPr>
          <p:nvPr/>
        </p:nvSpPr>
        <p:spPr>
          <a:xfrm xmlns:a="http://schemas.openxmlformats.org/drawingml/2006/main">
            <a:off x="7524750" y="4648200"/>
            <a:ext cx="36766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0A0A0A"/>
                </a:solidFill>
              </a:defRPr>
            </a:pPr>
            <a:r>
              <a:rPr sz="1875" b="1">
                <a:solidFill>
                  <a:srgbClr val="0A0A0A"/>
                </a:solidFill>
              </a:rPr>
              <a:t>The clone recovers most of the expert edge, so the follow-up can test strategy information.</a:t>
            </a:r>
          </a:p>
        </p:txBody>
      </p:sp>
    </p:spTree>
    <p:extLst>
      <p:ext uri="{BB962C8B-B14F-4D97-AF65-F5344CB8AC3E}">
        <p14:creationId xmlns:p14="http://schemas.microsoft.com/office/powerpoint/2010/main" val="141637002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9045915-F36A-4D68-AC55-4DA18F48562C}"/>
              </a:ext>
            </a:extLst>
          </p:cNvPr>
          <p:cNvSpPr>
            <a:spLocks xmlns:a="http://schemas.openxmlformats.org/drawingml/2006/main" noGrp="1"/>
          </p:cNvSpPr>
          <p:nvPr/>
        </p:nvSpPr>
        <p:spPr>
          <a:xfrm xmlns:a="http://schemas.openxmlformats.org/drawingml/2006/main">
            <a:off x="533400" y="323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4F5661"/>
                </a:solidFill>
              </a:defRPr>
            </a:pPr>
            <a:r>
              <a:rPr sz="975" b="1">
                <a:solidFill>
                  <a:srgbClr val="4F5661"/>
                </a:solidFill>
              </a:rPr>
              <a:t>FOLLOW-UP</a:t>
            </a:r>
          </a:p>
        </p:txBody>
      </p:sp>
      <p:sp>
        <p:nvSpPr>
          <p:cNvPr id="2" name="">
            <a:extLst xmlns:a="http://schemas.openxmlformats.org/drawingml/2006/main">
              <a:ext uri="{FF2B5EF4-FFF2-40B4-BE49-F238E27FC236}">
                <a16:creationId xmlns:a16="http://schemas.microsoft.com/office/drawing/2014/main" id="{9628C34A-1027-4F82-A001-43DAC87CA93E}"/>
              </a:ext>
            </a:extLst>
          </p:cNvPr>
          <p:cNvSpPr>
            <a:spLocks xmlns:a="http://schemas.openxmlformats.org/drawingml/2006/main" noGrp="1"/>
          </p:cNvSpPr>
          <p:nvPr/>
        </p:nvSpPr>
        <p:spPr>
          <a:xfrm xmlns:a="http://schemas.openxmlformats.org/drawingml/2006/main">
            <a:off x="533400" y="590550"/>
            <a:ext cx="10287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0A0A0A"/>
                </a:solidFill>
              </a:defRPr>
            </a:pPr>
            <a:r>
              <a:rPr sz="3150" b="1">
                <a:solidFill>
                  <a:srgbClr val="0A0A0A"/>
                </a:solidFill>
              </a:rPr>
              <a:t>Strategy information has value, even when the latent is weak</a:t>
            </a:r>
          </a:p>
        </p:txBody>
      </p:sp>
      <p:sp>
        <p:nvSpPr>
          <p:cNvPr id="3" name="">
            <a:extLst xmlns:a="http://schemas.openxmlformats.org/drawingml/2006/main">
              <a:ext uri="{FF2B5EF4-FFF2-40B4-BE49-F238E27FC236}">
                <a16:creationId xmlns:a16="http://schemas.microsoft.com/office/drawing/2014/main" id="{425B4CA9-AFDC-40D6-A0CC-99CAE034DFAA}"/>
              </a:ext>
            </a:extLst>
          </p:cNvPr>
          <p:cNvSpPr>
            <a:spLocks xmlns:a="http://schemas.openxmlformats.org/drawingml/2006/main" noGrp="1"/>
          </p:cNvSpPr>
          <p:nvPr/>
        </p:nvSpPr>
        <p:spPr>
          <a:xfrm xmlns:a="http://schemas.openxmlformats.org/drawingml/2006/main">
            <a:off x="533400" y="1581150"/>
            <a:ext cx="5143500" cy="3295650"/>
          </a:xfrm>
          <a:prstGeom xmlns:a="http://schemas.openxmlformats.org/drawingml/2006/main" prst="rect">
            <a:avLst/>
          </a:prstGeom>
          <a:solidFill xmlns:a="http://schemas.openxmlformats.org/drawingml/2006/main">
            <a:srgbClr val="F4F5F7"/>
          </a:solidFill>
          <a:ln xmlns:a="http://schemas.openxmlformats.org/drawingml/2006/main" w="0">
            <a:solidFill>
              <a:srgbClr val="F4F5F7"/>
            </a:solidFill>
            <a:prstDash val="solid"/>
          </a:ln>
        </p:spPr>
      </p:sp>
      <p:sp>
        <p:nvSpPr>
          <p:cNvPr id="4" name="">
            <a:extLst xmlns:a="http://schemas.openxmlformats.org/drawingml/2006/main">
              <a:ext uri="{FF2B5EF4-FFF2-40B4-BE49-F238E27FC236}">
                <a16:creationId xmlns:a16="http://schemas.microsoft.com/office/drawing/2014/main" id="{D634F86E-D6FF-448C-B3CC-59FCE12DB951}"/>
              </a:ext>
            </a:extLst>
          </p:cNvPr>
          <p:cNvSpPr>
            <a:spLocks xmlns:a="http://schemas.openxmlformats.org/drawingml/2006/main" noGrp="1"/>
          </p:cNvSpPr>
          <p:nvPr/>
        </p:nvSpPr>
        <p:spPr>
          <a:xfrm xmlns:a="http://schemas.openxmlformats.org/drawingml/2006/main">
            <a:off x="6229350" y="1581150"/>
            <a:ext cx="5143500" cy="3295650"/>
          </a:xfrm>
          <a:prstGeom xmlns:a="http://schemas.openxmlformats.org/drawingml/2006/main" prst="rect">
            <a:avLst/>
          </a:prstGeom>
          <a:solidFill xmlns:a="http://schemas.openxmlformats.org/drawingml/2006/main">
            <a:srgbClr val="F4F5F7"/>
          </a:solidFill>
          <a:ln xmlns:a="http://schemas.openxmlformats.org/drawingml/2006/main" w="0">
            <a:solidFill>
              <a:srgbClr val="F4F5F7"/>
            </a:solid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bd2fb01058ca46f9"/>
          <a:stretch xmlns:a="http://schemas.openxmlformats.org/drawingml/2006/main"/>
        </p:blipFill>
        <p:spPr>
          <a:xfrm xmlns:a="http://schemas.openxmlformats.org/drawingml/2006/main">
            <a:off x="685800" y="1842274"/>
            <a:ext cx="4838700" cy="2773401"/>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1db85b84ffe4010"/>
          <a:stretch xmlns:a="http://schemas.openxmlformats.org/drawingml/2006/main"/>
        </p:blipFill>
        <p:spPr>
          <a:xfrm xmlns:a="http://schemas.openxmlformats.org/drawingml/2006/main">
            <a:off x="6381750" y="1850508"/>
            <a:ext cx="4838700" cy="2756934"/>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328CD49-F261-424F-867A-27FF99448169}"/>
              </a:ext>
            </a:extLst>
          </p:cNvPr>
          <p:cNvSpPr>
            <a:spLocks xmlns:a="http://schemas.openxmlformats.org/drawingml/2006/main" noGrp="1"/>
          </p:cNvSpPr>
          <p:nvPr/>
        </p:nvSpPr>
        <p:spPr>
          <a:xfrm xmlns:a="http://schemas.openxmlformats.org/drawingml/2006/main">
            <a:off x="781050" y="5219700"/>
            <a:ext cx="9334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4F5661"/>
                </a:solidFill>
              </a:defRPr>
            </a:pPr>
            <a:r>
              <a:rPr sz="1575">
                <a:solidFill>
                  <a:srgbClr val="4F5661"/>
                </a:solidFill>
              </a:rPr>
              <a:t>- Oracle placement closes most of the deployed capture gap.</a:t>
            </a:r>
          </a:p>
          <a:p xmlns:a="http://schemas.openxmlformats.org/drawingml/2006/main">
            <a:pPr>
              <a:defRPr sz="1575">
                <a:solidFill>
                  <a:srgbClr val="4F5661"/>
                </a:solidFill>
              </a:defRPr>
            </a:pPr>
            <a:r>
              <a:rPr sz="1575">
                <a:solidFill>
                  <a:srgbClr val="4F5661"/>
                </a:solidFill>
              </a:rPr>
              <a:t>- The unsupervised latent gives a small deployed lift today.</a:t>
            </a:r>
          </a:p>
          <a:p xmlns:a="http://schemas.openxmlformats.org/drawingml/2006/main">
            <a:pPr>
              <a:defRPr sz="1575">
                <a:solidFill>
                  <a:srgbClr val="4F5661"/>
                </a:solidFill>
              </a:defRPr>
            </a:pPr>
            <a:r>
              <a:rPr sz="1575">
                <a:solidFill>
                  <a:srgbClr val="4F5661"/>
                </a:solidFill>
              </a:rPr>
              <a:t>- The sweep shows better probes can improve BC accuracy.</a:t>
            </a:r>
          </a:p>
        </p:txBody>
      </p:sp>
      <p:sp>
        <p:nvSpPr>
          <p:cNvPr id="8" name="">
            <a:extLst xmlns:a="http://schemas.openxmlformats.org/drawingml/2006/main">
              <a:ext uri="{FF2B5EF4-FFF2-40B4-BE49-F238E27FC236}">
                <a16:creationId xmlns:a16="http://schemas.microsoft.com/office/drawing/2014/main" id="{1BFB6CC5-1941-4D01-B1BB-0C168D4291D3}"/>
              </a:ext>
            </a:extLst>
          </p:cNvPr>
          <p:cNvSpPr>
            <a:spLocks xmlns:a="http://schemas.openxmlformats.org/drawingml/2006/main" noGrp="1"/>
          </p:cNvSpPr>
          <p:nvPr/>
        </p:nvSpPr>
        <p:spPr>
          <a:xfrm xmlns:a="http://schemas.openxmlformats.org/drawingml/2006/main">
            <a:off x="11277600" y="62674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a:solidFill>
                  <a:srgbClr val="4F5661"/>
                </a:solidFill>
              </a:defRPr>
            </a:pPr>
            <a:r>
              <a:rPr sz="1050">
                <a:solidFill>
                  <a:srgbClr val="4F5661"/>
                </a:solidFill>
              </a:rPr>
              <a:t>11</a:t>
            </a:r>
          </a:p>
        </p:txBody>
      </p:sp>
    </p:spTree>
    <p:extLst>
      <p:ext uri="{BB962C8B-B14F-4D97-AF65-F5344CB8AC3E}">
        <p14:creationId xmlns:p14="http://schemas.microsoft.com/office/powerpoint/2010/main" val="32632959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906F549-D058-4363-BFCB-B1F8A514114D}"/>
              </a:ext>
            </a:extLst>
          </p:cNvPr>
          <p:cNvSpPr>
            <a:spLocks xmlns:a="http://schemas.openxmlformats.org/drawingml/2006/main" noGrp="1"/>
          </p:cNvSpPr>
          <p:nvPr/>
        </p:nvSpPr>
        <p:spPr>
          <a:xfrm xmlns:a="http://schemas.openxmlformats.org/drawingml/2006/main">
            <a:off x="533400" y="323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4F5661"/>
                </a:solidFill>
              </a:defRPr>
            </a:pPr>
            <a:r>
              <a:rPr sz="975" b="1">
                <a:solidFill>
                  <a:srgbClr val="4F5661"/>
                </a:solidFill>
              </a:rPr>
              <a:t>POSITIONING</a:t>
            </a:r>
          </a:p>
        </p:txBody>
      </p:sp>
      <p:sp>
        <p:nvSpPr>
          <p:cNvPr id="2" name="">
            <a:extLst xmlns:a="http://schemas.openxmlformats.org/drawingml/2006/main">
              <a:ext uri="{FF2B5EF4-FFF2-40B4-BE49-F238E27FC236}">
                <a16:creationId xmlns:a16="http://schemas.microsoft.com/office/drawing/2014/main" id="{B2D4CF85-A780-45D5-8834-A3AD9E482D67}"/>
              </a:ext>
            </a:extLst>
          </p:cNvPr>
          <p:cNvSpPr>
            <a:spLocks xmlns:a="http://schemas.openxmlformats.org/drawingml/2006/main" noGrp="1"/>
          </p:cNvSpPr>
          <p:nvPr/>
        </p:nvSpPr>
        <p:spPr>
          <a:xfrm xmlns:a="http://schemas.openxmlformats.org/drawingml/2006/main">
            <a:off x="533400" y="590550"/>
            <a:ext cx="10287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0A0A0A"/>
                </a:solidFill>
              </a:defRPr>
            </a:pPr>
            <a:r>
              <a:rPr sz="3150" b="1">
                <a:solidFill>
                  <a:srgbClr val="0A0A0A"/>
                </a:solidFill>
              </a:rPr>
              <a:t>The literature slot is belief plus planning</a:t>
            </a:r>
          </a:p>
        </p:txBody>
      </p:sp>
      <p:sp>
        <p:nvSpPr>
          <p:cNvPr id="3" name="">
            <a:extLst xmlns:a="http://schemas.openxmlformats.org/drawingml/2006/main">
              <a:ext uri="{FF2B5EF4-FFF2-40B4-BE49-F238E27FC236}">
                <a16:creationId xmlns:a16="http://schemas.microsoft.com/office/drawing/2014/main" id="{A5A7C764-1C9D-4C1E-B434-65945F8DEDC9}"/>
              </a:ext>
            </a:extLst>
          </p:cNvPr>
          <p:cNvSpPr>
            <a:spLocks xmlns:a="http://schemas.openxmlformats.org/drawingml/2006/main" noGrp="1"/>
          </p:cNvSpPr>
          <p:nvPr/>
        </p:nvSpPr>
        <p:spPr>
          <a:xfrm xmlns:a="http://schemas.openxmlformats.org/drawingml/2006/main">
            <a:off x="685800" y="1809750"/>
            <a:ext cx="800100" cy="57150"/>
          </a:xfrm>
          <a:prstGeom xmlns:a="http://schemas.openxmlformats.org/drawingml/2006/main" prst="rect">
            <a:avLst/>
          </a:prstGeom>
          <a:solidFill xmlns:a="http://schemas.openxmlformats.org/drawingml/2006/main">
            <a:srgbClr val="0D6E7A"/>
          </a:solidFill>
          <a:ln xmlns:a="http://schemas.openxmlformats.org/drawingml/2006/main" w="0">
            <a:solidFill>
              <a:srgbClr val="0D6E7A"/>
            </a:solidFill>
            <a:prstDash val="solid"/>
          </a:ln>
        </p:spPr>
      </p:sp>
      <p:sp>
        <p:nvSpPr>
          <p:cNvPr id="4" name="">
            <a:extLst xmlns:a="http://schemas.openxmlformats.org/drawingml/2006/main">
              <a:ext uri="{FF2B5EF4-FFF2-40B4-BE49-F238E27FC236}">
                <a16:creationId xmlns:a16="http://schemas.microsoft.com/office/drawing/2014/main" id="{D05D2C96-AAFC-4ECD-B152-B35AB732C62C}"/>
              </a:ext>
            </a:extLst>
          </p:cNvPr>
          <p:cNvSpPr>
            <a:spLocks xmlns:a="http://schemas.openxmlformats.org/drawingml/2006/main" noGrp="1"/>
          </p:cNvSpPr>
          <p:nvPr/>
        </p:nvSpPr>
        <p:spPr>
          <a:xfrm xmlns:a="http://schemas.openxmlformats.org/drawingml/2006/main">
            <a:off x="685800" y="2076450"/>
            <a:ext cx="3028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0A0A0A"/>
                </a:solidFill>
              </a:defRPr>
            </a:pPr>
            <a:r>
              <a:rPr sz="1875" b="1">
                <a:solidFill>
                  <a:srgbClr val="0A0A0A"/>
                </a:solidFill>
              </a:rPr>
              <a:t>Closest comparator</a:t>
            </a:r>
          </a:p>
        </p:txBody>
      </p:sp>
      <p:sp>
        <p:nvSpPr>
          <p:cNvPr id="5" name="">
            <a:extLst xmlns:a="http://schemas.openxmlformats.org/drawingml/2006/main">
              <a:ext uri="{FF2B5EF4-FFF2-40B4-BE49-F238E27FC236}">
                <a16:creationId xmlns:a16="http://schemas.microsoft.com/office/drawing/2014/main" id="{7E6948DD-5348-481D-8460-AE163943D112}"/>
              </a:ext>
            </a:extLst>
          </p:cNvPr>
          <p:cNvSpPr>
            <a:spLocks xmlns:a="http://schemas.openxmlformats.org/drawingml/2006/main" noGrp="1"/>
          </p:cNvSpPr>
          <p:nvPr/>
        </p:nvSpPr>
        <p:spPr>
          <a:xfrm xmlns:a="http://schemas.openxmlformats.org/drawingml/2006/main">
            <a:off x="685800" y="2628900"/>
            <a:ext cx="30289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4F5661"/>
                </a:solidFill>
              </a:defRPr>
            </a:pPr>
            <a:r>
              <a:rPr sz="1575">
                <a:solidFill>
                  <a:srgbClr val="4F5661"/>
                </a:solidFill>
              </a:rPr>
              <a:t>HOP couples goal belief with tree search. It is the most direct system-level baseline to run.</a:t>
            </a:r>
          </a:p>
        </p:txBody>
      </p:sp>
      <p:sp>
        <p:nvSpPr>
          <p:cNvPr id="6" name="">
            <a:extLst xmlns:a="http://schemas.openxmlformats.org/drawingml/2006/main">
              <a:ext uri="{FF2B5EF4-FFF2-40B4-BE49-F238E27FC236}">
                <a16:creationId xmlns:a16="http://schemas.microsoft.com/office/drawing/2014/main" id="{5FDC5F6E-1375-44DC-886E-2A79A7E9C0C2}"/>
              </a:ext>
            </a:extLst>
          </p:cNvPr>
          <p:cNvSpPr>
            <a:spLocks xmlns:a="http://schemas.openxmlformats.org/drawingml/2006/main" noGrp="1"/>
          </p:cNvSpPr>
          <p:nvPr/>
        </p:nvSpPr>
        <p:spPr>
          <a:xfrm xmlns:a="http://schemas.openxmlformats.org/drawingml/2006/main">
            <a:off x="4514850" y="1809750"/>
            <a:ext cx="800100" cy="57150"/>
          </a:xfrm>
          <a:prstGeom xmlns:a="http://schemas.openxmlformats.org/drawingml/2006/main" prst="rect">
            <a:avLst/>
          </a:prstGeom>
          <a:solidFill xmlns:a="http://schemas.openxmlformats.org/drawingml/2006/main">
            <a:srgbClr val="0A0A0A"/>
          </a:solidFill>
          <a:ln xmlns:a="http://schemas.openxmlformats.org/drawingml/2006/main" w="0">
            <a:solidFill>
              <a:srgbClr val="0A0A0A"/>
            </a:solidFill>
            <a:prstDash val="solid"/>
          </a:ln>
        </p:spPr>
      </p:sp>
      <p:sp>
        <p:nvSpPr>
          <p:cNvPr id="7" name="">
            <a:extLst xmlns:a="http://schemas.openxmlformats.org/drawingml/2006/main">
              <a:ext uri="{FF2B5EF4-FFF2-40B4-BE49-F238E27FC236}">
                <a16:creationId xmlns:a16="http://schemas.microsoft.com/office/drawing/2014/main" id="{8017372B-A151-4250-8475-AD1AB1144699}"/>
              </a:ext>
            </a:extLst>
          </p:cNvPr>
          <p:cNvSpPr>
            <a:spLocks xmlns:a="http://schemas.openxmlformats.org/drawingml/2006/main" noGrp="1"/>
          </p:cNvSpPr>
          <p:nvPr/>
        </p:nvSpPr>
        <p:spPr>
          <a:xfrm xmlns:a="http://schemas.openxmlformats.org/drawingml/2006/main">
            <a:off x="4514850" y="2076450"/>
            <a:ext cx="3028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0A0A0A"/>
                </a:solidFill>
              </a:defRPr>
            </a:pPr>
            <a:r>
              <a:rPr sz="1875" b="1">
                <a:solidFill>
                  <a:srgbClr val="0A0A0A"/>
                </a:solidFill>
              </a:rPr>
              <a:t>Model-based MARL</a:t>
            </a:r>
          </a:p>
        </p:txBody>
      </p:sp>
      <p:sp>
        <p:nvSpPr>
          <p:cNvPr id="8" name="">
            <a:extLst xmlns:a="http://schemas.openxmlformats.org/drawingml/2006/main">
              <a:ext uri="{FF2B5EF4-FFF2-40B4-BE49-F238E27FC236}">
                <a16:creationId xmlns:a16="http://schemas.microsoft.com/office/drawing/2014/main" id="{4192B330-0833-4526-9489-81C6843C7EAA}"/>
              </a:ext>
            </a:extLst>
          </p:cNvPr>
          <p:cNvSpPr>
            <a:spLocks xmlns:a="http://schemas.openxmlformats.org/drawingml/2006/main" noGrp="1"/>
          </p:cNvSpPr>
          <p:nvPr/>
        </p:nvSpPr>
        <p:spPr>
          <a:xfrm xmlns:a="http://schemas.openxmlformats.org/drawingml/2006/main">
            <a:off x="4514850" y="2628900"/>
            <a:ext cx="30289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4F5661"/>
                </a:solidFill>
              </a:defRPr>
            </a:pPr>
            <a:r>
              <a:rPr sz="1575">
                <a:solidFill>
                  <a:srgbClr val="4F5661"/>
                </a:solidFill>
              </a:rPr>
              <a:t>MAZero, MAMBA, MARIE, and MATWM test the planning and dynamics side of the story.</a:t>
            </a:r>
          </a:p>
        </p:txBody>
      </p:sp>
      <p:sp>
        <p:nvSpPr>
          <p:cNvPr id="9" name="">
            <a:extLst xmlns:a="http://schemas.openxmlformats.org/drawingml/2006/main">
              <a:ext uri="{FF2B5EF4-FFF2-40B4-BE49-F238E27FC236}">
                <a16:creationId xmlns:a16="http://schemas.microsoft.com/office/drawing/2014/main" id="{72D9F7E1-EBFA-44F9-A0B6-0F1FC3BCCCB8}"/>
              </a:ext>
            </a:extLst>
          </p:cNvPr>
          <p:cNvSpPr>
            <a:spLocks xmlns:a="http://schemas.openxmlformats.org/drawingml/2006/main" noGrp="1"/>
          </p:cNvSpPr>
          <p:nvPr/>
        </p:nvSpPr>
        <p:spPr>
          <a:xfrm xmlns:a="http://schemas.openxmlformats.org/drawingml/2006/main">
            <a:off x="8343900" y="1809750"/>
            <a:ext cx="800100" cy="57150"/>
          </a:xfrm>
          <a:prstGeom xmlns:a="http://schemas.openxmlformats.org/drawingml/2006/main" prst="rect">
            <a:avLst/>
          </a:prstGeom>
          <a:solidFill xmlns:a="http://schemas.openxmlformats.org/drawingml/2006/main">
            <a:srgbClr val="C84C2A"/>
          </a:solidFill>
          <a:ln xmlns:a="http://schemas.openxmlformats.org/drawingml/2006/main" w="0">
            <a:solidFill>
              <a:srgbClr val="C84C2A"/>
            </a:solidFill>
            <a:prstDash val="solid"/>
          </a:ln>
        </p:spPr>
      </p:sp>
      <p:sp>
        <p:nvSpPr>
          <p:cNvPr id="10" name="">
            <a:extLst xmlns:a="http://schemas.openxmlformats.org/drawingml/2006/main">
              <a:ext uri="{FF2B5EF4-FFF2-40B4-BE49-F238E27FC236}">
                <a16:creationId xmlns:a16="http://schemas.microsoft.com/office/drawing/2014/main" id="{8F8BEBD9-DA91-47D2-9E53-B9C34FC03D64}"/>
              </a:ext>
            </a:extLst>
          </p:cNvPr>
          <p:cNvSpPr>
            <a:spLocks xmlns:a="http://schemas.openxmlformats.org/drawingml/2006/main" noGrp="1"/>
          </p:cNvSpPr>
          <p:nvPr/>
        </p:nvSpPr>
        <p:spPr>
          <a:xfrm xmlns:a="http://schemas.openxmlformats.org/drawingml/2006/main">
            <a:off x="8343900" y="2076450"/>
            <a:ext cx="3028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0A0A0A"/>
                </a:solidFill>
              </a:defRPr>
            </a:pPr>
            <a:r>
              <a:rPr sz="1875" b="1">
                <a:solidFill>
                  <a:srgbClr val="0A0A0A"/>
                </a:solidFill>
              </a:rPr>
              <a:t>Opponent modeling</a:t>
            </a:r>
          </a:p>
        </p:txBody>
      </p:sp>
      <p:sp>
        <p:nvSpPr>
          <p:cNvPr id="11" name="">
            <a:extLst xmlns:a="http://schemas.openxmlformats.org/drawingml/2006/main">
              <a:ext uri="{FF2B5EF4-FFF2-40B4-BE49-F238E27FC236}">
                <a16:creationId xmlns:a16="http://schemas.microsoft.com/office/drawing/2014/main" id="{5299B202-E9B4-4979-B53D-EFA8E069270C}"/>
              </a:ext>
            </a:extLst>
          </p:cNvPr>
          <p:cNvSpPr>
            <a:spLocks xmlns:a="http://schemas.openxmlformats.org/drawingml/2006/main" noGrp="1"/>
          </p:cNvSpPr>
          <p:nvPr/>
        </p:nvSpPr>
        <p:spPr>
          <a:xfrm xmlns:a="http://schemas.openxmlformats.org/drawingml/2006/main">
            <a:off x="8343900" y="2628900"/>
            <a:ext cx="30289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4F5661"/>
                </a:solidFill>
              </a:defRPr>
            </a:pPr>
            <a:r>
              <a:rPr sz="1575">
                <a:solidFill>
                  <a:srgbClr val="4F5661"/>
                </a:solidFill>
              </a:rPr>
              <a:t>MBOM and AORPO test whether the opponent model adds value beyond policy conditioning.</a:t>
            </a:r>
          </a:p>
        </p:txBody>
      </p:sp>
      <p:sp>
        <p:nvSpPr>
          <p:cNvPr id="12" name="">
            <a:extLst xmlns:a="http://schemas.openxmlformats.org/drawingml/2006/main">
              <a:ext uri="{FF2B5EF4-FFF2-40B4-BE49-F238E27FC236}">
                <a16:creationId xmlns:a16="http://schemas.microsoft.com/office/drawing/2014/main" id="{FEAB580D-8801-4E20-92D1-B487AF5F18C4}"/>
              </a:ext>
            </a:extLst>
          </p:cNvPr>
          <p:cNvSpPr>
            <a:spLocks xmlns:a="http://schemas.openxmlformats.org/drawingml/2006/main" noGrp="1"/>
          </p:cNvSpPr>
          <p:nvPr/>
        </p:nvSpPr>
        <p:spPr>
          <a:xfrm xmlns:a="http://schemas.openxmlformats.org/drawingml/2006/main">
            <a:off x="685800" y="5448300"/>
            <a:ext cx="990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0A0A0A"/>
                </a:solidFill>
              </a:defRPr>
            </a:pPr>
            <a:r>
              <a:rPr sz="1875" b="1">
                <a:solidFill>
                  <a:srgbClr val="0A0A0A"/>
                </a:solidFill>
              </a:rPr>
              <a:t>Paper line: calibrated opponent belief improves planning in a controlled hidden-intent task. Broader claims need adaptive opponents and external baselines.</a:t>
            </a:r>
          </a:p>
        </p:txBody>
      </p:sp>
      <p:sp>
        <p:nvSpPr>
          <p:cNvPr id="13" name="">
            <a:extLst xmlns:a="http://schemas.openxmlformats.org/drawingml/2006/main">
              <a:ext uri="{FF2B5EF4-FFF2-40B4-BE49-F238E27FC236}">
                <a16:creationId xmlns:a16="http://schemas.microsoft.com/office/drawing/2014/main" id="{C8BA62A8-9E7D-4341-AE55-304ADB7922BB}"/>
              </a:ext>
            </a:extLst>
          </p:cNvPr>
          <p:cNvSpPr>
            <a:spLocks xmlns:a="http://schemas.openxmlformats.org/drawingml/2006/main" noGrp="1"/>
          </p:cNvSpPr>
          <p:nvPr/>
        </p:nvSpPr>
        <p:spPr>
          <a:xfrm xmlns:a="http://schemas.openxmlformats.org/drawingml/2006/main">
            <a:off x="11277600" y="62674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a:solidFill>
                  <a:srgbClr val="4F5661"/>
                </a:solidFill>
              </a:defRPr>
            </a:pPr>
            <a:r>
              <a:rPr sz="1050">
                <a:solidFill>
                  <a:srgbClr val="4F5661"/>
                </a:solidFill>
              </a:rPr>
              <a:t>12</a:t>
            </a:r>
          </a:p>
        </p:txBody>
      </p:sp>
    </p:spTree>
    <p:extLst>
      <p:ext uri="{BB962C8B-B14F-4D97-AF65-F5344CB8AC3E}">
        <p14:creationId xmlns:p14="http://schemas.microsoft.com/office/powerpoint/2010/main" val="160573188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4440947-C3C4-44CE-B8E9-A7A292416417}"/>
              </a:ext>
            </a:extLst>
          </p:cNvPr>
          <p:cNvSpPr>
            <a:spLocks xmlns:a="http://schemas.openxmlformats.org/drawingml/2006/main" noGrp="1"/>
          </p:cNvSpPr>
          <p:nvPr/>
        </p:nvSpPr>
        <p:spPr>
          <a:xfrm xmlns:a="http://schemas.openxmlformats.org/drawingml/2006/main">
            <a:off x="533400" y="323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4F5661"/>
                </a:solidFill>
              </a:defRPr>
            </a:pPr>
            <a:r>
              <a:rPr sz="975" b="1">
                <a:solidFill>
                  <a:srgbClr val="4F5661"/>
                </a:solidFill>
              </a:rPr>
              <a:t>CLOSE</a:t>
            </a:r>
          </a:p>
        </p:txBody>
      </p:sp>
      <p:sp>
        <p:nvSpPr>
          <p:cNvPr id="2" name="">
            <a:extLst xmlns:a="http://schemas.openxmlformats.org/drawingml/2006/main">
              <a:ext uri="{FF2B5EF4-FFF2-40B4-BE49-F238E27FC236}">
                <a16:creationId xmlns:a16="http://schemas.microsoft.com/office/drawing/2014/main" id="{4B4F4D6A-F2FD-48EC-BFEF-4E006E69193F}"/>
              </a:ext>
            </a:extLst>
          </p:cNvPr>
          <p:cNvSpPr>
            <a:spLocks xmlns:a="http://schemas.openxmlformats.org/drawingml/2006/main" noGrp="1"/>
          </p:cNvSpPr>
          <p:nvPr/>
        </p:nvSpPr>
        <p:spPr>
          <a:xfrm xmlns:a="http://schemas.openxmlformats.org/drawingml/2006/main">
            <a:off x="533400" y="590550"/>
            <a:ext cx="10287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0A0A0A"/>
                </a:solidFill>
              </a:defRPr>
            </a:pPr>
            <a:r>
              <a:rPr sz="3150" b="1">
                <a:solidFill>
                  <a:srgbClr val="0A0A0A"/>
                </a:solidFill>
              </a:rPr>
              <a:t>Before submission, run the missing tests</a:t>
            </a:r>
          </a:p>
        </p:txBody>
      </p:sp>
      <p:sp>
        <p:nvSpPr>
          <p:cNvPr id="3" name="">
            <a:extLst xmlns:a="http://schemas.openxmlformats.org/drawingml/2006/main">
              <a:ext uri="{FF2B5EF4-FFF2-40B4-BE49-F238E27FC236}">
                <a16:creationId xmlns:a16="http://schemas.microsoft.com/office/drawing/2014/main" id="{AF65F7B3-D303-46DF-B4DF-2F296A886E75}"/>
              </a:ext>
            </a:extLst>
          </p:cNvPr>
          <p:cNvSpPr>
            <a:spLocks xmlns:a="http://schemas.openxmlformats.org/drawingml/2006/main" noGrp="1"/>
          </p:cNvSpPr>
          <p:nvPr/>
        </p:nvSpPr>
        <p:spPr>
          <a:xfrm xmlns:a="http://schemas.openxmlformats.org/drawingml/2006/main">
            <a:off x="685800" y="1905000"/>
            <a:ext cx="685800" cy="47625"/>
          </a:xfrm>
          <a:prstGeom xmlns:a="http://schemas.openxmlformats.org/drawingml/2006/main" prst="rect">
            <a:avLst/>
          </a:prstGeom>
          <a:solidFill xmlns:a="http://schemas.openxmlformats.org/drawingml/2006/main">
            <a:srgbClr val="0D6E7A"/>
          </a:solidFill>
          <a:ln xmlns:a="http://schemas.openxmlformats.org/drawingml/2006/main" w="0">
            <a:solidFill>
              <a:srgbClr val="0D6E7A"/>
            </a:solidFill>
            <a:prstDash val="solid"/>
          </a:ln>
        </p:spPr>
      </p:sp>
      <p:sp>
        <p:nvSpPr>
          <p:cNvPr id="4" name="">
            <a:extLst xmlns:a="http://schemas.openxmlformats.org/drawingml/2006/main">
              <a:ext uri="{FF2B5EF4-FFF2-40B4-BE49-F238E27FC236}">
                <a16:creationId xmlns:a16="http://schemas.microsoft.com/office/drawing/2014/main" id="{D50C8514-57FD-45F2-BAD3-C63EC979B774}"/>
              </a:ext>
            </a:extLst>
          </p:cNvPr>
          <p:cNvSpPr>
            <a:spLocks xmlns:a="http://schemas.openxmlformats.org/drawingml/2006/main" noGrp="1"/>
          </p:cNvSpPr>
          <p:nvPr/>
        </p:nvSpPr>
        <p:spPr>
          <a:xfrm xmlns:a="http://schemas.openxmlformats.org/drawingml/2006/main">
            <a:off x="1657350" y="1752600"/>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0A0A0A"/>
                </a:solidFill>
              </a:defRPr>
            </a:pPr>
            <a:r>
              <a:rPr sz="1875" b="1">
                <a:solidFill>
                  <a:srgbClr val="0A0A0A"/>
                </a:solidFill>
              </a:rPr>
              <a:t>Oracle planner</a:t>
            </a:r>
          </a:p>
        </p:txBody>
      </p:sp>
      <p:sp>
        <p:nvSpPr>
          <p:cNvPr id="5" name="">
            <a:extLst xmlns:a="http://schemas.openxmlformats.org/drawingml/2006/main">
              <a:ext uri="{FF2B5EF4-FFF2-40B4-BE49-F238E27FC236}">
                <a16:creationId xmlns:a16="http://schemas.microsoft.com/office/drawing/2014/main" id="{871FE08E-DFF7-4E0A-8DB4-20EC610831D0}"/>
              </a:ext>
            </a:extLst>
          </p:cNvPr>
          <p:cNvSpPr>
            <a:spLocks xmlns:a="http://schemas.openxmlformats.org/drawingml/2006/main" noGrp="1"/>
          </p:cNvSpPr>
          <p:nvPr/>
        </p:nvSpPr>
        <p:spPr>
          <a:xfrm xmlns:a="http://schemas.openxmlformats.org/drawingml/2006/main">
            <a:off x="4762500" y="1752600"/>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4F5661"/>
                </a:solidFill>
              </a:defRPr>
            </a:pPr>
            <a:r>
              <a:rPr sz="1800">
                <a:solidFill>
                  <a:srgbClr val="4F5661"/>
                </a:solidFill>
              </a:rPr>
              <a:t>Measures the true planning ceiling with known intent.</a:t>
            </a:r>
          </a:p>
        </p:txBody>
      </p:sp>
      <p:sp>
        <p:nvSpPr>
          <p:cNvPr id="6" name="">
            <a:extLst xmlns:a="http://schemas.openxmlformats.org/drawingml/2006/main">
              <a:ext uri="{FF2B5EF4-FFF2-40B4-BE49-F238E27FC236}">
                <a16:creationId xmlns:a16="http://schemas.microsoft.com/office/drawing/2014/main" id="{6AAE4148-156E-4E34-84B5-7D24CA04CF96}"/>
              </a:ext>
            </a:extLst>
          </p:cNvPr>
          <p:cNvSpPr>
            <a:spLocks xmlns:a="http://schemas.openxmlformats.org/drawingml/2006/main" noGrp="1"/>
          </p:cNvSpPr>
          <p:nvPr/>
        </p:nvSpPr>
        <p:spPr>
          <a:xfrm xmlns:a="http://schemas.openxmlformats.org/drawingml/2006/main">
            <a:off x="685800" y="2724150"/>
            <a:ext cx="685800" cy="47625"/>
          </a:xfrm>
          <a:prstGeom xmlns:a="http://schemas.openxmlformats.org/drawingml/2006/main" prst="rect">
            <a:avLst/>
          </a:prstGeom>
          <a:solidFill xmlns:a="http://schemas.openxmlformats.org/drawingml/2006/main">
            <a:srgbClr val="0D6E7A"/>
          </a:solidFill>
          <a:ln xmlns:a="http://schemas.openxmlformats.org/drawingml/2006/main" w="0">
            <a:solidFill>
              <a:srgbClr val="0D6E7A"/>
            </a:solidFill>
            <a:prstDash val="solid"/>
          </a:ln>
        </p:spPr>
      </p:sp>
      <p:sp>
        <p:nvSpPr>
          <p:cNvPr id="7" name="">
            <a:extLst xmlns:a="http://schemas.openxmlformats.org/drawingml/2006/main">
              <a:ext uri="{FF2B5EF4-FFF2-40B4-BE49-F238E27FC236}">
                <a16:creationId xmlns:a16="http://schemas.microsoft.com/office/drawing/2014/main" id="{57BF0422-EF1A-4011-9540-E6F9FDF844F7}"/>
              </a:ext>
            </a:extLst>
          </p:cNvPr>
          <p:cNvSpPr>
            <a:spLocks xmlns:a="http://schemas.openxmlformats.org/drawingml/2006/main" noGrp="1"/>
          </p:cNvSpPr>
          <p:nvPr/>
        </p:nvSpPr>
        <p:spPr>
          <a:xfrm xmlns:a="http://schemas.openxmlformats.org/drawingml/2006/main">
            <a:off x="1657350" y="2571750"/>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0A0A0A"/>
                </a:solidFill>
              </a:defRPr>
            </a:pPr>
            <a:r>
              <a:rPr sz="1875" b="1">
                <a:solidFill>
                  <a:srgbClr val="0A0A0A"/>
                </a:solidFill>
              </a:rPr>
              <a:t>Switching prey</a:t>
            </a:r>
          </a:p>
        </p:txBody>
      </p:sp>
      <p:sp>
        <p:nvSpPr>
          <p:cNvPr id="8" name="">
            <a:extLst xmlns:a="http://schemas.openxmlformats.org/drawingml/2006/main">
              <a:ext uri="{FF2B5EF4-FFF2-40B4-BE49-F238E27FC236}">
                <a16:creationId xmlns:a16="http://schemas.microsoft.com/office/drawing/2014/main" id="{FCEC6203-AC65-4869-AE91-53EFB91503A6}"/>
              </a:ext>
            </a:extLst>
          </p:cNvPr>
          <p:cNvSpPr>
            <a:spLocks xmlns:a="http://schemas.openxmlformats.org/drawingml/2006/main" noGrp="1"/>
          </p:cNvSpPr>
          <p:nvPr/>
        </p:nvSpPr>
        <p:spPr>
          <a:xfrm xmlns:a="http://schemas.openxmlformats.org/drawingml/2006/main">
            <a:off x="4762500" y="2571750"/>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4F5661"/>
                </a:solidFill>
              </a:defRPr>
            </a:pPr>
            <a:r>
              <a:rPr sz="1800">
                <a:solidFill>
                  <a:srgbClr val="4F5661"/>
                </a:solidFill>
              </a:rPr>
              <a:t>Tests whether the belief tracks a strategy change during an episode.</a:t>
            </a:r>
          </a:p>
        </p:txBody>
      </p:sp>
      <p:sp>
        <p:nvSpPr>
          <p:cNvPr id="9" name="">
            <a:extLst xmlns:a="http://schemas.openxmlformats.org/drawingml/2006/main">
              <a:ext uri="{FF2B5EF4-FFF2-40B4-BE49-F238E27FC236}">
                <a16:creationId xmlns:a16="http://schemas.microsoft.com/office/drawing/2014/main" id="{1266620C-BD77-4397-ADD4-4666A14F41C4}"/>
              </a:ext>
            </a:extLst>
          </p:cNvPr>
          <p:cNvSpPr>
            <a:spLocks xmlns:a="http://schemas.openxmlformats.org/drawingml/2006/main" noGrp="1"/>
          </p:cNvSpPr>
          <p:nvPr/>
        </p:nvSpPr>
        <p:spPr>
          <a:xfrm xmlns:a="http://schemas.openxmlformats.org/drawingml/2006/main">
            <a:off x="685800" y="3543300"/>
            <a:ext cx="685800" cy="47625"/>
          </a:xfrm>
          <a:prstGeom xmlns:a="http://schemas.openxmlformats.org/drawingml/2006/main" prst="rect">
            <a:avLst/>
          </a:prstGeom>
          <a:solidFill xmlns:a="http://schemas.openxmlformats.org/drawingml/2006/main">
            <a:srgbClr val="0D6E7A"/>
          </a:solidFill>
          <a:ln xmlns:a="http://schemas.openxmlformats.org/drawingml/2006/main" w="0">
            <a:solidFill>
              <a:srgbClr val="0D6E7A"/>
            </a:solidFill>
            <a:prstDash val="solid"/>
          </a:ln>
        </p:spPr>
      </p:sp>
      <p:sp>
        <p:nvSpPr>
          <p:cNvPr id="10" name="">
            <a:extLst xmlns:a="http://schemas.openxmlformats.org/drawingml/2006/main">
              <a:ext uri="{FF2B5EF4-FFF2-40B4-BE49-F238E27FC236}">
                <a16:creationId xmlns:a16="http://schemas.microsoft.com/office/drawing/2014/main" id="{1C571232-1E3D-4A2D-A5CF-5D434F7BD8FD}"/>
              </a:ext>
            </a:extLst>
          </p:cNvPr>
          <p:cNvSpPr>
            <a:spLocks xmlns:a="http://schemas.openxmlformats.org/drawingml/2006/main" noGrp="1"/>
          </p:cNvSpPr>
          <p:nvPr/>
        </p:nvSpPr>
        <p:spPr>
          <a:xfrm xmlns:a="http://schemas.openxmlformats.org/drawingml/2006/main">
            <a:off x="1657350" y="3390900"/>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0A0A0A"/>
                </a:solidFill>
              </a:defRPr>
            </a:pPr>
            <a:r>
              <a:rPr sz="1875" b="1">
                <a:solidFill>
                  <a:srgbClr val="0A0A0A"/>
                </a:solidFill>
              </a:rPr>
              <a:t>HOP baseline</a:t>
            </a:r>
          </a:p>
        </p:txBody>
      </p:sp>
      <p:sp>
        <p:nvSpPr>
          <p:cNvPr id="11" name="">
            <a:extLst xmlns:a="http://schemas.openxmlformats.org/drawingml/2006/main">
              <a:ext uri="{FF2B5EF4-FFF2-40B4-BE49-F238E27FC236}">
                <a16:creationId xmlns:a16="http://schemas.microsoft.com/office/drawing/2014/main" id="{536F095E-C9B4-40DF-A4D3-F6BAD3DE3926}"/>
              </a:ext>
            </a:extLst>
          </p:cNvPr>
          <p:cNvSpPr>
            <a:spLocks xmlns:a="http://schemas.openxmlformats.org/drawingml/2006/main" noGrp="1"/>
          </p:cNvSpPr>
          <p:nvPr/>
        </p:nvSpPr>
        <p:spPr>
          <a:xfrm xmlns:a="http://schemas.openxmlformats.org/drawingml/2006/main">
            <a:off x="4762500" y="3390900"/>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4F5661"/>
                </a:solidFill>
              </a:defRPr>
            </a:pPr>
            <a:r>
              <a:rPr sz="1800">
                <a:solidFill>
                  <a:srgbClr val="4F5661"/>
                </a:solidFill>
              </a:rPr>
              <a:t>Checks the closest belief-search comparator.</a:t>
            </a:r>
          </a:p>
        </p:txBody>
      </p:sp>
      <p:sp>
        <p:nvSpPr>
          <p:cNvPr id="12" name="">
            <a:extLst xmlns:a="http://schemas.openxmlformats.org/drawingml/2006/main">
              <a:ext uri="{FF2B5EF4-FFF2-40B4-BE49-F238E27FC236}">
                <a16:creationId xmlns:a16="http://schemas.microsoft.com/office/drawing/2014/main" id="{A6BA9617-B09F-4EA1-BE21-3DD26088092A}"/>
              </a:ext>
            </a:extLst>
          </p:cNvPr>
          <p:cNvSpPr>
            <a:spLocks xmlns:a="http://schemas.openxmlformats.org/drawingml/2006/main" noGrp="1"/>
          </p:cNvSpPr>
          <p:nvPr/>
        </p:nvSpPr>
        <p:spPr>
          <a:xfrm xmlns:a="http://schemas.openxmlformats.org/drawingml/2006/main">
            <a:off x="685800" y="4362450"/>
            <a:ext cx="685800" cy="47625"/>
          </a:xfrm>
          <a:prstGeom xmlns:a="http://schemas.openxmlformats.org/drawingml/2006/main" prst="rect">
            <a:avLst/>
          </a:prstGeom>
          <a:solidFill xmlns:a="http://schemas.openxmlformats.org/drawingml/2006/main">
            <a:srgbClr val="C84C2A"/>
          </a:solidFill>
          <a:ln xmlns:a="http://schemas.openxmlformats.org/drawingml/2006/main" w="0">
            <a:solidFill>
              <a:srgbClr val="C84C2A"/>
            </a:solidFill>
            <a:prstDash val="solid"/>
          </a:ln>
        </p:spPr>
      </p:sp>
      <p:sp>
        <p:nvSpPr>
          <p:cNvPr id="13" name="">
            <a:extLst xmlns:a="http://schemas.openxmlformats.org/drawingml/2006/main">
              <a:ext uri="{FF2B5EF4-FFF2-40B4-BE49-F238E27FC236}">
                <a16:creationId xmlns:a16="http://schemas.microsoft.com/office/drawing/2014/main" id="{3C9516CF-6D28-4DFF-BAE0-0FF59B2EF5DA}"/>
              </a:ext>
            </a:extLst>
          </p:cNvPr>
          <p:cNvSpPr>
            <a:spLocks xmlns:a="http://schemas.openxmlformats.org/drawingml/2006/main" noGrp="1"/>
          </p:cNvSpPr>
          <p:nvPr/>
        </p:nvSpPr>
        <p:spPr>
          <a:xfrm xmlns:a="http://schemas.openxmlformats.org/drawingml/2006/main">
            <a:off x="1657350" y="4210050"/>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0A0A0A"/>
                </a:solidFill>
              </a:defRPr>
            </a:pPr>
            <a:r>
              <a:rPr sz="1875" b="1">
                <a:solidFill>
                  <a:srgbClr val="0A0A0A"/>
                </a:solidFill>
              </a:rPr>
              <a:t>Raw artifact archive</a:t>
            </a:r>
          </a:p>
        </p:txBody>
      </p:sp>
      <p:sp>
        <p:nvSpPr>
          <p:cNvPr id="14" name="">
            <a:extLst xmlns:a="http://schemas.openxmlformats.org/drawingml/2006/main">
              <a:ext uri="{FF2B5EF4-FFF2-40B4-BE49-F238E27FC236}">
                <a16:creationId xmlns:a16="http://schemas.microsoft.com/office/drawing/2014/main" id="{7CBA6F08-2D92-4497-A6C6-31588F11BCD0}"/>
              </a:ext>
            </a:extLst>
          </p:cNvPr>
          <p:cNvSpPr>
            <a:spLocks xmlns:a="http://schemas.openxmlformats.org/drawingml/2006/main" noGrp="1"/>
          </p:cNvSpPr>
          <p:nvPr/>
        </p:nvSpPr>
        <p:spPr>
          <a:xfrm xmlns:a="http://schemas.openxmlformats.org/drawingml/2006/main">
            <a:off x="4762500" y="4210050"/>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4F5661"/>
                </a:solidFill>
              </a:defRPr>
            </a:pPr>
            <a:r>
              <a:rPr sz="1800">
                <a:solidFill>
                  <a:srgbClr val="4F5661"/>
                </a:solidFill>
              </a:rPr>
              <a:t>Pins checkpoints, logs, and metrics to a release DOI.</a:t>
            </a:r>
          </a:p>
        </p:txBody>
      </p:sp>
      <p:sp>
        <p:nvSpPr>
          <p:cNvPr id="15" name="">
            <a:extLst xmlns:a="http://schemas.openxmlformats.org/drawingml/2006/main">
              <a:ext uri="{FF2B5EF4-FFF2-40B4-BE49-F238E27FC236}">
                <a16:creationId xmlns:a16="http://schemas.microsoft.com/office/drawing/2014/main" id="{DCF3C1AA-7D08-410D-BB75-AB69D367339F}"/>
              </a:ext>
            </a:extLst>
          </p:cNvPr>
          <p:cNvSpPr>
            <a:spLocks xmlns:a="http://schemas.openxmlformats.org/drawingml/2006/main" noGrp="1"/>
          </p:cNvSpPr>
          <p:nvPr/>
        </p:nvSpPr>
        <p:spPr>
          <a:xfrm xmlns:a="http://schemas.openxmlformats.org/drawingml/2006/main">
            <a:off x="685800" y="5600700"/>
            <a:ext cx="9810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0A0A0A"/>
                </a:solidFill>
              </a:defRPr>
            </a:pPr>
            <a:r>
              <a:rPr sz="1875" b="1">
                <a:solidFill>
                  <a:srgbClr val="0A0A0A"/>
                </a:solidFill>
              </a:rPr>
              <a:t>End with a concrete ask: accept the controlled result, then fund the baseline and switching-opponent run.</a:t>
            </a:r>
          </a:p>
        </p:txBody>
      </p:sp>
      <p:sp>
        <p:nvSpPr>
          <p:cNvPr id="16" name="">
            <a:extLst xmlns:a="http://schemas.openxmlformats.org/drawingml/2006/main">
              <a:ext uri="{FF2B5EF4-FFF2-40B4-BE49-F238E27FC236}">
                <a16:creationId xmlns:a16="http://schemas.microsoft.com/office/drawing/2014/main" id="{CCA805A4-6A4B-49E8-ACDD-EF730C95FDFD}"/>
              </a:ext>
            </a:extLst>
          </p:cNvPr>
          <p:cNvSpPr>
            <a:spLocks xmlns:a="http://schemas.openxmlformats.org/drawingml/2006/main" noGrp="1"/>
          </p:cNvSpPr>
          <p:nvPr/>
        </p:nvSpPr>
        <p:spPr>
          <a:xfrm xmlns:a="http://schemas.openxmlformats.org/drawingml/2006/main">
            <a:off x="11277600" y="62674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a:solidFill>
                  <a:srgbClr val="4F5661"/>
                </a:solidFill>
              </a:defRPr>
            </a:pPr>
            <a:r>
              <a:rPr sz="1050">
                <a:solidFill>
                  <a:srgbClr val="4F5661"/>
                </a:solidFill>
              </a:rPr>
              <a:t>13</a:t>
            </a:r>
          </a:p>
        </p:txBody>
      </p:sp>
    </p:spTree>
    <p:extLst>
      <p:ext uri="{BB962C8B-B14F-4D97-AF65-F5344CB8AC3E}">
        <p14:creationId xmlns:p14="http://schemas.microsoft.com/office/powerpoint/2010/main" val="1219590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2026-07-01T21:06:28.2350000Z</dcterms:created>
  <dcterms:modified xsi:type="dcterms:W3CDTF">2026-07-01T21:06:28.2350000Z</dcterms:modified>
</coreProperties>
</file>