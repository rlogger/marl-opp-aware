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216688df664eb5" /><Relationship Type="http://schemas.openxmlformats.org/officeDocument/2006/relationships/extended-properties" Target="/docProps/app.xml" Id="R293f5be8f0fa4d93" /><Relationship Type="http://schemas.openxmlformats.org/officeDocument/2006/relationships/officeDocument" Target="/ppt/presentation.xml" Id="Rcd257dfbba5f4f08" /></Relationships>
</file>

<file path=ppt/presentation.xml><?xml version="1.0" encoding="utf-8"?>
<p:presentation xmlns:p="http://schemas.openxmlformats.org/presentationml/2006/main">
  <p:sldMasterIdLst>
    <p:sldMasterId xmlns:r="http://schemas.openxmlformats.org/officeDocument/2006/relationships" id="2147483648" r:id="Rd92b93ce81204696"/>
  </p:sldMasterIdLst>
  <p:notesMasterIdLst>
    <p:notesMasterId xmlns:r="http://schemas.openxmlformats.org/officeDocument/2006/relationships" r:id="Rb0667f06523647b7"/>
  </p:notesMasterIdLst>
  <p:sldIdLst>
    <p:sldId xmlns:r="http://schemas.openxmlformats.org/officeDocument/2006/relationships" id="256" r:id="Ra848c826f57941d2"/>
    <p:sldId xmlns:r="http://schemas.openxmlformats.org/officeDocument/2006/relationships" id="257" r:id="R10c9034ee9c241be"/>
    <p:sldId xmlns:r="http://schemas.openxmlformats.org/officeDocument/2006/relationships" id="258" r:id="R0355999fc63e410d"/>
    <p:sldId xmlns:r="http://schemas.openxmlformats.org/officeDocument/2006/relationships" id="259" r:id="R84f6c22130c140f0"/>
    <p:sldId xmlns:r="http://schemas.openxmlformats.org/officeDocument/2006/relationships" id="260" r:id="R6e3f50ff315d4107"/>
    <p:sldId xmlns:r="http://schemas.openxmlformats.org/officeDocument/2006/relationships" id="261" r:id="R1ef3c586b5e047a2"/>
    <p:sldId xmlns:r="http://schemas.openxmlformats.org/officeDocument/2006/relationships" id="262" r:id="Rc0618191ff6140ec"/>
    <p:sldId xmlns:r="http://schemas.openxmlformats.org/officeDocument/2006/relationships" id="263" r:id="R475958042b72440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ef03498ff5942af" /><Relationship Type="http://schemas.openxmlformats.org/officeDocument/2006/relationships/slideMaster" Target="/ppt/slideMasters/slideMaster1.xml" Id="Rd92b93ce81204696" /><Relationship Type="http://schemas.openxmlformats.org/officeDocument/2006/relationships/notesMaster" Target="/ppt/notesMasters/notesMaster1.xml" Id="Rb0667f06523647b7" /><Relationship Type="http://schemas.openxmlformats.org/officeDocument/2006/relationships/presProps" Target="/ppt/presProps.xml" Id="R2e77be8e9a81456b" /><Relationship Type="http://schemas.openxmlformats.org/officeDocument/2006/relationships/tableStyles" Target="/ppt/tableStyles.xml" Id="R5aac9aa456454043" /><Relationship Type="http://schemas.openxmlformats.org/officeDocument/2006/relationships/slide" Target="/ppt/slides/slide1.xml" Id="Ra848c826f57941d2" /><Relationship Type="http://schemas.openxmlformats.org/officeDocument/2006/relationships/slide" Target="/ppt/slides/slide2.xml" Id="R10c9034ee9c241be" /><Relationship Type="http://schemas.openxmlformats.org/officeDocument/2006/relationships/slide" Target="/ppt/slides/slide3.xml" Id="R0355999fc63e410d" /><Relationship Type="http://schemas.openxmlformats.org/officeDocument/2006/relationships/slide" Target="/ppt/slides/slide4.xml" Id="R84f6c22130c140f0" /><Relationship Type="http://schemas.openxmlformats.org/officeDocument/2006/relationships/slide" Target="/ppt/slides/slide5.xml" Id="R6e3f50ff315d4107" /><Relationship Type="http://schemas.openxmlformats.org/officeDocument/2006/relationships/slide" Target="/ppt/slides/slide6.xml" Id="R1ef3c586b5e047a2" /><Relationship Type="http://schemas.openxmlformats.org/officeDocument/2006/relationships/slide" Target="/ppt/slides/slide7.xml" Id="Rc0618191ff6140ec" /><Relationship Type="http://schemas.openxmlformats.org/officeDocument/2006/relationships/slide" Target="/ppt/slides/slide8.xml" Id="R475958042b7244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2dd3e20fea45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2df22e32cb418c" /><Relationship Type="http://schemas.openxmlformats.org/officeDocument/2006/relationships/notesMaster" Target="/ppt/notesMasters/notesMaster1.xml" Id="Ra8a94015a03e4c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029764c022c349f9" /><Relationship Type="http://schemas.openxmlformats.org/officeDocument/2006/relationships/notesMaster" Target="/ppt/notesMasters/notesMaster1.xml" Id="Rc4c995ba27e342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a94291c60645d6" /><Relationship Type="http://schemas.openxmlformats.org/officeDocument/2006/relationships/notesMaster" Target="/ppt/notesMasters/notesMaster1.xml" Id="R42de392b41aa4a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cb8209a07c490d" /><Relationship Type="http://schemas.openxmlformats.org/officeDocument/2006/relationships/notesMaster" Target="/ppt/notesMasters/notesMaster1.xml" Id="R8ded84b5c3ef4f0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5b9e1f7204a4bac" /><Relationship Type="http://schemas.openxmlformats.org/officeDocument/2006/relationships/notesMaster" Target="/ppt/notesMasters/notesMaster1.xml" Id="R37a9503bd8f242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9336747de84327" /><Relationship Type="http://schemas.openxmlformats.org/officeDocument/2006/relationships/notesMaster" Target="/ppt/notesMasters/notesMaster1.xml" Id="Rae08b1d14bd0427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23695e957d4839" /><Relationship Type="http://schemas.openxmlformats.org/officeDocument/2006/relationships/notesMaster" Target="/ppt/notesMasters/notesMaster1.xml" Id="R911146ef37b945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a58d92f477d47ea" /><Relationship Type="http://schemas.openxmlformats.org/officeDocument/2006/relationships/notesMaster" Target="/ppt/notesMasters/notesMaster1.xml" Id="R4d03400f134d4e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one-sentence thesis: infer the opponent's hidden strategy as a calibrated belief, then plan against that belief. Be precise that this is a controlled MARL study, not yet a broad SOTA model-based MARL claim. The deck is intentionally minimal; the defense lives in the speaker notes and repo 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prevents overclaiming. The environment is deliberately controlled: same map, hidden per-episode strategy, and measurable ground truth. The value is causal clarity: if performance moves, we know whether it came from inference, uncertainty, or lookahead.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plot as two claims. First, intent is inferable from behavior. Second, compressing the posterior into the wrong point estimate is actively harmful. That is why the planner should consume the belief distribution, not just argmax intent.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linger on. The fair phrasing is that inferred-belief planning beats the flat-belief ablation and matches or slightly exceeds a reactive oracle. Do not say it beats an oracle planner; that should be run before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literature bridge: JEPA-style predictive learning is a better fit than reconstruction when the important variable is the stable cause of future behavior. It gives the paper a label-free path while preserving the central belief-planning 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earn trust. The representation is strong enough to guide planning, but the learned dynamics model is not reliable enough yet. That makes the submission story sharper, not weaker, because it separates representation evidence from model-based control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supporting evidence, not the main claim. The clone is good enough that imitation is not the bottleneck. True strategy information helps, but the unsupervised resource-axis latent is not yet a clean paper-level win.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tying the paper to the literature. HOP is the closest belief-plus-planning comparison. MAZero, MAMBA, MARIE, and MATWM cover model-based MARL. MBOM and AORPO cover opponent modeling. The repo is now packaged like a paper artifact; the remaining risk is scientific comparison breadth.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bffe0d369043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81b34505624690" /><Relationship Type="http://schemas.openxmlformats.org/officeDocument/2006/relationships/slideLayout" Target="/ppt/slideLayouts/slideLayout1.xml" Id="R8bcb4d91c99a47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cb4d91c99a47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91525040a3e4370" /><Relationship Type="http://schemas.openxmlformats.org/officeDocument/2006/relationships/notesSlide" Target="/ppt/notesSlides/notesSlide1.xml" Id="R7ccfd25c44b646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df2fd93d1264adb" /><Relationship Type="http://schemas.openxmlformats.org/officeDocument/2006/relationships/notesSlide" Target="/ppt/notesSlides/notesSlide2.xml" Id="R0b0b63af8ca44b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a3c8da52c1e48d5" /><Relationship Type="http://schemas.openxmlformats.org/officeDocument/2006/relationships/image" Target="/ppt/media/image.png" Id="Rb10461d5f9814d74" /><Relationship Type="http://schemas.openxmlformats.org/officeDocument/2006/relationships/notesSlide" Target="/ppt/notesSlides/notesSlide3.xml" Id="R7a8f7d38175a4f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236f44fdf5642a3" /><Relationship Type="http://schemas.openxmlformats.org/officeDocument/2006/relationships/image" Target="/ppt/media/image2.png" Id="Rcd33eb6d853543b0" /><Relationship Type="http://schemas.openxmlformats.org/officeDocument/2006/relationships/notesSlide" Target="/ppt/notesSlides/notesSlide4.xml" Id="Rd93eb349b60b4ec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d71441d070743e1" /><Relationship Type="http://schemas.openxmlformats.org/officeDocument/2006/relationships/image" Target="/ppt/media/image3.png" Id="Rfc1579fb8960409d" /><Relationship Type="http://schemas.openxmlformats.org/officeDocument/2006/relationships/notesSlide" Target="/ppt/notesSlides/notesSlide5.xml" Id="R17367d4e63474f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74eb6b275c34757" /><Relationship Type="http://schemas.openxmlformats.org/officeDocument/2006/relationships/image" Target="/ppt/media/image4.png" Id="R0ce6d5671a8741ac" /><Relationship Type="http://schemas.openxmlformats.org/officeDocument/2006/relationships/notesSlide" Target="/ppt/notesSlides/notesSlide6.xml" Id="R46f5a1c690b14a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1d43b2af09941c0" /><Relationship Type="http://schemas.openxmlformats.org/officeDocument/2006/relationships/image" Target="/ppt/media/image5.png" Id="R6a1555b77f584f37" /><Relationship Type="http://schemas.openxmlformats.org/officeDocument/2006/relationships/image" Target="/ppt/media/image6.png" Id="Rad3fb6de4d16487f" /><Relationship Type="http://schemas.openxmlformats.org/officeDocument/2006/relationships/notesSlide" Target="/ppt/notesSlides/notesSlide7.xml" Id="R95f5364021dd4c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affbd87f4724ed7" /><Relationship Type="http://schemas.openxmlformats.org/officeDocument/2006/relationships/notesSlide" Target="/ppt/notesSlides/notesSlide8.xml" Id="R7e9a5edc3b2f4e3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EE6C92A-FDC1-4E57-A482-01FA6FBCC4E3}"/>
              </a:ext>
            </a:extLst>
          </p:cNvPr>
          <p:cNvSpPr>
            <a:spLocks xmlns:a="http://schemas.openxmlformats.org/drawingml/2006/main" noGrp="1"/>
          </p:cNvSpPr>
          <p:nvPr/>
        </p:nvSpPr>
        <p:spPr>
          <a:xfrm xmlns:a="http://schemas.openxmlformats.org/drawingml/2006/main">
            <a:off x="533400" y="742950"/>
            <a:ext cx="7905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800" b="1">
                <a:solidFill>
                  <a:srgbClr val="0A0A0A"/>
                </a:solidFill>
              </a:defRPr>
            </a:pPr>
            <a:r>
              <a:rPr sz="4800" b="1">
                <a:solidFill>
                  <a:srgbClr val="0A0A0A"/>
                </a:solidFill>
              </a:rPr>
              <a:t>Adaptive Opponent</a:t>
            </a:r>
          </a:p>
          <a:p xmlns:a="http://schemas.openxmlformats.org/drawingml/2006/main">
            <a:pPr>
              <a:defRPr sz="4800" b="1">
                <a:solidFill>
                  <a:srgbClr val="0A0A0A"/>
                </a:solidFill>
              </a:defRPr>
            </a:pPr>
            <a:r>
              <a:rPr sz="4800" b="1">
                <a:solidFill>
                  <a:srgbClr val="0A0A0A"/>
                </a:solidFill>
              </a:rPr>
              <a:t>Modeling for MARL</a:t>
            </a:r>
          </a:p>
        </p:txBody>
      </p:sp>
      <p:sp>
        <p:nvSpPr>
          <p:cNvPr id="2" name="">
            <a:extLst xmlns:a="http://schemas.openxmlformats.org/drawingml/2006/main">
              <a:ext uri="{FF2B5EF4-FFF2-40B4-BE49-F238E27FC236}">
                <a16:creationId xmlns:a16="http://schemas.microsoft.com/office/drawing/2014/main" id="{D0F2B427-B797-4F44-9E17-1D0512E28D0C}"/>
              </a:ext>
            </a:extLst>
          </p:cNvPr>
          <p:cNvSpPr>
            <a:spLocks xmlns:a="http://schemas.openxmlformats.org/drawingml/2006/main" noGrp="1"/>
          </p:cNvSpPr>
          <p:nvPr/>
        </p:nvSpPr>
        <p:spPr>
          <a:xfrm xmlns:a="http://schemas.openxmlformats.org/drawingml/2006/main">
            <a:off x="533400" y="2647950"/>
            <a:ext cx="8096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a:solidFill>
                  <a:srgbClr val="4F5661"/>
                </a:solidFill>
              </a:defRPr>
            </a:pPr>
            <a:r>
              <a:rPr sz="1950">
                <a:solidFill>
                  <a:srgbClr val="4F5661"/>
                </a:solidFill>
              </a:rPr>
              <a:t>A controlled study of hidden opponent intent, calibrated belief, and belief-conditioned planning.</a:t>
            </a:r>
          </a:p>
        </p:txBody>
      </p:sp>
      <p:sp>
        <p:nvSpPr>
          <p:cNvPr id="3" name="">
            <a:extLst xmlns:a="http://schemas.openxmlformats.org/drawingml/2006/main">
              <a:ext uri="{FF2B5EF4-FFF2-40B4-BE49-F238E27FC236}">
                <a16:creationId xmlns:a16="http://schemas.microsoft.com/office/drawing/2014/main" id="{F93FE661-61BC-49C3-9247-FA5013160AD0}"/>
              </a:ext>
            </a:extLst>
          </p:cNvPr>
          <p:cNvSpPr>
            <a:spLocks xmlns:a="http://schemas.openxmlformats.org/drawingml/2006/main" noGrp="1"/>
          </p:cNvSpPr>
          <p:nvPr/>
        </p:nvSpPr>
        <p:spPr>
          <a:xfrm xmlns:a="http://schemas.openxmlformats.org/drawingml/2006/main">
            <a:off x="533400" y="4248150"/>
            <a:ext cx="11125200" cy="137160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sp>
        <p:nvSpPr>
          <p:cNvPr id="4" name="">
            <a:extLst xmlns:a="http://schemas.openxmlformats.org/drawingml/2006/main">
              <a:ext uri="{FF2B5EF4-FFF2-40B4-BE49-F238E27FC236}">
                <a16:creationId xmlns:a16="http://schemas.microsoft.com/office/drawing/2014/main" id="{E550AD16-4EBE-44CF-8579-96041D24B3E3}"/>
              </a:ext>
            </a:extLst>
          </p:cNvPr>
          <p:cNvSpPr>
            <a:spLocks xmlns:a="http://schemas.openxmlformats.org/drawingml/2006/main" noGrp="1"/>
          </p:cNvSpPr>
          <p:nvPr/>
        </p:nvSpPr>
        <p:spPr>
          <a:xfrm xmlns:a="http://schemas.openxmlformats.org/drawingml/2006/main">
            <a:off x="838200" y="451485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050" b="1">
                <a:solidFill>
                  <a:srgbClr val="0D6E7A"/>
                </a:solidFill>
              </a:defRPr>
            </a:pPr>
            <a:r>
              <a:rPr sz="4050" b="1">
                <a:solidFill>
                  <a:srgbClr val="0D6E7A"/>
                </a:solidFill>
              </a:rPr>
              <a:t>4.31</a:t>
            </a:r>
          </a:p>
        </p:txBody>
      </p:sp>
      <p:sp>
        <p:nvSpPr>
          <p:cNvPr id="5" name="">
            <a:extLst xmlns:a="http://schemas.openxmlformats.org/drawingml/2006/main">
              <a:ext uri="{FF2B5EF4-FFF2-40B4-BE49-F238E27FC236}">
                <a16:creationId xmlns:a16="http://schemas.microsoft.com/office/drawing/2014/main" id="{13D4EC12-F613-41B2-A1FC-BA6927F5ED97}"/>
              </a:ext>
            </a:extLst>
          </p:cNvPr>
          <p:cNvSpPr>
            <a:spLocks xmlns:a="http://schemas.openxmlformats.org/drawingml/2006/main" noGrp="1"/>
          </p:cNvSpPr>
          <p:nvPr/>
        </p:nvSpPr>
        <p:spPr>
          <a:xfrm xmlns:a="http://schemas.openxmlformats.org/drawingml/2006/main">
            <a:off x="838200" y="5143500"/>
            <a:ext cx="304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4F5661"/>
                </a:solidFill>
              </a:defRPr>
            </a:pPr>
            <a:r>
              <a:rPr sz="1350">
                <a:solidFill>
                  <a:srgbClr val="4F5661"/>
                </a:solidFill>
              </a:rPr>
              <a:t>captures/episode with inferred-belief planning</a:t>
            </a:r>
          </a:p>
        </p:txBody>
      </p:sp>
      <p:sp>
        <p:nvSpPr>
          <p:cNvPr id="6" name="">
            <a:extLst xmlns:a="http://schemas.openxmlformats.org/drawingml/2006/main">
              <a:ext uri="{FF2B5EF4-FFF2-40B4-BE49-F238E27FC236}">
                <a16:creationId xmlns:a16="http://schemas.microsoft.com/office/drawing/2014/main" id="{901ADBC0-04A7-446F-B584-46AB5EAF1AEA}"/>
              </a:ext>
            </a:extLst>
          </p:cNvPr>
          <p:cNvSpPr>
            <a:spLocks xmlns:a="http://schemas.openxmlformats.org/drawingml/2006/main" noGrp="1"/>
          </p:cNvSpPr>
          <p:nvPr/>
        </p:nvSpPr>
        <p:spPr>
          <a:xfrm xmlns:a="http://schemas.openxmlformats.org/drawingml/2006/main">
            <a:off x="4457700" y="451485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050" b="1">
                <a:solidFill>
                  <a:srgbClr val="C84C2A"/>
                </a:solidFill>
              </a:defRPr>
            </a:pPr>
            <a:r>
              <a:rPr sz="4050" b="1">
                <a:solidFill>
                  <a:srgbClr val="C84C2A"/>
                </a:solidFill>
              </a:rPr>
              <a:t>-47%</a:t>
            </a:r>
          </a:p>
        </p:txBody>
      </p:sp>
      <p:sp>
        <p:nvSpPr>
          <p:cNvPr id="7" name="">
            <a:extLst xmlns:a="http://schemas.openxmlformats.org/drawingml/2006/main">
              <a:ext uri="{FF2B5EF4-FFF2-40B4-BE49-F238E27FC236}">
                <a16:creationId xmlns:a16="http://schemas.microsoft.com/office/drawing/2014/main" id="{399350FB-FEE7-40E8-A397-DA5F68A3E44E}"/>
              </a:ext>
            </a:extLst>
          </p:cNvPr>
          <p:cNvSpPr>
            <a:spLocks xmlns:a="http://schemas.openxmlformats.org/drawingml/2006/main" noGrp="1"/>
          </p:cNvSpPr>
          <p:nvPr/>
        </p:nvSpPr>
        <p:spPr>
          <a:xfrm xmlns:a="http://schemas.openxmlformats.org/drawingml/2006/main">
            <a:off x="4457700" y="514350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4F5661"/>
                </a:solidFill>
              </a:defRPr>
            </a:pPr>
            <a:r>
              <a:rPr sz="1350">
                <a:solidFill>
                  <a:srgbClr val="4F5661"/>
                </a:solidFill>
              </a:rPr>
              <a:t>wrong hard intent vs. opponent-blind policy</a:t>
            </a:r>
          </a:p>
        </p:txBody>
      </p:sp>
      <p:sp>
        <p:nvSpPr>
          <p:cNvPr id="8" name="">
            <a:extLst xmlns:a="http://schemas.openxmlformats.org/drawingml/2006/main">
              <a:ext uri="{FF2B5EF4-FFF2-40B4-BE49-F238E27FC236}">
                <a16:creationId xmlns:a16="http://schemas.microsoft.com/office/drawing/2014/main" id="{310B07C6-6A8B-4915-9A1B-ED1B9A025FEE}"/>
              </a:ext>
            </a:extLst>
          </p:cNvPr>
          <p:cNvSpPr>
            <a:spLocks xmlns:a="http://schemas.openxmlformats.org/drawingml/2006/main" noGrp="1"/>
          </p:cNvSpPr>
          <p:nvPr/>
        </p:nvSpPr>
        <p:spPr>
          <a:xfrm xmlns:a="http://schemas.openxmlformats.org/drawingml/2006/main">
            <a:off x="8096250" y="45148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050" b="1">
                <a:solidFill>
                  <a:srgbClr val="0A0A0A"/>
                </a:solidFill>
              </a:defRPr>
            </a:pPr>
            <a:r>
              <a:rPr sz="4050" b="1">
                <a:solidFill>
                  <a:srgbClr val="0A0A0A"/>
                </a:solidFill>
              </a:rPr>
              <a:t>0 labels</a:t>
            </a:r>
          </a:p>
        </p:txBody>
      </p:sp>
      <p:sp>
        <p:nvSpPr>
          <p:cNvPr id="9" name="">
            <a:extLst xmlns:a="http://schemas.openxmlformats.org/drawingml/2006/main">
              <a:ext uri="{FF2B5EF4-FFF2-40B4-BE49-F238E27FC236}">
                <a16:creationId xmlns:a16="http://schemas.microsoft.com/office/drawing/2014/main" id="{6C56091E-5278-4EE7-8203-B6686809BC86}"/>
              </a:ext>
            </a:extLst>
          </p:cNvPr>
          <p:cNvSpPr>
            <a:spLocks xmlns:a="http://schemas.openxmlformats.org/drawingml/2006/main" noGrp="1"/>
          </p:cNvSpPr>
          <p:nvPr/>
        </p:nvSpPr>
        <p:spPr>
          <a:xfrm xmlns:a="http://schemas.openxmlformats.org/drawingml/2006/main">
            <a:off x="8096250" y="51435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4F5661"/>
                </a:solidFill>
              </a:defRPr>
            </a:pPr>
            <a:r>
              <a:rPr sz="1350">
                <a:solidFill>
                  <a:srgbClr val="4F5661"/>
                </a:solidFill>
              </a:rPr>
              <a:t>JEPA belief recovers the intent signal</a:t>
            </a:r>
          </a:p>
        </p:txBody>
      </p:sp>
      <p:sp>
        <p:nvSpPr>
          <p:cNvPr id="10" name="">
            <a:extLst xmlns:a="http://schemas.openxmlformats.org/drawingml/2006/main">
              <a:ext uri="{FF2B5EF4-FFF2-40B4-BE49-F238E27FC236}">
                <a16:creationId xmlns:a16="http://schemas.microsoft.com/office/drawing/2014/main" id="{E42B5CA1-E826-4713-83E7-40666D3F500A}"/>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01</a:t>
            </a:r>
          </a:p>
        </p:txBody>
      </p:sp>
    </p:spTree>
    <p:extLst>
      <p:ext uri="{BB962C8B-B14F-4D97-AF65-F5344CB8AC3E}">
        <p14:creationId xmlns:p14="http://schemas.microsoft.com/office/powerpoint/2010/main" val="5059194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976083E-134F-4D46-895C-EF57D6038E3D}"/>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SETUP</a:t>
            </a:r>
          </a:p>
        </p:txBody>
      </p:sp>
      <p:sp>
        <p:nvSpPr>
          <p:cNvPr id="2" name="">
            <a:extLst xmlns:a="http://schemas.openxmlformats.org/drawingml/2006/main">
              <a:ext uri="{FF2B5EF4-FFF2-40B4-BE49-F238E27FC236}">
                <a16:creationId xmlns:a16="http://schemas.microsoft.com/office/drawing/2014/main" id="{AB30B690-1E62-4D88-9428-C2DCCB4E89FC}"/>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The experiment isolates one question</a:t>
            </a:r>
          </a:p>
        </p:txBody>
      </p:sp>
      <p:sp>
        <p:nvSpPr>
          <p:cNvPr id="3" name="">
            <a:extLst xmlns:a="http://schemas.openxmlformats.org/drawingml/2006/main">
              <a:ext uri="{FF2B5EF4-FFF2-40B4-BE49-F238E27FC236}">
                <a16:creationId xmlns:a16="http://schemas.microsoft.com/office/drawing/2014/main" id="{4227933E-ACD9-4FB8-890D-38E9926BF5A2}"/>
              </a:ext>
            </a:extLst>
          </p:cNvPr>
          <p:cNvSpPr>
            <a:spLocks xmlns:a="http://schemas.openxmlformats.org/drawingml/2006/main" noGrp="1"/>
          </p:cNvSpPr>
          <p:nvPr/>
        </p:nvSpPr>
        <p:spPr>
          <a:xfrm xmlns:a="http://schemas.openxmlformats.org/drawingml/2006/main">
            <a:off x="533400" y="16954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250" b="1">
                <a:solidFill>
                  <a:srgbClr val="0A0A0A"/>
                </a:solidFill>
              </a:defRPr>
            </a:pPr>
            <a:r>
              <a:rPr sz="2250" b="1">
                <a:solidFill>
                  <a:srgbClr val="0A0A0A"/>
                </a:solidFill>
              </a:rPr>
              <a:t>Can a predator team use early opponent behavior to plan better than a team that reacts to a point estimate?</a:t>
            </a:r>
          </a:p>
        </p:txBody>
      </p:sp>
      <p:sp>
        <p:nvSpPr>
          <p:cNvPr id="4" name="">
            <a:extLst xmlns:a="http://schemas.openxmlformats.org/drawingml/2006/main">
              <a:ext uri="{FF2B5EF4-FFF2-40B4-BE49-F238E27FC236}">
                <a16:creationId xmlns:a16="http://schemas.microsoft.com/office/drawing/2014/main" id="{FDA16A81-6B8D-4D05-BBED-37595B5D0A25}"/>
              </a:ext>
            </a:extLst>
          </p:cNvPr>
          <p:cNvSpPr>
            <a:spLocks xmlns:a="http://schemas.openxmlformats.org/drawingml/2006/main" noGrp="1"/>
          </p:cNvSpPr>
          <p:nvPr/>
        </p:nvSpPr>
        <p:spPr>
          <a:xfrm xmlns:a="http://schemas.openxmlformats.org/drawingml/2006/main">
            <a:off x="533400" y="3028950"/>
            <a:ext cx="685800" cy="3810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5" name="">
            <a:extLst xmlns:a="http://schemas.openxmlformats.org/drawingml/2006/main">
              <a:ext uri="{FF2B5EF4-FFF2-40B4-BE49-F238E27FC236}">
                <a16:creationId xmlns:a16="http://schemas.microsoft.com/office/drawing/2014/main" id="{1520D208-F1BD-4C2A-B81F-EF42FC995BCF}"/>
              </a:ext>
            </a:extLst>
          </p:cNvPr>
          <p:cNvSpPr>
            <a:spLocks xmlns:a="http://schemas.openxmlformats.org/drawingml/2006/main" noGrp="1"/>
          </p:cNvSpPr>
          <p:nvPr/>
        </p:nvSpPr>
        <p:spPr>
          <a:xfrm xmlns:a="http://schemas.openxmlformats.org/drawingml/2006/main">
            <a:off x="1466850" y="28956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b="1">
                <a:solidFill>
                  <a:srgbClr val="0A0A0A"/>
                </a:solidFill>
              </a:defRPr>
            </a:pPr>
            <a:r>
              <a:rPr sz="1650" b="1">
                <a:solidFill>
                  <a:srgbClr val="0A0A0A"/>
                </a:solidFill>
              </a:rPr>
              <a:t>Hidden state</a:t>
            </a:r>
          </a:p>
        </p:txBody>
      </p:sp>
      <p:sp>
        <p:nvSpPr>
          <p:cNvPr id="6" name="">
            <a:extLst xmlns:a="http://schemas.openxmlformats.org/drawingml/2006/main">
              <a:ext uri="{FF2B5EF4-FFF2-40B4-BE49-F238E27FC236}">
                <a16:creationId xmlns:a16="http://schemas.microsoft.com/office/drawing/2014/main" id="{470E2075-4E5D-4131-98CC-47A960B1B2E6}"/>
              </a:ext>
            </a:extLst>
          </p:cNvPr>
          <p:cNvSpPr>
            <a:spLocks xmlns:a="http://schemas.openxmlformats.org/drawingml/2006/main" noGrp="1"/>
          </p:cNvSpPr>
          <p:nvPr/>
        </p:nvSpPr>
        <p:spPr>
          <a:xfrm xmlns:a="http://schemas.openxmlformats.org/drawingml/2006/main">
            <a:off x="3790950" y="2895600"/>
            <a:ext cx="685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The prey draws a corner intent each episode; predators never observe it directly.</a:t>
            </a:r>
          </a:p>
        </p:txBody>
      </p:sp>
      <p:sp>
        <p:nvSpPr>
          <p:cNvPr id="7" name="">
            <a:extLst xmlns:a="http://schemas.openxmlformats.org/drawingml/2006/main">
              <a:ext uri="{FF2B5EF4-FFF2-40B4-BE49-F238E27FC236}">
                <a16:creationId xmlns:a16="http://schemas.microsoft.com/office/drawing/2014/main" id="{39F26D81-3D7B-4A5B-9D56-2A58571D9E23}"/>
              </a:ext>
            </a:extLst>
          </p:cNvPr>
          <p:cNvSpPr>
            <a:spLocks xmlns:a="http://schemas.openxmlformats.org/drawingml/2006/main" noGrp="1"/>
          </p:cNvSpPr>
          <p:nvPr/>
        </p:nvSpPr>
        <p:spPr>
          <a:xfrm xmlns:a="http://schemas.openxmlformats.org/drawingml/2006/main">
            <a:off x="533400" y="3752850"/>
            <a:ext cx="685800" cy="3810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8" name="">
            <a:extLst xmlns:a="http://schemas.openxmlformats.org/drawingml/2006/main">
              <a:ext uri="{FF2B5EF4-FFF2-40B4-BE49-F238E27FC236}">
                <a16:creationId xmlns:a16="http://schemas.microsoft.com/office/drawing/2014/main" id="{621067E1-E3F6-4504-BF0A-B64F5E2D349A}"/>
              </a:ext>
            </a:extLst>
          </p:cNvPr>
          <p:cNvSpPr>
            <a:spLocks xmlns:a="http://schemas.openxmlformats.org/drawingml/2006/main" noGrp="1"/>
          </p:cNvSpPr>
          <p:nvPr/>
        </p:nvSpPr>
        <p:spPr>
          <a:xfrm xmlns:a="http://schemas.openxmlformats.org/drawingml/2006/main">
            <a:off x="1466850" y="36195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b="1">
                <a:solidFill>
                  <a:srgbClr val="0A0A0A"/>
                </a:solidFill>
              </a:defRPr>
            </a:pPr>
            <a:r>
              <a:rPr sz="1650" b="1">
                <a:solidFill>
                  <a:srgbClr val="0A0A0A"/>
                </a:solidFill>
              </a:rPr>
              <a:t>Evidence</a:t>
            </a:r>
          </a:p>
        </p:txBody>
      </p:sp>
      <p:sp>
        <p:nvSpPr>
          <p:cNvPr id="9" name="">
            <a:extLst xmlns:a="http://schemas.openxmlformats.org/drawingml/2006/main">
              <a:ext uri="{FF2B5EF4-FFF2-40B4-BE49-F238E27FC236}">
                <a16:creationId xmlns:a16="http://schemas.microsoft.com/office/drawing/2014/main" id="{B4E49668-D938-4261-9424-EF2E710E0EDE}"/>
              </a:ext>
            </a:extLst>
          </p:cNvPr>
          <p:cNvSpPr>
            <a:spLocks xmlns:a="http://schemas.openxmlformats.org/drawingml/2006/main" noGrp="1"/>
          </p:cNvSpPr>
          <p:nvPr/>
        </p:nvSpPr>
        <p:spPr>
          <a:xfrm xmlns:a="http://schemas.openxmlformats.org/drawingml/2006/main">
            <a:off x="3790950" y="3619500"/>
            <a:ext cx="685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The first k prey steps become a posterior belief over four intents.</a:t>
            </a:r>
          </a:p>
        </p:txBody>
      </p:sp>
      <p:sp>
        <p:nvSpPr>
          <p:cNvPr id="10" name="">
            <a:extLst xmlns:a="http://schemas.openxmlformats.org/drawingml/2006/main">
              <a:ext uri="{FF2B5EF4-FFF2-40B4-BE49-F238E27FC236}">
                <a16:creationId xmlns:a16="http://schemas.microsoft.com/office/drawing/2014/main" id="{070332C6-B918-4A61-A086-6CCF46215271}"/>
              </a:ext>
            </a:extLst>
          </p:cNvPr>
          <p:cNvSpPr>
            <a:spLocks xmlns:a="http://schemas.openxmlformats.org/drawingml/2006/main" noGrp="1"/>
          </p:cNvSpPr>
          <p:nvPr/>
        </p:nvSpPr>
        <p:spPr>
          <a:xfrm xmlns:a="http://schemas.openxmlformats.org/drawingml/2006/main">
            <a:off x="533400" y="4476750"/>
            <a:ext cx="685800" cy="3810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11" name="">
            <a:extLst xmlns:a="http://schemas.openxmlformats.org/drawingml/2006/main">
              <a:ext uri="{FF2B5EF4-FFF2-40B4-BE49-F238E27FC236}">
                <a16:creationId xmlns:a16="http://schemas.microsoft.com/office/drawing/2014/main" id="{66AFCC60-379E-47FF-A2B7-29EE9EF73979}"/>
              </a:ext>
            </a:extLst>
          </p:cNvPr>
          <p:cNvSpPr>
            <a:spLocks xmlns:a="http://schemas.openxmlformats.org/drawingml/2006/main" noGrp="1"/>
          </p:cNvSpPr>
          <p:nvPr/>
        </p:nvSpPr>
        <p:spPr>
          <a:xfrm xmlns:a="http://schemas.openxmlformats.org/drawingml/2006/main">
            <a:off x="1466850" y="43434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b="1">
                <a:solidFill>
                  <a:srgbClr val="0A0A0A"/>
                </a:solidFill>
              </a:defRPr>
            </a:pPr>
            <a:r>
              <a:rPr sz="1650" b="1">
                <a:solidFill>
                  <a:srgbClr val="0A0A0A"/>
                </a:solidFill>
              </a:rPr>
              <a:t>Planner</a:t>
            </a:r>
          </a:p>
        </p:txBody>
      </p:sp>
      <p:sp>
        <p:nvSpPr>
          <p:cNvPr id="12" name="">
            <a:extLst xmlns:a="http://schemas.openxmlformats.org/drawingml/2006/main">
              <a:ext uri="{FF2B5EF4-FFF2-40B4-BE49-F238E27FC236}">
                <a16:creationId xmlns:a16="http://schemas.microsoft.com/office/drawing/2014/main" id="{99027E40-CA46-4A8C-9ECB-C81A39012ACB}"/>
              </a:ext>
            </a:extLst>
          </p:cNvPr>
          <p:cNvSpPr>
            <a:spLocks xmlns:a="http://schemas.openxmlformats.org/drawingml/2006/main" noGrp="1"/>
          </p:cNvSpPr>
          <p:nvPr/>
        </p:nvSpPr>
        <p:spPr>
          <a:xfrm xmlns:a="http://schemas.openxmlformats.org/drawingml/2006/main">
            <a:off x="3790950" y="4343400"/>
            <a:ext cx="685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Predators sample that belief inside a short Monte-Carlo lookahead.</a:t>
            </a:r>
          </a:p>
        </p:txBody>
      </p:sp>
      <p:sp>
        <p:nvSpPr>
          <p:cNvPr id="13" name="">
            <a:extLst xmlns:a="http://schemas.openxmlformats.org/drawingml/2006/main">
              <a:ext uri="{FF2B5EF4-FFF2-40B4-BE49-F238E27FC236}">
                <a16:creationId xmlns:a16="http://schemas.microsoft.com/office/drawing/2014/main" id="{B8E37F12-9396-484B-B98C-1174458E9028}"/>
              </a:ext>
            </a:extLst>
          </p:cNvPr>
          <p:cNvSpPr>
            <a:spLocks xmlns:a="http://schemas.openxmlformats.org/drawingml/2006/main" noGrp="1"/>
          </p:cNvSpPr>
          <p:nvPr/>
        </p:nvSpPr>
        <p:spPr>
          <a:xfrm xmlns:a="http://schemas.openxmlformats.org/drawingml/2006/main">
            <a:off x="533400" y="5200650"/>
            <a:ext cx="685800" cy="38100"/>
          </a:xfrm>
          <a:prstGeom xmlns:a="http://schemas.openxmlformats.org/drawingml/2006/main" prst="rect">
            <a:avLst/>
          </a:prstGeom>
          <a:solidFill xmlns:a="http://schemas.openxmlformats.org/drawingml/2006/main">
            <a:srgbClr val="C84C2A"/>
          </a:solidFill>
          <a:ln xmlns:a="http://schemas.openxmlformats.org/drawingml/2006/main" w="0">
            <a:solidFill>
              <a:srgbClr val="C84C2A"/>
            </a:solidFill>
            <a:prstDash val="solid"/>
          </a:ln>
        </p:spPr>
      </p:sp>
      <p:sp>
        <p:nvSpPr>
          <p:cNvPr id="14" name="">
            <a:extLst xmlns:a="http://schemas.openxmlformats.org/drawingml/2006/main">
              <a:ext uri="{FF2B5EF4-FFF2-40B4-BE49-F238E27FC236}">
                <a16:creationId xmlns:a16="http://schemas.microsoft.com/office/drawing/2014/main" id="{8C13AB94-9C6C-4D99-9082-4A2C84B532B3}"/>
              </a:ext>
            </a:extLst>
          </p:cNvPr>
          <p:cNvSpPr>
            <a:spLocks xmlns:a="http://schemas.openxmlformats.org/drawingml/2006/main" noGrp="1"/>
          </p:cNvSpPr>
          <p:nvPr/>
        </p:nvSpPr>
        <p:spPr>
          <a:xfrm xmlns:a="http://schemas.openxmlformats.org/drawingml/2006/main">
            <a:off x="1466850" y="5067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b="1">
                <a:solidFill>
                  <a:srgbClr val="0A0A0A"/>
                </a:solidFill>
              </a:defRPr>
            </a:pPr>
            <a:r>
              <a:rPr sz="1650" b="1">
                <a:solidFill>
                  <a:srgbClr val="0A0A0A"/>
                </a:solidFill>
              </a:rPr>
              <a:t>Claim boundary</a:t>
            </a:r>
          </a:p>
        </p:txBody>
      </p:sp>
      <p:sp>
        <p:nvSpPr>
          <p:cNvPr id="15" name="">
            <a:extLst xmlns:a="http://schemas.openxmlformats.org/drawingml/2006/main">
              <a:ext uri="{FF2B5EF4-FFF2-40B4-BE49-F238E27FC236}">
                <a16:creationId xmlns:a16="http://schemas.microsoft.com/office/drawing/2014/main" id="{19F8400B-8B14-4F40-886D-2428371746ED}"/>
              </a:ext>
            </a:extLst>
          </p:cNvPr>
          <p:cNvSpPr>
            <a:spLocks xmlns:a="http://schemas.openxmlformats.org/drawingml/2006/main" noGrp="1"/>
          </p:cNvSpPr>
          <p:nvPr/>
        </p:nvSpPr>
        <p:spPr>
          <a:xfrm xmlns:a="http://schemas.openxmlformats.org/drawingml/2006/main">
            <a:off x="3790950" y="5067300"/>
            <a:ext cx="685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The opponent is static within an episode; adaptive or switching prey is next.</a:t>
            </a:r>
          </a:p>
        </p:txBody>
      </p:sp>
      <p:sp>
        <p:nvSpPr>
          <p:cNvPr id="16" name="">
            <a:extLst xmlns:a="http://schemas.openxmlformats.org/drawingml/2006/main">
              <a:ext uri="{FF2B5EF4-FFF2-40B4-BE49-F238E27FC236}">
                <a16:creationId xmlns:a16="http://schemas.microsoft.com/office/drawing/2014/main" id="{15EE428F-A93A-450F-9FE8-22E2E3E8F42A}"/>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02</a:t>
            </a:r>
          </a:p>
        </p:txBody>
      </p:sp>
    </p:spTree>
    <p:extLst>
      <p:ext uri="{BB962C8B-B14F-4D97-AF65-F5344CB8AC3E}">
        <p14:creationId xmlns:p14="http://schemas.microsoft.com/office/powerpoint/2010/main" val="14178395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5DB2E17-A439-4F3E-9752-6916CC080388}"/>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PART 1</a:t>
            </a:r>
          </a:p>
        </p:txBody>
      </p:sp>
      <p:sp>
        <p:nvSpPr>
          <p:cNvPr id="2" name="">
            <a:extLst xmlns:a="http://schemas.openxmlformats.org/drawingml/2006/main">
              <a:ext uri="{FF2B5EF4-FFF2-40B4-BE49-F238E27FC236}">
                <a16:creationId xmlns:a16="http://schemas.microsoft.com/office/drawing/2014/main" id="{9DA8AC3A-A8A0-40B2-8BAC-B601C0A6B2A0}"/>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The belief becomes useful evidence quickly</a:t>
            </a:r>
          </a:p>
        </p:txBody>
      </p:sp>
      <p:sp>
        <p:nvSpPr>
          <p:cNvPr id="3" name="">
            <a:extLst xmlns:a="http://schemas.openxmlformats.org/drawingml/2006/main">
              <a:ext uri="{FF2B5EF4-FFF2-40B4-BE49-F238E27FC236}">
                <a16:creationId xmlns:a16="http://schemas.microsoft.com/office/drawing/2014/main" id="{AD354F98-B26B-4943-9445-F8E8EF7BE8FD}"/>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03</a:t>
            </a:r>
          </a:p>
        </p:txBody>
      </p:sp>
      <p:sp>
        <p:nvSpPr>
          <p:cNvPr id="4" name="">
            <a:extLst xmlns:a="http://schemas.openxmlformats.org/drawingml/2006/main">
              <a:ext uri="{FF2B5EF4-FFF2-40B4-BE49-F238E27FC236}">
                <a16:creationId xmlns:a16="http://schemas.microsoft.com/office/drawing/2014/main" id="{3CC857AC-3F21-43D0-8AB2-F0D9782B129D}"/>
              </a:ext>
            </a:extLst>
          </p:cNvPr>
          <p:cNvSpPr>
            <a:spLocks xmlns:a="http://schemas.openxmlformats.org/drawingml/2006/main" noGrp="1"/>
          </p:cNvSpPr>
          <p:nvPr/>
        </p:nvSpPr>
        <p:spPr>
          <a:xfrm xmlns:a="http://schemas.openxmlformats.org/drawingml/2006/main">
            <a:off x="533400" y="1581150"/>
            <a:ext cx="6762750" cy="411480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10461d5f9814d74"/>
          <a:stretch xmlns:a="http://schemas.openxmlformats.org/drawingml/2006/main"/>
        </p:blipFill>
        <p:spPr>
          <a:xfrm xmlns:a="http://schemas.openxmlformats.org/drawingml/2006/main">
            <a:off x="685800" y="2680274"/>
            <a:ext cx="6457950" cy="191655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37A2904-23AD-480A-9B69-2C9AE7AD44CC}"/>
              </a:ext>
            </a:extLst>
          </p:cNvPr>
          <p:cNvSpPr>
            <a:spLocks xmlns:a="http://schemas.openxmlformats.org/drawingml/2006/main" noGrp="1"/>
          </p:cNvSpPr>
          <p:nvPr/>
        </p:nvSpPr>
        <p:spPr>
          <a:xfrm xmlns:a="http://schemas.openxmlformats.org/drawingml/2006/main">
            <a:off x="7696200" y="1752600"/>
            <a:ext cx="57150" cy="215265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7" name="">
            <a:extLst xmlns:a="http://schemas.openxmlformats.org/drawingml/2006/main">
              <a:ext uri="{FF2B5EF4-FFF2-40B4-BE49-F238E27FC236}">
                <a16:creationId xmlns:a16="http://schemas.microsoft.com/office/drawing/2014/main" id="{3B311F83-2778-478C-B6C6-99946E784B07}"/>
              </a:ext>
            </a:extLst>
          </p:cNvPr>
          <p:cNvSpPr>
            <a:spLocks xmlns:a="http://schemas.openxmlformats.org/drawingml/2006/main" noGrp="1"/>
          </p:cNvSpPr>
          <p:nvPr/>
        </p:nvSpPr>
        <p:spPr>
          <a:xfrm xmlns:a="http://schemas.openxmlformats.org/drawingml/2006/main">
            <a:off x="7905750" y="1733550"/>
            <a:ext cx="321945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 Accuracy rises from 0.37 at 3 steps to 0.97 at 25 steps.</a:t>
            </a:r>
          </a:p>
          <a:p xmlns:a="http://schemas.openxmlformats.org/drawingml/2006/main">
            <a:pPr>
              <a:defRPr sz="1650">
                <a:solidFill>
                  <a:srgbClr val="4F5661"/>
                </a:solidFill>
              </a:defRPr>
            </a:pPr>
            <a:r>
              <a:rPr sz="1650">
                <a:solidFill>
                  <a:srgbClr val="4F5661"/>
                </a:solidFill>
              </a:rPr>
              <a:t>- Entropy falls from 1.35 to 0.03 nats.</a:t>
            </a:r>
          </a:p>
          <a:p xmlns:a="http://schemas.openxmlformats.org/drawingml/2006/main">
            <a:pPr>
              <a:defRPr sz="1650">
                <a:solidFill>
                  <a:srgbClr val="4F5661"/>
                </a:solidFill>
              </a:defRPr>
            </a:pPr>
            <a:r>
              <a:rPr sz="1650">
                <a:solidFill>
                  <a:srgbClr val="4F5661"/>
                </a:solidFill>
              </a:rPr>
              <a:t>- A wrong hard guess drops captures from 2.68 to 1.42.</a:t>
            </a:r>
          </a:p>
        </p:txBody>
      </p:sp>
      <p:sp>
        <p:nvSpPr>
          <p:cNvPr id="8" name="">
            <a:extLst xmlns:a="http://schemas.openxmlformats.org/drawingml/2006/main">
              <a:ext uri="{FF2B5EF4-FFF2-40B4-BE49-F238E27FC236}">
                <a16:creationId xmlns:a16="http://schemas.microsoft.com/office/drawing/2014/main" id="{CB29A1B3-8E98-4D08-A339-7D1962949C3C}"/>
              </a:ext>
            </a:extLst>
          </p:cNvPr>
          <p:cNvSpPr>
            <a:spLocks xmlns:a="http://schemas.openxmlformats.org/drawingml/2006/main" noGrp="1"/>
          </p:cNvSpPr>
          <p:nvPr/>
        </p:nvSpPr>
        <p:spPr>
          <a:xfrm xmlns:a="http://schemas.openxmlformats.org/drawingml/2006/main">
            <a:off x="7696200" y="4457700"/>
            <a:ext cx="3429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Uncertainty is not decoration. It is the difference between useful evidence and a brittle guess.</a:t>
            </a:r>
          </a:p>
        </p:txBody>
      </p:sp>
    </p:spTree>
    <p:extLst>
      <p:ext uri="{BB962C8B-B14F-4D97-AF65-F5344CB8AC3E}">
        <p14:creationId xmlns:p14="http://schemas.microsoft.com/office/powerpoint/2010/main" val="18398472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1E262D-FB91-419B-B779-19FF553B1B72}"/>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PART 2</a:t>
            </a:r>
          </a:p>
        </p:txBody>
      </p:sp>
      <p:sp>
        <p:nvSpPr>
          <p:cNvPr id="2" name="">
            <a:extLst xmlns:a="http://schemas.openxmlformats.org/drawingml/2006/main">
              <a:ext uri="{FF2B5EF4-FFF2-40B4-BE49-F238E27FC236}">
                <a16:creationId xmlns:a16="http://schemas.microsoft.com/office/drawing/2014/main" id="{32E0FF83-5A92-4401-9B5E-BA8A0EBD10D6}"/>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Planning over the belief is the core result</a:t>
            </a:r>
          </a:p>
        </p:txBody>
      </p:sp>
      <p:sp>
        <p:nvSpPr>
          <p:cNvPr id="3" name="">
            <a:extLst xmlns:a="http://schemas.openxmlformats.org/drawingml/2006/main">
              <a:ext uri="{FF2B5EF4-FFF2-40B4-BE49-F238E27FC236}">
                <a16:creationId xmlns:a16="http://schemas.microsoft.com/office/drawing/2014/main" id="{9D2A676A-4EE5-4FDC-B030-8574197CD2E5}"/>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04</a:t>
            </a:r>
          </a:p>
        </p:txBody>
      </p:sp>
      <p:sp>
        <p:nvSpPr>
          <p:cNvPr id="4" name="">
            <a:extLst xmlns:a="http://schemas.openxmlformats.org/drawingml/2006/main">
              <a:ext uri="{FF2B5EF4-FFF2-40B4-BE49-F238E27FC236}">
                <a16:creationId xmlns:a16="http://schemas.microsoft.com/office/drawing/2014/main" id="{31A9B5F4-5C88-459C-9BB1-CF2A1A2CB0F2}"/>
              </a:ext>
            </a:extLst>
          </p:cNvPr>
          <p:cNvSpPr>
            <a:spLocks xmlns:a="http://schemas.openxmlformats.org/drawingml/2006/main" noGrp="1"/>
          </p:cNvSpPr>
          <p:nvPr/>
        </p:nvSpPr>
        <p:spPr>
          <a:xfrm xmlns:a="http://schemas.openxmlformats.org/drawingml/2006/main">
            <a:off x="533400" y="1581150"/>
            <a:ext cx="6572250" cy="411480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d33eb6d853543b0"/>
          <a:stretch xmlns:a="http://schemas.openxmlformats.org/drawingml/2006/main"/>
        </p:blipFill>
        <p:spPr>
          <a:xfrm xmlns:a="http://schemas.openxmlformats.org/drawingml/2006/main">
            <a:off x="685800" y="1847850"/>
            <a:ext cx="6267450" cy="35814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292C7AD-DACD-4EA4-AC13-A1EB09E62FC8}"/>
              </a:ext>
            </a:extLst>
          </p:cNvPr>
          <p:cNvSpPr>
            <a:spLocks xmlns:a="http://schemas.openxmlformats.org/drawingml/2006/main" noGrp="1"/>
          </p:cNvSpPr>
          <p:nvPr/>
        </p:nvSpPr>
        <p:spPr>
          <a:xfrm xmlns:a="http://schemas.openxmlformats.org/drawingml/2006/main">
            <a:off x="7524750" y="1752600"/>
            <a:ext cx="57150" cy="209550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7" name="">
            <a:extLst xmlns:a="http://schemas.openxmlformats.org/drawingml/2006/main">
              <a:ext uri="{FF2B5EF4-FFF2-40B4-BE49-F238E27FC236}">
                <a16:creationId xmlns:a16="http://schemas.microsoft.com/office/drawing/2014/main" id="{1512E996-58F2-4716-A3D4-353B8D8815F6}"/>
              </a:ext>
            </a:extLst>
          </p:cNvPr>
          <p:cNvSpPr>
            <a:spLocks xmlns:a="http://schemas.openxmlformats.org/drawingml/2006/main" noGrp="1"/>
          </p:cNvSpPr>
          <p:nvPr/>
        </p:nvSpPr>
        <p:spPr>
          <a:xfrm xmlns:a="http://schemas.openxmlformats.org/drawingml/2006/main">
            <a:off x="7734300" y="1733550"/>
            <a:ext cx="3429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 Flat-belief planner: 3.07 captures/episode.</a:t>
            </a:r>
          </a:p>
          <a:p xmlns:a="http://schemas.openxmlformats.org/drawingml/2006/main">
            <a:pPr>
              <a:defRPr sz="1650">
                <a:solidFill>
                  <a:srgbClr val="4F5661"/>
                </a:solidFill>
              </a:defRPr>
            </a:pPr>
            <a:r>
              <a:rPr sz="1650">
                <a:solidFill>
                  <a:srgbClr val="4F5661"/>
                </a:solidFill>
              </a:rPr>
              <a:t>- Reactive oracle with true intent: 4.05.</a:t>
            </a:r>
          </a:p>
          <a:p xmlns:a="http://schemas.openxmlformats.org/drawingml/2006/main">
            <a:pPr>
              <a:defRPr sz="1650">
                <a:solidFill>
                  <a:srgbClr val="4F5661"/>
                </a:solidFill>
              </a:defRPr>
            </a:pPr>
            <a:r>
              <a:rPr sz="1650">
                <a:solidFill>
                  <a:srgbClr val="4F5661"/>
                </a:solidFill>
              </a:rPr>
              <a:t>- Planner + inferred belief: 4.31.</a:t>
            </a:r>
          </a:p>
        </p:txBody>
      </p:sp>
      <p:sp>
        <p:nvSpPr>
          <p:cNvPr id="8" name="">
            <a:extLst xmlns:a="http://schemas.openxmlformats.org/drawingml/2006/main">
              <a:ext uri="{FF2B5EF4-FFF2-40B4-BE49-F238E27FC236}">
                <a16:creationId xmlns:a16="http://schemas.microsoft.com/office/drawing/2014/main" id="{BB1A2AB0-3ED6-4339-802C-2BFC1FF5A308}"/>
              </a:ext>
            </a:extLst>
          </p:cNvPr>
          <p:cNvSpPr>
            <a:spLocks xmlns:a="http://schemas.openxmlformats.org/drawingml/2006/main" noGrp="1"/>
          </p:cNvSpPr>
          <p:nvPr/>
        </p:nvSpPr>
        <p:spPr>
          <a:xfrm xmlns:a="http://schemas.openxmlformats.org/drawingml/2006/main">
            <a:off x="7524750" y="4438650"/>
            <a:ext cx="37528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The result is not just having a model. It is sampling a calibrated opponent belief inside lookahead.</a:t>
            </a:r>
          </a:p>
        </p:txBody>
      </p:sp>
    </p:spTree>
    <p:extLst>
      <p:ext uri="{BB962C8B-B14F-4D97-AF65-F5344CB8AC3E}">
        <p14:creationId xmlns:p14="http://schemas.microsoft.com/office/powerpoint/2010/main" val="52082721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37B0B7D-5ECE-4A77-B592-EC2885F09F13}"/>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REPRESENTATION</a:t>
            </a:r>
          </a:p>
        </p:txBody>
      </p:sp>
      <p:sp>
        <p:nvSpPr>
          <p:cNvPr id="2" name="">
            <a:extLst xmlns:a="http://schemas.openxmlformats.org/drawingml/2006/main">
              <a:ext uri="{FF2B5EF4-FFF2-40B4-BE49-F238E27FC236}">
                <a16:creationId xmlns:a16="http://schemas.microsoft.com/office/drawing/2014/main" id="{35C3FB67-C1BE-4939-AC00-61C72C957C71}"/>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JEPA makes the belief label-free</a:t>
            </a:r>
          </a:p>
        </p:txBody>
      </p:sp>
      <p:sp>
        <p:nvSpPr>
          <p:cNvPr id="3" name="">
            <a:extLst xmlns:a="http://schemas.openxmlformats.org/drawingml/2006/main">
              <a:ext uri="{FF2B5EF4-FFF2-40B4-BE49-F238E27FC236}">
                <a16:creationId xmlns:a16="http://schemas.microsoft.com/office/drawing/2014/main" id="{09C3DE1A-D1F2-4D0B-8778-B17D1C37E9BC}"/>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05</a:t>
            </a:r>
          </a:p>
        </p:txBody>
      </p:sp>
      <p:sp>
        <p:nvSpPr>
          <p:cNvPr id="4" name="">
            <a:extLst xmlns:a="http://schemas.openxmlformats.org/drawingml/2006/main">
              <a:ext uri="{FF2B5EF4-FFF2-40B4-BE49-F238E27FC236}">
                <a16:creationId xmlns:a16="http://schemas.microsoft.com/office/drawing/2014/main" id="{B02A1C8A-D54F-4DD3-A493-D279F8262226}"/>
              </a:ext>
            </a:extLst>
          </p:cNvPr>
          <p:cNvSpPr>
            <a:spLocks xmlns:a="http://schemas.openxmlformats.org/drawingml/2006/main" noGrp="1"/>
          </p:cNvSpPr>
          <p:nvPr/>
        </p:nvSpPr>
        <p:spPr>
          <a:xfrm xmlns:a="http://schemas.openxmlformats.org/drawingml/2006/main">
            <a:off x="533400" y="1581150"/>
            <a:ext cx="6743700" cy="411480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c1579fb8960409d"/>
          <a:stretch xmlns:a="http://schemas.openxmlformats.org/drawingml/2006/main"/>
        </p:blipFill>
        <p:spPr>
          <a:xfrm xmlns:a="http://schemas.openxmlformats.org/drawingml/2006/main">
            <a:off x="685800" y="2651252"/>
            <a:ext cx="6438900" cy="1974596"/>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D666EB1-DE4A-4D5D-AF07-9D4D38CED5E2}"/>
              </a:ext>
            </a:extLst>
          </p:cNvPr>
          <p:cNvSpPr>
            <a:spLocks xmlns:a="http://schemas.openxmlformats.org/drawingml/2006/main" noGrp="1"/>
          </p:cNvSpPr>
          <p:nvPr/>
        </p:nvSpPr>
        <p:spPr>
          <a:xfrm xmlns:a="http://schemas.openxmlformats.org/drawingml/2006/main">
            <a:off x="7696200" y="1752600"/>
            <a:ext cx="57150" cy="209550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7" name="">
            <a:extLst xmlns:a="http://schemas.openxmlformats.org/drawingml/2006/main">
              <a:ext uri="{FF2B5EF4-FFF2-40B4-BE49-F238E27FC236}">
                <a16:creationId xmlns:a16="http://schemas.microsoft.com/office/drawing/2014/main" id="{18B3C619-03D6-4932-ABC6-C33E9A57D1E5}"/>
              </a:ext>
            </a:extLst>
          </p:cNvPr>
          <p:cNvSpPr>
            <a:spLocks xmlns:a="http://schemas.openxmlformats.org/drawingml/2006/main" noGrp="1"/>
          </p:cNvSpPr>
          <p:nvPr/>
        </p:nvSpPr>
        <p:spPr>
          <a:xfrm xmlns:a="http://schemas.openxmlformats.org/drawingml/2006/main">
            <a:off x="7905750" y="1733550"/>
            <a:ext cx="32194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 Same trajectories, same 2-D latent, no strategy labels.</a:t>
            </a:r>
          </a:p>
          <a:p xmlns:a="http://schemas.openxmlformats.org/drawingml/2006/main">
            <a:pPr>
              <a:defRPr sz="1650">
                <a:solidFill>
                  <a:srgbClr val="4F5661"/>
                </a:solidFill>
              </a:defRPr>
            </a:pPr>
            <a:r>
              <a:rPr sz="1650">
                <a:solidFill>
                  <a:srgbClr val="4F5661"/>
                </a:solidFill>
              </a:rPr>
              <a:t>- JEPA probe: 0.89 vs VAE: 0.53.</a:t>
            </a:r>
          </a:p>
          <a:p xmlns:a="http://schemas.openxmlformats.org/drawingml/2006/main">
            <a:pPr>
              <a:defRPr sz="1650">
                <a:solidFill>
                  <a:srgbClr val="4F5661"/>
                </a:solidFill>
              </a:defRPr>
            </a:pPr>
            <a:r>
              <a:rPr sz="1650">
                <a:solidFill>
                  <a:srgbClr val="4F5661"/>
                </a:solidFill>
              </a:rPr>
              <a:t>- ARI: 0.65 vs 0.14.</a:t>
            </a:r>
          </a:p>
          <a:p xmlns:a="http://schemas.openxmlformats.org/drawingml/2006/main">
            <a:pPr>
              <a:defRPr sz="1650">
                <a:solidFill>
                  <a:srgbClr val="4F5661"/>
                </a:solidFill>
              </a:defRPr>
            </a:pPr>
            <a:r>
              <a:rPr sz="1650">
                <a:solidFill>
                  <a:srgbClr val="4F5661"/>
                </a:solidFill>
              </a:rPr>
              <a:t>- JEPA belief planner reaches 4.08 captures/episode.</a:t>
            </a:r>
          </a:p>
        </p:txBody>
      </p:sp>
      <p:sp>
        <p:nvSpPr>
          <p:cNvPr id="8" name="">
            <a:extLst xmlns:a="http://schemas.openxmlformats.org/drawingml/2006/main">
              <a:ext uri="{FF2B5EF4-FFF2-40B4-BE49-F238E27FC236}">
                <a16:creationId xmlns:a16="http://schemas.microsoft.com/office/drawing/2014/main" id="{81F064C9-4528-4F45-BCE2-4895895F6C05}"/>
              </a:ext>
            </a:extLst>
          </p:cNvPr>
          <p:cNvSpPr>
            <a:spLocks xmlns:a="http://schemas.openxmlformats.org/drawingml/2006/main" noGrp="1"/>
          </p:cNvSpPr>
          <p:nvPr/>
        </p:nvSpPr>
        <p:spPr>
          <a:xfrm xmlns:a="http://schemas.openxmlformats.org/drawingml/2006/main">
            <a:off x="7696200" y="4591050"/>
            <a:ext cx="3524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Predicting future behavior keeps the useful intent signal and drops evasion noise.</a:t>
            </a:r>
          </a:p>
        </p:txBody>
      </p:sp>
    </p:spTree>
    <p:extLst>
      <p:ext uri="{BB962C8B-B14F-4D97-AF65-F5344CB8AC3E}">
        <p14:creationId xmlns:p14="http://schemas.microsoft.com/office/powerpoint/2010/main" val="124880164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9E86014-B67B-4A6C-A966-5F8A05F65926}"/>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BOUNDARY</a:t>
            </a:r>
          </a:p>
        </p:txBody>
      </p:sp>
      <p:sp>
        <p:nvSpPr>
          <p:cNvPr id="2" name="">
            <a:extLst xmlns:a="http://schemas.openxmlformats.org/drawingml/2006/main">
              <a:ext uri="{FF2B5EF4-FFF2-40B4-BE49-F238E27FC236}">
                <a16:creationId xmlns:a16="http://schemas.microsoft.com/office/drawing/2014/main" id="{C070F503-6E98-480F-BF73-2A06FB3CDDB3}"/>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The main caveat is dynamics, not representation</a:t>
            </a:r>
          </a:p>
        </p:txBody>
      </p:sp>
      <p:sp>
        <p:nvSpPr>
          <p:cNvPr id="3" name="">
            <a:extLst xmlns:a="http://schemas.openxmlformats.org/drawingml/2006/main">
              <a:ext uri="{FF2B5EF4-FFF2-40B4-BE49-F238E27FC236}">
                <a16:creationId xmlns:a16="http://schemas.microsoft.com/office/drawing/2014/main" id="{44DCF3AC-595F-491F-A90C-8AD16CE6F35A}"/>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06</a:t>
            </a:r>
          </a:p>
        </p:txBody>
      </p:sp>
      <p:sp>
        <p:nvSpPr>
          <p:cNvPr id="4" name="">
            <a:extLst xmlns:a="http://schemas.openxmlformats.org/drawingml/2006/main">
              <a:ext uri="{FF2B5EF4-FFF2-40B4-BE49-F238E27FC236}">
                <a16:creationId xmlns:a16="http://schemas.microsoft.com/office/drawing/2014/main" id="{91579FA4-38A9-447C-83D0-A62761731161}"/>
              </a:ext>
            </a:extLst>
          </p:cNvPr>
          <p:cNvSpPr>
            <a:spLocks xmlns:a="http://schemas.openxmlformats.org/drawingml/2006/main" noGrp="1"/>
          </p:cNvSpPr>
          <p:nvPr/>
        </p:nvSpPr>
        <p:spPr>
          <a:xfrm xmlns:a="http://schemas.openxmlformats.org/drawingml/2006/main">
            <a:off x="533400" y="1581150"/>
            <a:ext cx="6572250" cy="411480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ce6d5671a8741ac"/>
          <a:stretch xmlns:a="http://schemas.openxmlformats.org/drawingml/2006/main"/>
        </p:blipFill>
        <p:spPr>
          <a:xfrm xmlns:a="http://schemas.openxmlformats.org/drawingml/2006/main">
            <a:off x="723900" y="1733550"/>
            <a:ext cx="6191250" cy="3810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CBF9B9F-A5AA-43B6-AE50-EB08F9862734}"/>
              </a:ext>
            </a:extLst>
          </p:cNvPr>
          <p:cNvSpPr>
            <a:spLocks xmlns:a="http://schemas.openxmlformats.org/drawingml/2006/main" noGrp="1"/>
          </p:cNvSpPr>
          <p:nvPr/>
        </p:nvSpPr>
        <p:spPr>
          <a:xfrm xmlns:a="http://schemas.openxmlformats.org/drawingml/2006/main">
            <a:off x="7524750" y="1752600"/>
            <a:ext cx="57150" cy="224790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7" name="">
            <a:extLst xmlns:a="http://schemas.openxmlformats.org/drawingml/2006/main">
              <a:ext uri="{FF2B5EF4-FFF2-40B4-BE49-F238E27FC236}">
                <a16:creationId xmlns:a16="http://schemas.microsoft.com/office/drawing/2014/main" id="{5A99755C-C121-4CA2-9BDF-B62C2AF85EB0}"/>
              </a:ext>
            </a:extLst>
          </p:cNvPr>
          <p:cNvSpPr>
            <a:spLocks xmlns:a="http://schemas.openxmlformats.org/drawingml/2006/main" noGrp="1"/>
          </p:cNvSpPr>
          <p:nvPr/>
        </p:nvSpPr>
        <p:spPr>
          <a:xfrm xmlns:a="http://schemas.openxmlformats.org/drawingml/2006/main">
            <a:off x="7734300" y="1733550"/>
            <a:ext cx="34671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4F5661"/>
                </a:solidFill>
              </a:defRPr>
            </a:pPr>
            <a:r>
              <a:rPr sz="1650">
                <a:solidFill>
                  <a:srgbClr val="4F5661"/>
                </a:solidFill>
              </a:rPr>
              <a:t>- Self-supervised belief works in the simulator planner.</a:t>
            </a:r>
          </a:p>
          <a:p xmlns:a="http://schemas.openxmlformats.org/drawingml/2006/main">
            <a:pPr>
              <a:defRPr sz="1650">
                <a:solidFill>
                  <a:srgbClr val="4F5661"/>
                </a:solidFill>
              </a:defRPr>
            </a:pPr>
            <a:r>
              <a:rPr sz="1650">
                <a:solidFill>
                  <a:srgbClr val="4F5661"/>
                </a:solidFill>
              </a:rPr>
              <a:t>- The learned latent world planner reaches only 0.57 captures.</a:t>
            </a:r>
          </a:p>
          <a:p xmlns:a="http://schemas.openxmlformats.org/drawingml/2006/main">
            <a:pPr>
              <a:defRPr sz="1650">
                <a:solidFill>
                  <a:srgbClr val="4F5661"/>
                </a:solidFill>
              </a:defRPr>
            </a:pPr>
            <a:r>
              <a:rPr sz="1650">
                <a:solidFill>
                  <a:srgbClr val="4F5661"/>
                </a:solidFill>
              </a:rPr>
              <a:t>- So the paper should claim opponent belief and planning, not solved learned dynamics.</a:t>
            </a:r>
          </a:p>
        </p:txBody>
      </p:sp>
      <p:sp>
        <p:nvSpPr>
          <p:cNvPr id="8" name="">
            <a:extLst xmlns:a="http://schemas.openxmlformats.org/drawingml/2006/main">
              <a:ext uri="{FF2B5EF4-FFF2-40B4-BE49-F238E27FC236}">
                <a16:creationId xmlns:a16="http://schemas.microsoft.com/office/drawing/2014/main" id="{3306E1DB-650A-4E5C-8FF5-EF15C9875CB9}"/>
              </a:ext>
            </a:extLst>
          </p:cNvPr>
          <p:cNvSpPr>
            <a:spLocks xmlns:a="http://schemas.openxmlformats.org/drawingml/2006/main" noGrp="1"/>
          </p:cNvSpPr>
          <p:nvPr/>
        </p:nvSpPr>
        <p:spPr>
          <a:xfrm xmlns:a="http://schemas.openxmlformats.org/drawingml/2006/main">
            <a:off x="7524750" y="4552950"/>
            <a:ext cx="36766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The negative result is useful: it tells reviewers exactly where the next engineering risk is.</a:t>
            </a:r>
          </a:p>
        </p:txBody>
      </p:sp>
    </p:spTree>
    <p:extLst>
      <p:ext uri="{BB962C8B-B14F-4D97-AF65-F5344CB8AC3E}">
        <p14:creationId xmlns:p14="http://schemas.microsoft.com/office/powerpoint/2010/main" val="4762574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DC48964-9AA2-449B-9C70-3DA90319797E}"/>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SECONDARY EVIDENCE</a:t>
            </a:r>
          </a:p>
        </p:txBody>
      </p:sp>
      <p:sp>
        <p:nvSpPr>
          <p:cNvPr id="2" name="">
            <a:extLst xmlns:a="http://schemas.openxmlformats.org/drawingml/2006/main">
              <a:ext uri="{FF2B5EF4-FFF2-40B4-BE49-F238E27FC236}">
                <a16:creationId xmlns:a16="http://schemas.microsoft.com/office/drawing/2014/main" id="{8EED05F0-5F88-4882-9D31-4227D1EB48D7}"/>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The BC follow-up says strategy information has value</a:t>
            </a:r>
          </a:p>
        </p:txBody>
      </p:sp>
      <p:sp>
        <p:nvSpPr>
          <p:cNvPr id="3" name="">
            <a:extLst xmlns:a="http://schemas.openxmlformats.org/drawingml/2006/main">
              <a:ext uri="{FF2B5EF4-FFF2-40B4-BE49-F238E27FC236}">
                <a16:creationId xmlns:a16="http://schemas.microsoft.com/office/drawing/2014/main" id="{ABAE74A7-7180-4FDE-8A81-F70552EB5849}"/>
              </a:ext>
            </a:extLst>
          </p:cNvPr>
          <p:cNvSpPr>
            <a:spLocks xmlns:a="http://schemas.openxmlformats.org/drawingml/2006/main" noGrp="1"/>
          </p:cNvSpPr>
          <p:nvPr/>
        </p:nvSpPr>
        <p:spPr>
          <a:xfrm xmlns:a="http://schemas.openxmlformats.org/drawingml/2006/main">
            <a:off x="533400" y="1581150"/>
            <a:ext cx="5067300" cy="344805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sp>
        <p:nvSpPr>
          <p:cNvPr id="4" name="">
            <a:extLst xmlns:a="http://schemas.openxmlformats.org/drawingml/2006/main">
              <a:ext uri="{FF2B5EF4-FFF2-40B4-BE49-F238E27FC236}">
                <a16:creationId xmlns:a16="http://schemas.microsoft.com/office/drawing/2014/main" id="{45616D12-2A75-4332-A27C-EC845EE78D36}"/>
              </a:ext>
            </a:extLst>
          </p:cNvPr>
          <p:cNvSpPr>
            <a:spLocks xmlns:a="http://schemas.openxmlformats.org/drawingml/2006/main" noGrp="1"/>
          </p:cNvSpPr>
          <p:nvPr/>
        </p:nvSpPr>
        <p:spPr>
          <a:xfrm xmlns:a="http://schemas.openxmlformats.org/drawingml/2006/main">
            <a:off x="6210300" y="1581150"/>
            <a:ext cx="5067300" cy="3448050"/>
          </a:xfrm>
          <a:prstGeom xmlns:a="http://schemas.openxmlformats.org/drawingml/2006/main" prst="rect">
            <a:avLst/>
          </a:prstGeom>
          <a:solidFill xmlns:a="http://schemas.openxmlformats.org/drawingml/2006/main">
            <a:srgbClr val="F4F5F7"/>
          </a:solidFill>
          <a:ln xmlns:a="http://schemas.openxmlformats.org/drawingml/2006/main" w="0">
            <a:solidFill>
              <a:srgbClr val="F4F5F7"/>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a1555b77f584f37"/>
          <a:stretch xmlns:a="http://schemas.openxmlformats.org/drawingml/2006/main"/>
        </p:blipFill>
        <p:spPr>
          <a:xfrm xmlns:a="http://schemas.openxmlformats.org/drawingml/2006/main">
            <a:off x="685800" y="1863892"/>
            <a:ext cx="4762500" cy="2882566"/>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d3fb6de4d16487f"/>
          <a:stretch xmlns:a="http://schemas.openxmlformats.org/drawingml/2006/main"/>
        </p:blipFill>
        <p:spPr>
          <a:xfrm xmlns:a="http://schemas.openxmlformats.org/drawingml/2006/main">
            <a:off x="6362700" y="1940312"/>
            <a:ext cx="4762500" cy="272972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131A434-AA39-4A4A-8B89-358F60162951}"/>
              </a:ext>
            </a:extLst>
          </p:cNvPr>
          <p:cNvSpPr>
            <a:spLocks xmlns:a="http://schemas.openxmlformats.org/drawingml/2006/main" noGrp="1"/>
          </p:cNvSpPr>
          <p:nvPr/>
        </p:nvSpPr>
        <p:spPr>
          <a:xfrm xmlns:a="http://schemas.openxmlformats.org/drawingml/2006/main">
            <a:off x="838200" y="5295900"/>
            <a:ext cx="9525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a:solidFill>
                  <a:srgbClr val="4F5661"/>
                </a:solidFill>
              </a:defRPr>
            </a:pPr>
            <a:r>
              <a:rPr sz="1575">
                <a:solidFill>
                  <a:srgbClr val="4F5661"/>
                </a:solidFill>
              </a:rPr>
              <a:t>- BC recovers most of the expert edge: 1.22 captures vs 1.35 expert and 0.40 random.</a:t>
            </a:r>
          </a:p>
          <a:p xmlns:a="http://schemas.openxmlformats.org/drawingml/2006/main">
            <a:pPr>
              <a:defRPr sz="1575">
                <a:solidFill>
                  <a:srgbClr val="4F5661"/>
                </a:solidFill>
              </a:defRPr>
            </a:pPr>
            <a:r>
              <a:rPr sz="1575">
                <a:solidFill>
                  <a:srgbClr val="4F5661"/>
                </a:solidFill>
              </a:rPr>
              <a:t>- Oracle placement improves deployed captures; the current unsupervised latent gain is modest.</a:t>
            </a:r>
          </a:p>
        </p:txBody>
      </p:sp>
      <p:sp>
        <p:nvSpPr>
          <p:cNvPr id="8" name="">
            <a:extLst xmlns:a="http://schemas.openxmlformats.org/drawingml/2006/main">
              <a:ext uri="{FF2B5EF4-FFF2-40B4-BE49-F238E27FC236}">
                <a16:creationId xmlns:a16="http://schemas.microsoft.com/office/drawing/2014/main" id="{CF27C1A5-2A43-45B0-9B8F-D85BA13DCCAE}"/>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07</a:t>
            </a:r>
          </a:p>
        </p:txBody>
      </p:sp>
    </p:spTree>
    <p:extLst>
      <p:ext uri="{BB962C8B-B14F-4D97-AF65-F5344CB8AC3E}">
        <p14:creationId xmlns:p14="http://schemas.microsoft.com/office/powerpoint/2010/main" val="7141560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B6A4167-6868-428F-93E9-AADAE8E48299}"/>
              </a:ext>
            </a:extLst>
          </p:cNvPr>
          <p:cNvSpPr>
            <a:spLocks xmlns:a="http://schemas.openxmlformats.org/drawingml/2006/main" noGrp="1"/>
          </p:cNvSpPr>
          <p:nvPr/>
        </p:nvSpPr>
        <p:spPr>
          <a:xfrm xmlns:a="http://schemas.openxmlformats.org/drawingml/2006/main">
            <a:off x="533400" y="323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4F5661"/>
                </a:solidFill>
              </a:defRPr>
            </a:pPr>
            <a:r>
              <a:rPr sz="975" b="1">
                <a:solidFill>
                  <a:srgbClr val="4F5661"/>
                </a:solidFill>
              </a:rPr>
              <a:t>CLOSE</a:t>
            </a:r>
          </a:p>
        </p:txBody>
      </p:sp>
      <p:sp>
        <p:nvSpPr>
          <p:cNvPr id="2" name="">
            <a:extLst xmlns:a="http://schemas.openxmlformats.org/drawingml/2006/main">
              <a:ext uri="{FF2B5EF4-FFF2-40B4-BE49-F238E27FC236}">
                <a16:creationId xmlns:a16="http://schemas.microsoft.com/office/drawing/2014/main" id="{0E740713-90D7-4870-8B7D-9CD82244E4A3}"/>
              </a:ext>
            </a:extLst>
          </p:cNvPr>
          <p:cNvSpPr>
            <a:spLocks xmlns:a="http://schemas.openxmlformats.org/drawingml/2006/main" noGrp="1"/>
          </p:cNvSpPr>
          <p:nvPr/>
        </p:nvSpPr>
        <p:spPr>
          <a:xfrm xmlns:a="http://schemas.openxmlformats.org/drawingml/2006/main">
            <a:off x="533400" y="590550"/>
            <a:ext cx="10287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0A0A0A"/>
                </a:solidFill>
              </a:defRPr>
            </a:pPr>
            <a:r>
              <a:rPr sz="3150" b="1">
                <a:solidFill>
                  <a:srgbClr val="0A0A0A"/>
                </a:solidFill>
              </a:rPr>
              <a:t>What to say, and what not to overclaim</a:t>
            </a:r>
          </a:p>
        </p:txBody>
      </p:sp>
      <p:sp>
        <p:nvSpPr>
          <p:cNvPr id="3" name="">
            <a:extLst xmlns:a="http://schemas.openxmlformats.org/drawingml/2006/main">
              <a:ext uri="{FF2B5EF4-FFF2-40B4-BE49-F238E27FC236}">
                <a16:creationId xmlns:a16="http://schemas.microsoft.com/office/drawing/2014/main" id="{B0777FB1-94A4-4292-8B15-942CEBAAFB53}"/>
              </a:ext>
            </a:extLst>
          </p:cNvPr>
          <p:cNvSpPr>
            <a:spLocks xmlns:a="http://schemas.openxmlformats.org/drawingml/2006/main" noGrp="1"/>
          </p:cNvSpPr>
          <p:nvPr/>
        </p:nvSpPr>
        <p:spPr>
          <a:xfrm xmlns:a="http://schemas.openxmlformats.org/drawingml/2006/main">
            <a:off x="533400" y="1790700"/>
            <a:ext cx="800100" cy="57150"/>
          </a:xfrm>
          <a:prstGeom xmlns:a="http://schemas.openxmlformats.org/drawingml/2006/main" prst="rect">
            <a:avLst/>
          </a:prstGeom>
          <a:solidFill xmlns:a="http://schemas.openxmlformats.org/drawingml/2006/main">
            <a:srgbClr val="0D6E7A"/>
          </a:solidFill>
          <a:ln xmlns:a="http://schemas.openxmlformats.org/drawingml/2006/main" w="0">
            <a:solidFill>
              <a:srgbClr val="0D6E7A"/>
            </a:solidFill>
            <a:prstDash val="solid"/>
          </a:ln>
        </p:spPr>
      </p:sp>
      <p:sp>
        <p:nvSpPr>
          <p:cNvPr id="4" name="">
            <a:extLst xmlns:a="http://schemas.openxmlformats.org/drawingml/2006/main">
              <a:ext uri="{FF2B5EF4-FFF2-40B4-BE49-F238E27FC236}">
                <a16:creationId xmlns:a16="http://schemas.microsoft.com/office/drawing/2014/main" id="{B8725EC6-43B3-4B49-947E-9DD39C947AC3}"/>
              </a:ext>
            </a:extLst>
          </p:cNvPr>
          <p:cNvSpPr>
            <a:spLocks xmlns:a="http://schemas.openxmlformats.org/drawingml/2006/main" noGrp="1"/>
          </p:cNvSpPr>
          <p:nvPr/>
        </p:nvSpPr>
        <p:spPr>
          <a:xfrm xmlns:a="http://schemas.openxmlformats.org/drawingml/2006/main">
            <a:off x="533400" y="20383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Claim now</a:t>
            </a:r>
          </a:p>
        </p:txBody>
      </p:sp>
      <p:sp>
        <p:nvSpPr>
          <p:cNvPr id="5" name="">
            <a:extLst xmlns:a="http://schemas.openxmlformats.org/drawingml/2006/main">
              <a:ext uri="{FF2B5EF4-FFF2-40B4-BE49-F238E27FC236}">
                <a16:creationId xmlns:a16="http://schemas.microsoft.com/office/drawing/2014/main" id="{DA43F88A-0646-4368-B8AD-7D63771A06B4}"/>
              </a:ext>
            </a:extLst>
          </p:cNvPr>
          <p:cNvSpPr>
            <a:spLocks xmlns:a="http://schemas.openxmlformats.org/drawingml/2006/main" noGrp="1"/>
          </p:cNvSpPr>
          <p:nvPr/>
        </p:nvSpPr>
        <p:spPr>
          <a:xfrm xmlns:a="http://schemas.openxmlformats.org/drawingml/2006/main">
            <a:off x="533400" y="2590800"/>
            <a:ext cx="2952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a:solidFill>
                  <a:srgbClr val="4F5661"/>
                </a:solidFill>
              </a:defRPr>
            </a:pPr>
            <a:r>
              <a:rPr sz="1800">
                <a:solidFill>
                  <a:srgbClr val="4F5661"/>
                </a:solidFill>
              </a:rPr>
              <a:t>In a controlled hidden-intent MARL game, calibrated opponent belief plus lookahead is stronger than blind reaction or hard guessed intent.</a:t>
            </a:r>
          </a:p>
        </p:txBody>
      </p:sp>
      <p:sp>
        <p:nvSpPr>
          <p:cNvPr id="6" name="">
            <a:extLst xmlns:a="http://schemas.openxmlformats.org/drawingml/2006/main">
              <a:ext uri="{FF2B5EF4-FFF2-40B4-BE49-F238E27FC236}">
                <a16:creationId xmlns:a16="http://schemas.microsoft.com/office/drawing/2014/main" id="{009C44C1-F373-44E0-8BF2-B17909298AC5}"/>
              </a:ext>
            </a:extLst>
          </p:cNvPr>
          <p:cNvSpPr>
            <a:spLocks xmlns:a="http://schemas.openxmlformats.org/drawingml/2006/main" noGrp="1"/>
          </p:cNvSpPr>
          <p:nvPr/>
        </p:nvSpPr>
        <p:spPr>
          <a:xfrm xmlns:a="http://schemas.openxmlformats.org/drawingml/2006/main">
            <a:off x="4343400" y="1790700"/>
            <a:ext cx="800100" cy="57150"/>
          </a:xfrm>
          <a:prstGeom xmlns:a="http://schemas.openxmlformats.org/drawingml/2006/main" prst="rect">
            <a:avLst/>
          </a:prstGeom>
          <a:solidFill xmlns:a="http://schemas.openxmlformats.org/drawingml/2006/main">
            <a:srgbClr val="C84C2A"/>
          </a:solidFill>
          <a:ln xmlns:a="http://schemas.openxmlformats.org/drawingml/2006/main" w="0">
            <a:solidFill>
              <a:srgbClr val="C84C2A"/>
            </a:solidFill>
            <a:prstDash val="solid"/>
          </a:ln>
        </p:spPr>
      </p:sp>
      <p:sp>
        <p:nvSpPr>
          <p:cNvPr id="7" name="">
            <a:extLst xmlns:a="http://schemas.openxmlformats.org/drawingml/2006/main">
              <a:ext uri="{FF2B5EF4-FFF2-40B4-BE49-F238E27FC236}">
                <a16:creationId xmlns:a16="http://schemas.microsoft.com/office/drawing/2014/main" id="{E8974D52-8D6C-44DE-A7B1-22BD36FC4744}"/>
              </a:ext>
            </a:extLst>
          </p:cNvPr>
          <p:cNvSpPr>
            <a:spLocks xmlns:a="http://schemas.openxmlformats.org/drawingml/2006/main" noGrp="1"/>
          </p:cNvSpPr>
          <p:nvPr/>
        </p:nvSpPr>
        <p:spPr>
          <a:xfrm xmlns:a="http://schemas.openxmlformats.org/drawingml/2006/main">
            <a:off x="4343400" y="20383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Say carefully</a:t>
            </a:r>
          </a:p>
        </p:txBody>
      </p:sp>
      <p:sp>
        <p:nvSpPr>
          <p:cNvPr id="8" name="">
            <a:extLst xmlns:a="http://schemas.openxmlformats.org/drawingml/2006/main">
              <a:ext uri="{FF2B5EF4-FFF2-40B4-BE49-F238E27FC236}">
                <a16:creationId xmlns:a16="http://schemas.microsoft.com/office/drawing/2014/main" id="{E9A8F424-3BEB-4596-AE9E-AAB8A9BAB0F3}"/>
              </a:ext>
            </a:extLst>
          </p:cNvPr>
          <p:cNvSpPr>
            <a:spLocks xmlns:a="http://schemas.openxmlformats.org/drawingml/2006/main" noGrp="1"/>
          </p:cNvSpPr>
          <p:nvPr/>
        </p:nvSpPr>
        <p:spPr>
          <a:xfrm xmlns:a="http://schemas.openxmlformats.org/drawingml/2006/main">
            <a:off x="4343400" y="2590800"/>
            <a:ext cx="2952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a:solidFill>
                  <a:srgbClr val="4F5661"/>
                </a:solidFill>
              </a:defRPr>
            </a:pPr>
            <a:r>
              <a:rPr sz="1800">
                <a:solidFill>
                  <a:srgbClr val="4F5661"/>
                </a:solidFill>
              </a:rPr>
              <a:t>The opponent is static within each episode, the strongest planner uses simulator dynamics, and the oracle comparison is reactive.</a:t>
            </a:r>
          </a:p>
        </p:txBody>
      </p:sp>
      <p:sp>
        <p:nvSpPr>
          <p:cNvPr id="9" name="">
            <a:extLst xmlns:a="http://schemas.openxmlformats.org/drawingml/2006/main">
              <a:ext uri="{FF2B5EF4-FFF2-40B4-BE49-F238E27FC236}">
                <a16:creationId xmlns:a16="http://schemas.microsoft.com/office/drawing/2014/main" id="{D0BEE944-D3ED-4E07-8969-B07FFFECD5AA}"/>
              </a:ext>
            </a:extLst>
          </p:cNvPr>
          <p:cNvSpPr>
            <a:spLocks xmlns:a="http://schemas.openxmlformats.org/drawingml/2006/main" noGrp="1"/>
          </p:cNvSpPr>
          <p:nvPr/>
        </p:nvSpPr>
        <p:spPr>
          <a:xfrm xmlns:a="http://schemas.openxmlformats.org/drawingml/2006/main">
            <a:off x="8153400" y="1790700"/>
            <a:ext cx="800100" cy="57150"/>
          </a:xfrm>
          <a:prstGeom xmlns:a="http://schemas.openxmlformats.org/drawingml/2006/main" prst="rect">
            <a:avLst/>
          </a:prstGeom>
          <a:solidFill xmlns:a="http://schemas.openxmlformats.org/drawingml/2006/main">
            <a:srgbClr val="0A0A0A"/>
          </a:solidFill>
          <a:ln xmlns:a="http://schemas.openxmlformats.org/drawingml/2006/main" w="0">
            <a:solidFill>
              <a:srgbClr val="0A0A0A"/>
            </a:solidFill>
            <a:prstDash val="solid"/>
          </a:ln>
        </p:spPr>
      </p:sp>
      <p:sp>
        <p:nvSpPr>
          <p:cNvPr id="10" name="">
            <a:extLst xmlns:a="http://schemas.openxmlformats.org/drawingml/2006/main">
              <a:ext uri="{FF2B5EF4-FFF2-40B4-BE49-F238E27FC236}">
                <a16:creationId xmlns:a16="http://schemas.microsoft.com/office/drawing/2014/main" id="{12FB4BB6-CC02-47BC-8E28-EF473341D8A9}"/>
              </a:ext>
            </a:extLst>
          </p:cNvPr>
          <p:cNvSpPr>
            <a:spLocks xmlns:a="http://schemas.openxmlformats.org/drawingml/2006/main" noGrp="1"/>
          </p:cNvSpPr>
          <p:nvPr/>
        </p:nvSpPr>
        <p:spPr>
          <a:xfrm xmlns:a="http://schemas.openxmlformats.org/drawingml/2006/main">
            <a:off x="8153400" y="20383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0A0A0A"/>
                </a:solidFill>
              </a:defRPr>
            </a:pPr>
            <a:r>
              <a:rPr sz="1950" b="1">
                <a:solidFill>
                  <a:srgbClr val="0A0A0A"/>
                </a:solidFill>
              </a:rPr>
              <a:t>Run next</a:t>
            </a:r>
          </a:p>
        </p:txBody>
      </p:sp>
      <p:sp>
        <p:nvSpPr>
          <p:cNvPr id="11" name="">
            <a:extLst xmlns:a="http://schemas.openxmlformats.org/drawingml/2006/main">
              <a:ext uri="{FF2B5EF4-FFF2-40B4-BE49-F238E27FC236}">
                <a16:creationId xmlns:a16="http://schemas.microsoft.com/office/drawing/2014/main" id="{43FD9D82-3185-4281-BDDA-87550AA33B0B}"/>
              </a:ext>
            </a:extLst>
          </p:cNvPr>
          <p:cNvSpPr>
            <a:spLocks xmlns:a="http://schemas.openxmlformats.org/drawingml/2006/main" noGrp="1"/>
          </p:cNvSpPr>
          <p:nvPr/>
        </p:nvSpPr>
        <p:spPr>
          <a:xfrm xmlns:a="http://schemas.openxmlformats.org/drawingml/2006/main">
            <a:off x="8153400" y="2590800"/>
            <a:ext cx="2952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a:solidFill>
                  <a:srgbClr val="4F5661"/>
                </a:solidFill>
              </a:defRPr>
            </a:pPr>
            <a:r>
              <a:rPr sz="1800">
                <a:solidFill>
                  <a:srgbClr val="4F5661"/>
                </a:solidFill>
              </a:rPr>
              <a:t>Adaptive or switching opponents; oracle planner; HOP, MAZero, MAMBA, MARIE, MATWM, MBOM, and AORPO baselines.</a:t>
            </a:r>
          </a:p>
        </p:txBody>
      </p:sp>
      <p:sp>
        <p:nvSpPr>
          <p:cNvPr id="12" name="">
            <a:extLst xmlns:a="http://schemas.openxmlformats.org/drawingml/2006/main">
              <a:ext uri="{FF2B5EF4-FFF2-40B4-BE49-F238E27FC236}">
                <a16:creationId xmlns:a16="http://schemas.microsoft.com/office/drawing/2014/main" id="{D1762DB3-CFFE-48E2-82E2-028AF5863218}"/>
              </a:ext>
            </a:extLst>
          </p:cNvPr>
          <p:cNvSpPr>
            <a:spLocks xmlns:a="http://schemas.openxmlformats.org/drawingml/2006/main" noGrp="1"/>
          </p:cNvSpPr>
          <p:nvPr/>
        </p:nvSpPr>
        <p:spPr>
          <a:xfrm xmlns:a="http://schemas.openxmlformats.org/drawingml/2006/main">
            <a:off x="533400" y="54673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75" b="1">
                <a:solidFill>
                  <a:srgbClr val="0A0A0A"/>
                </a:solidFill>
              </a:defRPr>
            </a:pPr>
            <a:r>
              <a:rPr sz="1875" b="1">
                <a:solidFill>
                  <a:srgbClr val="0A0A0A"/>
                </a:solidFill>
              </a:rPr>
              <a:t>A strong paper pitch is not "we solved MARL." It is "we isolated the value of calibrated opponent belief, then showed why planning should consume the whole belief."</a:t>
            </a:r>
          </a:p>
        </p:txBody>
      </p:sp>
      <p:sp>
        <p:nvSpPr>
          <p:cNvPr id="13" name="">
            <a:extLst xmlns:a="http://schemas.openxmlformats.org/drawingml/2006/main">
              <a:ext uri="{FF2B5EF4-FFF2-40B4-BE49-F238E27FC236}">
                <a16:creationId xmlns:a16="http://schemas.microsoft.com/office/drawing/2014/main" id="{CCE35C40-E245-4E55-A810-3E38BE8B17D3}"/>
              </a:ext>
            </a:extLst>
          </p:cNvPr>
          <p:cNvSpPr>
            <a:spLocks xmlns:a="http://schemas.openxmlformats.org/drawingml/2006/main" noGrp="1"/>
          </p:cNvSpPr>
          <p:nvPr/>
        </p:nvSpPr>
        <p:spPr>
          <a:xfrm xmlns:a="http://schemas.openxmlformats.org/drawingml/2006/main">
            <a:off x="11277600" y="62674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a:solidFill>
                  <a:srgbClr val="4F5661"/>
                </a:solidFill>
              </a:defRPr>
            </a:pPr>
            <a:r>
              <a:rPr sz="1050">
                <a:solidFill>
                  <a:srgbClr val="4F5661"/>
                </a:solidFill>
              </a:rPr>
              <a:t>08</a:t>
            </a:r>
          </a:p>
        </p:txBody>
      </p:sp>
    </p:spTree>
    <p:extLst>
      <p:ext uri="{BB962C8B-B14F-4D97-AF65-F5344CB8AC3E}">
        <p14:creationId xmlns:p14="http://schemas.microsoft.com/office/powerpoint/2010/main" val="1599804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2026-07-01T20:41:57.1600000Z</dcterms:created>
  <dcterms:modified xsi:type="dcterms:W3CDTF">2026-07-01T20:41:57.1600000Z</dcterms:modified>
</coreProperties>
</file>